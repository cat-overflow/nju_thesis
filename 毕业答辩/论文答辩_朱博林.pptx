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</p:sldMasterIdLst>
  <p:notesMasterIdLst>
    <p:notesMasterId r:id="rId5"/>
  </p:notesMasterIdLst>
  <p:sldIdLst>
    <p:sldId id="256" r:id="rId4"/>
    <p:sldId id="258" r:id="rId6"/>
    <p:sldId id="261" r:id="rId7"/>
    <p:sldId id="260" r:id="rId8"/>
    <p:sldId id="362" r:id="rId9"/>
    <p:sldId id="262" r:id="rId10"/>
    <p:sldId id="334" r:id="rId11"/>
    <p:sldId id="333" r:id="rId12"/>
    <p:sldId id="363" r:id="rId13"/>
    <p:sldId id="335" r:id="rId14"/>
    <p:sldId id="337" r:id="rId15"/>
    <p:sldId id="355" r:id="rId16"/>
    <p:sldId id="356" r:id="rId17"/>
    <p:sldId id="357" r:id="rId18"/>
    <p:sldId id="364" r:id="rId19"/>
    <p:sldId id="338" r:id="rId20"/>
    <p:sldId id="339" r:id="rId21"/>
    <p:sldId id="344" r:id="rId22"/>
    <p:sldId id="350" r:id="rId23"/>
    <p:sldId id="336" r:id="rId24"/>
    <p:sldId id="351" r:id="rId25"/>
    <p:sldId id="352" r:id="rId26"/>
    <p:sldId id="354" r:id="rId27"/>
    <p:sldId id="365" r:id="rId28"/>
    <p:sldId id="366" r:id="rId29"/>
    <p:sldId id="359" r:id="rId30"/>
    <p:sldId id="360" r:id="rId31"/>
    <p:sldId id="282" r:id="rId32"/>
  </p:sldIdLst>
  <p:sldSz cx="6864350" cy="5147945"/>
  <p:notesSz cx="6858000" cy="9144000"/>
  <p:custDataLst>
    <p:tags r:id="rId36"/>
  </p:custDataLst>
  <p:defaultTextStyle>
    <a:defPPr>
      <a:defRPr lang="zh-CN"/>
    </a:defPPr>
    <a:lvl1pPr marL="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1pPr>
    <a:lvl2pPr marL="34353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2pPr>
    <a:lvl3pPr marL="68770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3pPr>
    <a:lvl4pPr marL="103124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4pPr>
    <a:lvl5pPr marL="137477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5pPr>
    <a:lvl6pPr marL="171894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6pPr>
    <a:lvl7pPr marL="206248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7pPr>
    <a:lvl8pPr marL="240665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8pPr>
    <a:lvl9pPr marL="275018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A285DA7C-D78A-4EA6-9859-07F8A1FD5AB3}">
          <p14:sldIdLst>
            <p14:sldId id="256"/>
            <p14:sldId id="258"/>
            <p14:sldId id="261"/>
            <p14:sldId id="260"/>
            <p14:sldId id="362"/>
            <p14:sldId id="262"/>
            <p14:sldId id="334"/>
            <p14:sldId id="333"/>
            <p14:sldId id="363"/>
            <p14:sldId id="335"/>
            <p14:sldId id="337"/>
            <p14:sldId id="355"/>
            <p14:sldId id="356"/>
            <p14:sldId id="357"/>
            <p14:sldId id="364"/>
            <p14:sldId id="338"/>
            <p14:sldId id="339"/>
            <p14:sldId id="344"/>
            <p14:sldId id="350"/>
            <p14:sldId id="336"/>
            <p14:sldId id="351"/>
            <p14:sldId id="352"/>
            <p14:sldId id="354"/>
            <p14:sldId id="365"/>
            <p14:sldId id="366"/>
            <p14:sldId id="359"/>
            <p14:sldId id="360"/>
            <p14:sldId id="28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00000"/>
    <a:srgbClr val="C40000"/>
    <a:srgbClr val="FF2525"/>
    <a:srgbClr val="FF4343"/>
    <a:srgbClr val="F2EAF2"/>
    <a:srgbClr val="D2B7D1"/>
    <a:srgbClr val="63065F"/>
    <a:srgbClr val="99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5"/>
    <p:restoredTop sz="91602" autoAdjust="0"/>
  </p:normalViewPr>
  <p:slideViewPr>
    <p:cSldViewPr snapToGrid="0">
      <p:cViewPr>
        <p:scale>
          <a:sx n="81" d="100"/>
          <a:sy n="81" d="100"/>
        </p:scale>
        <p:origin x="1886" y="39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6" Type="http://schemas.openxmlformats.org/officeDocument/2006/relationships/tags" Target="tags/tag1.xml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A7A321-F3D9-4C81-BB44-B8E478C3E0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1pPr>
    <a:lvl2pPr marL="34353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2pPr>
    <a:lvl3pPr marL="68770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3pPr>
    <a:lvl4pPr marL="103124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4pPr>
    <a:lvl5pPr marL="137477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5pPr>
    <a:lvl6pPr marL="171894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6pPr>
    <a:lvl7pPr marL="206248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7pPr>
    <a:lvl8pPr marL="240665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8pPr>
    <a:lvl9pPr marL="275018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77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>
              <a:effectLst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77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77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58045" y="1472400"/>
            <a:ext cx="5148263" cy="1152000"/>
          </a:xfrm>
        </p:spPr>
        <p:txBody>
          <a:bodyPr anchor="b"/>
          <a:lstStyle>
            <a:lvl1pPr algn="ctr">
              <a:defRPr sz="3380" spc="300" baseline="0">
                <a:solidFill>
                  <a:schemeClr val="tx1"/>
                </a:solidFill>
              </a:defRPr>
            </a:lvl1pPr>
          </a:lstStyle>
          <a:p>
            <a:r>
              <a:rPr lang="zh-CN" altLang="en-US" dirty="0"/>
              <a:t>主题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58045" y="2689200"/>
            <a:ext cx="5148263" cy="666000"/>
          </a:xfrm>
        </p:spPr>
        <p:txBody>
          <a:bodyPr/>
          <a:lstStyle>
            <a:lvl1pPr marL="0" indent="0" algn="ctr">
              <a:buNone/>
              <a:defRPr sz="1350" baseline="0">
                <a:solidFill>
                  <a:srgbClr val="63065F"/>
                </a:solidFill>
              </a:defRPr>
            </a:lvl1pPr>
            <a:lvl2pPr marL="257175" indent="0" algn="ctr">
              <a:buNone/>
              <a:defRPr sz="1125"/>
            </a:lvl2pPr>
            <a:lvl3pPr marL="514985" indent="0" algn="ctr">
              <a:buNone/>
              <a:defRPr sz="1015"/>
            </a:lvl3pPr>
            <a:lvl4pPr marL="772160" indent="0" algn="ctr">
              <a:buNone/>
              <a:defRPr sz="900"/>
            </a:lvl4pPr>
            <a:lvl5pPr marL="1029970" indent="0" algn="ctr">
              <a:buNone/>
              <a:defRPr sz="900"/>
            </a:lvl5pPr>
            <a:lvl6pPr marL="1287145" indent="0" algn="ctr">
              <a:buNone/>
              <a:defRPr sz="900"/>
            </a:lvl6pPr>
            <a:lvl7pPr marL="1544320" indent="0" algn="ctr">
              <a:buNone/>
              <a:defRPr sz="900"/>
            </a:lvl7pPr>
            <a:lvl8pPr marL="1802130" indent="0" algn="ctr">
              <a:buNone/>
              <a:defRPr sz="900"/>
            </a:lvl8pPr>
            <a:lvl9pPr marL="2059305" indent="0" algn="ctr">
              <a:buNone/>
              <a:defRPr sz="900"/>
            </a:lvl9pPr>
          </a:lstStyle>
          <a:p>
            <a:r>
              <a:rPr lang="en-US" dirty="0"/>
              <a:t>SUBTITLE GOES HERE</a:t>
            </a:r>
            <a:endParaRPr 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C7451-1419-4202-A27F-AE347845A433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697" y="223201"/>
            <a:ext cx="2108881" cy="522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71924" y="979201"/>
            <a:ext cx="5920502" cy="3636000"/>
          </a:xfrm>
        </p:spPr>
        <p:txBody>
          <a:bodyPr/>
          <a:lstStyle>
            <a:lvl1pPr>
              <a:defRPr spc="0"/>
            </a:lvl1pPr>
            <a:lvl2pPr>
              <a:defRPr spc="0"/>
            </a:lvl2pPr>
            <a:lvl3pPr>
              <a:defRPr spc="0"/>
            </a:lvl3pPr>
            <a:lvl4pPr>
              <a:defRPr spc="0"/>
            </a:lvl4pPr>
            <a:lvl5pPr>
              <a:defRPr spc="0"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471924" y="360000"/>
            <a:ext cx="5920502" cy="489600"/>
          </a:xfrm>
        </p:spPr>
        <p:txBody>
          <a:bodyPr/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349" y="1283491"/>
            <a:ext cx="5920502" cy="2141534"/>
          </a:xfrm>
        </p:spPr>
        <p:txBody>
          <a:bodyPr anchor="b"/>
          <a:lstStyle>
            <a:lvl1pPr>
              <a:defRPr sz="338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8349" y="3445285"/>
            <a:ext cx="5920502" cy="1126182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257175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2pPr>
            <a:lvl3pPr marL="514985" indent="0">
              <a:buNone/>
              <a:defRPr sz="1015">
                <a:solidFill>
                  <a:schemeClr val="tx1">
                    <a:tint val="75000"/>
                  </a:schemeClr>
                </a:solidFill>
              </a:defRPr>
            </a:lvl3pPr>
            <a:lvl4pPr marL="77216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02997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28714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54432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80213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05930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dirty="0"/>
              <a:t>Click here to edit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22B08-3EA3-41BF-B421-FEB4AE47B4B9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924" y="360000"/>
            <a:ext cx="5920502" cy="489600"/>
          </a:xfrm>
        </p:spPr>
        <p:txBody>
          <a:bodyPr/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71925" y="982800"/>
            <a:ext cx="2917349" cy="3632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475078" y="982800"/>
            <a:ext cx="2917349" cy="3632400"/>
          </a:xfrm>
        </p:spPr>
        <p:txBody>
          <a:bodyPr/>
          <a:lstStyle/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A97F0-3F40-4E8D-AD72-3EF4C46A3CD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8" y="360000"/>
            <a:ext cx="5920502" cy="489600"/>
          </a:xfrm>
        </p:spPr>
        <p:txBody>
          <a:bodyPr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72819" y="1004400"/>
            <a:ext cx="2918700" cy="615600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985" indent="0">
              <a:buNone/>
              <a:defRPr sz="1015" b="1"/>
            </a:lvl3pPr>
            <a:lvl4pPr marL="772160" indent="0">
              <a:buNone/>
              <a:defRPr sz="900" b="1"/>
            </a:lvl4pPr>
            <a:lvl5pPr marL="1029970" indent="0">
              <a:buNone/>
              <a:defRPr sz="900" b="1"/>
            </a:lvl5pPr>
            <a:lvl6pPr marL="1287145" indent="0">
              <a:buNone/>
              <a:defRPr sz="900" b="1"/>
            </a:lvl6pPr>
            <a:lvl7pPr marL="1544320" indent="0">
              <a:buNone/>
              <a:defRPr sz="900" b="1"/>
            </a:lvl7pPr>
            <a:lvl8pPr marL="1802130" indent="0">
              <a:buNone/>
              <a:defRPr sz="900" b="1"/>
            </a:lvl8pPr>
            <a:lvl9pPr marL="2059305" indent="0">
              <a:buNone/>
              <a:defRPr sz="900" b="1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820" y="1674000"/>
            <a:ext cx="2913295" cy="294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3475077" y="1004400"/>
            <a:ext cx="2918700" cy="615600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985" indent="0">
              <a:buNone/>
              <a:defRPr sz="1015" b="1"/>
            </a:lvl3pPr>
            <a:lvl4pPr marL="772160" indent="0">
              <a:buNone/>
              <a:defRPr sz="900" b="1"/>
            </a:lvl4pPr>
            <a:lvl5pPr marL="1029970" indent="0">
              <a:buNone/>
              <a:defRPr sz="900" b="1"/>
            </a:lvl5pPr>
            <a:lvl6pPr marL="1287145" indent="0">
              <a:buNone/>
              <a:defRPr sz="900" b="1"/>
            </a:lvl6pPr>
            <a:lvl7pPr marL="1544320" indent="0">
              <a:buNone/>
              <a:defRPr sz="900" b="1"/>
            </a:lvl7pPr>
            <a:lvl8pPr marL="1802130" indent="0">
              <a:buNone/>
              <a:defRPr sz="900" b="1"/>
            </a:lvl8pPr>
            <a:lvl9pPr marL="2059305" indent="0">
              <a:buNone/>
              <a:defRPr sz="900" b="1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01E6E-D92E-4C52-A98F-A9E10A9340D6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 hasCustomPrompt="1"/>
          </p:nvPr>
        </p:nvSpPr>
        <p:spPr>
          <a:xfrm>
            <a:off x="3473727" y="1674000"/>
            <a:ext cx="2918700" cy="294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8" y="360000"/>
            <a:ext cx="5920502" cy="489600"/>
          </a:xfrm>
        </p:spPr>
        <p:txBody>
          <a:bodyPr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819" y="986128"/>
            <a:ext cx="5921178" cy="18180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01E6E-D92E-4C52-A98F-A9E10A9340D6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Content Placeholder 3"/>
          <p:cNvSpPr>
            <a:spLocks noGrp="1"/>
          </p:cNvSpPr>
          <p:nvPr>
            <p:ph sz="half" idx="12" hasCustomPrompt="1"/>
          </p:nvPr>
        </p:nvSpPr>
        <p:spPr>
          <a:xfrm>
            <a:off x="471250" y="2890800"/>
            <a:ext cx="5921178" cy="18180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924" y="360000"/>
            <a:ext cx="5920502" cy="489600"/>
          </a:xfrm>
        </p:spPr>
        <p:txBody>
          <a:bodyPr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3697-D339-4047-AF9F-C94934425D83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9" y="343221"/>
            <a:ext cx="2213932" cy="1201261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2918244" y="741255"/>
            <a:ext cx="3475077" cy="3658604"/>
          </a:xfrm>
        </p:spPr>
        <p:txBody>
          <a:bodyPr/>
          <a:lstStyle>
            <a:lvl1pPr>
              <a:defRPr sz="1575"/>
            </a:lvl1pPr>
            <a:lvl2pPr>
              <a:defRPr sz="1350"/>
            </a:lvl2pPr>
            <a:lvl3pPr>
              <a:defRPr sz="1125"/>
            </a:lvl3pPr>
            <a:lvl4pPr>
              <a:defRPr sz="1015"/>
            </a:lvl4pPr>
            <a:lvl5pPr>
              <a:defRPr sz="1015"/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819" y="1544479"/>
            <a:ext cx="2213932" cy="286133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257175" indent="0">
              <a:buNone/>
              <a:defRPr sz="790"/>
            </a:lvl2pPr>
            <a:lvl3pPr marL="514985" indent="0">
              <a:buNone/>
              <a:defRPr sz="675"/>
            </a:lvl3pPr>
            <a:lvl4pPr marL="772160" indent="0">
              <a:buNone/>
              <a:defRPr sz="565"/>
            </a:lvl4pPr>
            <a:lvl5pPr marL="1029970" indent="0">
              <a:buNone/>
              <a:defRPr sz="565"/>
            </a:lvl5pPr>
            <a:lvl6pPr marL="1287145" indent="0">
              <a:buNone/>
              <a:defRPr sz="565"/>
            </a:lvl6pPr>
            <a:lvl7pPr marL="1544320" indent="0">
              <a:buNone/>
              <a:defRPr sz="565"/>
            </a:lvl7pPr>
            <a:lvl8pPr marL="1802130" indent="0">
              <a:buNone/>
              <a:defRPr sz="565"/>
            </a:lvl8pPr>
            <a:lvl9pPr marL="2059305" indent="0">
              <a:buNone/>
              <a:defRPr sz="565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B8FB5-04D9-4225-B74F-1A2F4016A2D2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9" y="343221"/>
            <a:ext cx="2213932" cy="1201261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2918244" y="741255"/>
            <a:ext cx="3475077" cy="3658604"/>
          </a:xfrm>
        </p:spPr>
        <p:txBody>
          <a:bodyPr anchor="t">
            <a:normAutofit/>
          </a:bodyPr>
          <a:lstStyle>
            <a:lvl1pPr marL="0" indent="0">
              <a:buNone/>
              <a:defRPr sz="1575"/>
            </a:lvl1pPr>
            <a:lvl2pPr marL="257175" indent="0">
              <a:buNone/>
              <a:defRPr sz="1575"/>
            </a:lvl2pPr>
            <a:lvl3pPr marL="514985" indent="0">
              <a:buNone/>
              <a:defRPr sz="1350"/>
            </a:lvl3pPr>
            <a:lvl4pPr marL="772160" indent="0">
              <a:buNone/>
              <a:defRPr sz="1125"/>
            </a:lvl4pPr>
            <a:lvl5pPr marL="1029970" indent="0">
              <a:buNone/>
              <a:defRPr sz="1125"/>
            </a:lvl5pPr>
            <a:lvl6pPr marL="1287145" indent="0">
              <a:buNone/>
              <a:defRPr sz="1125"/>
            </a:lvl6pPr>
            <a:lvl7pPr marL="1544320" indent="0">
              <a:buNone/>
              <a:defRPr sz="1125"/>
            </a:lvl7pPr>
            <a:lvl8pPr marL="1802130" indent="0">
              <a:buNone/>
              <a:defRPr sz="1125"/>
            </a:lvl8pPr>
            <a:lvl9pPr marL="2059305" indent="0">
              <a:buNone/>
              <a:defRPr sz="1125"/>
            </a:lvl9pPr>
          </a:lstStyle>
          <a:p>
            <a:r>
              <a:rPr lang="en-US" altLang="zh-CN" dirty="0"/>
              <a:t>Click to add pictures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819" y="1544479"/>
            <a:ext cx="2213932" cy="286133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257175" indent="0">
              <a:buNone/>
              <a:defRPr sz="790"/>
            </a:lvl2pPr>
            <a:lvl3pPr marL="514985" indent="0">
              <a:buNone/>
              <a:defRPr sz="675"/>
            </a:lvl3pPr>
            <a:lvl4pPr marL="772160" indent="0">
              <a:buNone/>
              <a:defRPr sz="565"/>
            </a:lvl4pPr>
            <a:lvl5pPr marL="1029970" indent="0">
              <a:buNone/>
              <a:defRPr sz="565"/>
            </a:lvl5pPr>
            <a:lvl6pPr marL="1287145" indent="0">
              <a:buNone/>
              <a:defRPr sz="565"/>
            </a:lvl6pPr>
            <a:lvl7pPr marL="1544320" indent="0">
              <a:buNone/>
              <a:defRPr sz="565"/>
            </a:lvl7pPr>
            <a:lvl8pPr marL="1802130" indent="0">
              <a:buNone/>
              <a:defRPr sz="565"/>
            </a:lvl8pPr>
            <a:lvl9pPr marL="2059305" indent="0">
              <a:buNone/>
              <a:defRPr sz="565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256EE-3EB6-48A8-9004-22005D6F3B0D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858045" y="1472400"/>
            <a:ext cx="5148263" cy="1152000"/>
          </a:xfrm>
        </p:spPr>
        <p:txBody>
          <a:bodyPr anchor="b"/>
          <a:lstStyle>
            <a:lvl1pPr algn="ctr">
              <a:defRPr sz="338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58045" y="2689200"/>
            <a:ext cx="5148263" cy="666000"/>
          </a:xfrm>
        </p:spPr>
        <p:txBody>
          <a:bodyPr/>
          <a:lstStyle>
            <a:lvl1pPr marL="0" indent="0" algn="ctr">
              <a:buNone/>
              <a:defRPr sz="1350" baseline="0">
                <a:solidFill>
                  <a:srgbClr val="63065F"/>
                </a:solidFill>
              </a:defRPr>
            </a:lvl1pPr>
            <a:lvl2pPr marL="257175" indent="0" algn="ctr">
              <a:buNone/>
              <a:defRPr sz="1125"/>
            </a:lvl2pPr>
            <a:lvl3pPr marL="514985" indent="0" algn="ctr">
              <a:buNone/>
              <a:defRPr sz="1015"/>
            </a:lvl3pPr>
            <a:lvl4pPr marL="772160" indent="0" algn="ctr">
              <a:buNone/>
              <a:defRPr sz="900"/>
            </a:lvl4pPr>
            <a:lvl5pPr marL="1029970" indent="0" algn="ctr">
              <a:buNone/>
              <a:defRPr sz="900"/>
            </a:lvl5pPr>
            <a:lvl6pPr marL="1287145" indent="0" algn="ctr">
              <a:buNone/>
              <a:defRPr sz="900"/>
            </a:lvl6pPr>
            <a:lvl7pPr marL="1544320" indent="0" algn="ctr">
              <a:buNone/>
              <a:defRPr sz="900"/>
            </a:lvl7pPr>
            <a:lvl8pPr marL="1802130" indent="0" algn="ctr">
              <a:buNone/>
              <a:defRPr sz="900"/>
            </a:lvl8pPr>
            <a:lvl9pPr marL="2059305" indent="0" algn="ctr">
              <a:buNone/>
              <a:defRPr sz="900"/>
            </a:lvl9pPr>
          </a:lstStyle>
          <a:p>
            <a:r>
              <a:rPr lang="en-US" dirty="0"/>
              <a:t>SUBTITLE GOES HERE</a:t>
            </a:r>
            <a:endParaRPr lang="en-US" dirty="0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293" y="223201"/>
            <a:ext cx="2108881" cy="522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49" y="1282700"/>
            <a:ext cx="5920502" cy="2141538"/>
          </a:xfrm>
        </p:spPr>
        <p:txBody>
          <a:bodyPr anchor="b">
            <a:normAutofit/>
          </a:bodyPr>
          <a:lstStyle>
            <a:lvl1pPr>
              <a:defRPr sz="338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468349" y="3444879"/>
            <a:ext cx="5920502" cy="1127125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6435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997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287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640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930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28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57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dirty="0"/>
              <a:t>Click here to edit</a:t>
            </a:r>
            <a:endParaRPr lang="en-US" altLang="zh-CN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713460" y="907200"/>
            <a:ext cx="2843030" cy="375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内容占位符 2"/>
          <p:cNvSpPr>
            <a:spLocks noGrp="1"/>
          </p:cNvSpPr>
          <p:nvPr>
            <p:ph sz="half" idx="12" hasCustomPrompt="1"/>
          </p:nvPr>
        </p:nvSpPr>
        <p:spPr>
          <a:xfrm>
            <a:off x="3656483" y="907200"/>
            <a:ext cx="2843030" cy="375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713460" y="907200"/>
            <a:ext cx="2843030" cy="375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内容占位符 2"/>
          <p:cNvSpPr>
            <a:spLocks noGrp="1"/>
          </p:cNvSpPr>
          <p:nvPr>
            <p:ph sz="half" idx="12" hasCustomPrompt="1"/>
          </p:nvPr>
        </p:nvSpPr>
        <p:spPr>
          <a:xfrm>
            <a:off x="3656483" y="9072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内容占位符 2"/>
          <p:cNvSpPr>
            <a:spLocks noGrp="1"/>
          </p:cNvSpPr>
          <p:nvPr>
            <p:ph sz="half" idx="13" hasCustomPrompt="1"/>
          </p:nvPr>
        </p:nvSpPr>
        <p:spPr>
          <a:xfrm>
            <a:off x="3656483" y="28440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713461" y="907200"/>
            <a:ext cx="5786053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2"/>
          <p:cNvSpPr>
            <a:spLocks noGrp="1"/>
          </p:cNvSpPr>
          <p:nvPr>
            <p:ph sz="half" idx="12" hasCustomPrompt="1"/>
          </p:nvPr>
        </p:nvSpPr>
        <p:spPr>
          <a:xfrm>
            <a:off x="713461" y="2840400"/>
            <a:ext cx="5786053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713460" y="9072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2" name="标题 1"/>
          <p:cNvSpPr>
            <a:spLocks noGrp="1"/>
          </p:cNvSpPr>
          <p:nvPr>
            <p:ph type="title"/>
          </p:nvPr>
        </p:nvSpPr>
        <p:spPr>
          <a:xfrm>
            <a:off x="713461" y="360000"/>
            <a:ext cx="5786053" cy="489600"/>
          </a:xfrm>
        </p:spPr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13" name="内容占位符 3"/>
          <p:cNvSpPr>
            <a:spLocks noGrp="1"/>
          </p:cNvSpPr>
          <p:nvPr>
            <p:ph sz="half" idx="12" hasCustomPrompt="1"/>
          </p:nvPr>
        </p:nvSpPr>
        <p:spPr>
          <a:xfrm>
            <a:off x="3656483" y="9072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内容占位符 3"/>
          <p:cNvSpPr>
            <a:spLocks noGrp="1"/>
          </p:cNvSpPr>
          <p:nvPr>
            <p:ph sz="half" idx="13" hasCustomPrompt="1"/>
          </p:nvPr>
        </p:nvSpPr>
        <p:spPr>
          <a:xfrm>
            <a:off x="713460" y="28404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内容占位符 3"/>
          <p:cNvSpPr>
            <a:spLocks noGrp="1"/>
          </p:cNvSpPr>
          <p:nvPr>
            <p:ph sz="half" idx="14" hasCustomPrompt="1"/>
          </p:nvPr>
        </p:nvSpPr>
        <p:spPr>
          <a:xfrm>
            <a:off x="3656483" y="2840618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118" y="342900"/>
            <a:ext cx="2214230" cy="1201738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2918542" y="741367"/>
            <a:ext cx="3475077" cy="3659187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 sz="2400"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 sz="2100"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 sz="1800"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 sz="1500"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473118" y="1544642"/>
            <a:ext cx="2214230" cy="2860675"/>
          </a:xfrm>
        </p:spPr>
        <p:txBody>
          <a:bodyPr/>
          <a:lstStyle>
            <a:lvl1pPr marL="0" indent="0"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1050"/>
            </a:lvl2pPr>
            <a:lvl3pPr marL="686435" indent="0">
              <a:buNone/>
              <a:defRPr sz="900"/>
            </a:lvl3pPr>
            <a:lvl4pPr marL="1029970" indent="0">
              <a:buNone/>
              <a:defRPr sz="750"/>
            </a:lvl4pPr>
            <a:lvl5pPr marL="1372870" indent="0">
              <a:buNone/>
              <a:defRPr sz="750"/>
            </a:lvl5pPr>
            <a:lvl6pPr marL="1716405" indent="0">
              <a:buNone/>
              <a:defRPr sz="750"/>
            </a:lvl6pPr>
            <a:lvl7pPr marL="2059305" indent="0">
              <a:buNone/>
              <a:defRPr sz="750"/>
            </a:lvl7pPr>
            <a:lvl8pPr marL="2402840" indent="0">
              <a:buNone/>
              <a:defRPr sz="750"/>
            </a:lvl8pPr>
            <a:lvl9pPr marL="2745740" indent="0">
              <a:buNone/>
              <a:defRPr sz="750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118" y="342900"/>
            <a:ext cx="2214230" cy="1201738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 hasCustomPrompt="1"/>
          </p:nvPr>
        </p:nvSpPr>
        <p:spPr>
          <a:xfrm>
            <a:off x="2918542" y="741367"/>
            <a:ext cx="3475077" cy="3659187"/>
          </a:xfrm>
        </p:spPr>
        <p:txBody>
          <a:bodyPr>
            <a:normAutofit/>
          </a:bodyPr>
          <a:lstStyle>
            <a:lvl1pPr marL="0" indent="0">
              <a:buNone/>
              <a:defRPr sz="1575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2100"/>
            </a:lvl2pPr>
            <a:lvl3pPr marL="686435" indent="0">
              <a:buNone/>
              <a:defRPr sz="1800"/>
            </a:lvl3pPr>
            <a:lvl4pPr marL="1029970" indent="0">
              <a:buNone/>
              <a:defRPr sz="1500"/>
            </a:lvl4pPr>
            <a:lvl5pPr marL="1372870" indent="0">
              <a:buNone/>
              <a:defRPr sz="1500"/>
            </a:lvl5pPr>
            <a:lvl6pPr marL="1716405" indent="0">
              <a:buNone/>
              <a:defRPr sz="1500"/>
            </a:lvl6pPr>
            <a:lvl7pPr marL="2059305" indent="0">
              <a:buNone/>
              <a:defRPr sz="1500"/>
            </a:lvl7pPr>
            <a:lvl8pPr marL="2402840" indent="0">
              <a:buNone/>
              <a:defRPr sz="1500"/>
            </a:lvl8pPr>
            <a:lvl9pPr marL="2745740" indent="0">
              <a:buNone/>
              <a:defRPr sz="1500"/>
            </a:lvl9pPr>
          </a:lstStyle>
          <a:p>
            <a:r>
              <a:rPr lang="en-US" altLang="zh-CN" dirty="0"/>
              <a:t>Click to add pictures</a:t>
            </a:r>
            <a:endParaRPr lang="en-US" altLang="zh-CN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473118" y="1544642"/>
            <a:ext cx="2214230" cy="2860675"/>
          </a:xfrm>
        </p:spPr>
        <p:txBody>
          <a:bodyPr/>
          <a:lstStyle>
            <a:lvl1pPr marL="0" indent="0"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1050"/>
            </a:lvl2pPr>
            <a:lvl3pPr marL="686435" indent="0">
              <a:buNone/>
              <a:defRPr sz="900"/>
            </a:lvl3pPr>
            <a:lvl4pPr marL="1029970" indent="0">
              <a:buNone/>
              <a:defRPr sz="750"/>
            </a:lvl4pPr>
            <a:lvl5pPr marL="1372870" indent="0">
              <a:buNone/>
              <a:defRPr sz="750"/>
            </a:lvl5pPr>
            <a:lvl6pPr marL="1716405" indent="0">
              <a:buNone/>
              <a:defRPr sz="750"/>
            </a:lvl6pPr>
            <a:lvl7pPr marL="2059305" indent="0">
              <a:buNone/>
              <a:defRPr sz="750"/>
            </a:lvl7pPr>
            <a:lvl8pPr marL="2402840" indent="0">
              <a:buNone/>
              <a:defRPr sz="750"/>
            </a:lvl8pPr>
            <a:lvl9pPr marL="2745740" indent="0">
              <a:buNone/>
              <a:defRPr sz="750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5865899" y="274639"/>
            <a:ext cx="633613" cy="4362450"/>
          </a:xfrm>
        </p:spPr>
        <p:txBody>
          <a:bodyPr vert="eaVert"/>
          <a:lstStyle>
            <a:lvl1pPr>
              <a:defRPr baseline="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471926" y="274639"/>
            <a:ext cx="5274367" cy="4362450"/>
          </a:xfrm>
        </p:spPr>
        <p:txBody>
          <a:bodyPr vert="eaVert"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4" Type="http://schemas.openxmlformats.org/officeDocument/2006/relationships/theme" Target="../theme/theme2.xml"/><Relationship Id="rId13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924" y="274099"/>
            <a:ext cx="5920502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924" y="1370486"/>
            <a:ext cx="5920502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矩形 6"/>
          <p:cNvSpPr/>
          <p:nvPr userDrawn="1"/>
        </p:nvSpPr>
        <p:spPr>
          <a:xfrm>
            <a:off x="4" y="4809601"/>
            <a:ext cx="6864349" cy="342000"/>
          </a:xfrm>
          <a:prstGeom prst="rect">
            <a:avLst/>
          </a:prstGeom>
          <a:solidFill>
            <a:srgbClr val="6306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5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70260" y="4844889"/>
            <a:ext cx="941965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bg1"/>
                </a:solidFill>
              </a:defRPr>
            </a:lvl1pPr>
          </a:lstStyle>
          <a:p>
            <a:fld id="{EEEC610F-3C03-4981-BC45-48C127B3AC92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12227" y="4844889"/>
            <a:ext cx="380202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bg1"/>
                </a:solidFill>
              </a:defRPr>
            </a:lvl1pPr>
          </a:lstStyle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/>
  <p:txStyles>
    <p:titleStyle>
      <a:lvl1pPr algn="l" defTabSz="514985" rtl="0" eaLnBrk="1" latinLnBrk="0" hangingPunct="1">
        <a:lnSpc>
          <a:spcPct val="90000"/>
        </a:lnSpc>
        <a:spcBef>
          <a:spcPct val="0"/>
        </a:spcBef>
        <a:buNone/>
        <a:defRPr sz="2475" kern="1200" baseline="0">
          <a:solidFill>
            <a:srgbClr val="63065F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7175" indent="-257175" algn="l" defTabSz="514985" rtl="0" eaLnBrk="1" latinLnBrk="0" hangingPunct="1">
        <a:lnSpc>
          <a:spcPct val="90000"/>
        </a:lnSpc>
        <a:spcBef>
          <a:spcPts val="565"/>
        </a:spcBef>
        <a:buClr>
          <a:srgbClr val="63065F"/>
        </a:buClr>
        <a:buSzPct val="80000"/>
        <a:buFont typeface="Wingdings" panose="05000000000000000000" pitchFamily="2" charset="2"/>
        <a:buChar char="n"/>
        <a:defRPr sz="1575" kern="120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71805" indent="-214630" algn="l" defTabSz="514985" rtl="0" eaLnBrk="1" latinLnBrk="0" hangingPunct="1">
        <a:lnSpc>
          <a:spcPct val="90000"/>
        </a:lnSpc>
        <a:spcBef>
          <a:spcPts val="280"/>
        </a:spcBef>
        <a:buClr>
          <a:srgbClr val="63065F"/>
        </a:buClr>
        <a:buSzPct val="80000"/>
        <a:buFont typeface="Wingdings" panose="05000000000000000000" pitchFamily="2" charset="2"/>
        <a:buChar char="l"/>
        <a:defRPr sz="135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729615" indent="-214630" algn="l" defTabSz="514985" rtl="0" eaLnBrk="1" latinLnBrk="0" hangingPunct="1">
        <a:lnSpc>
          <a:spcPct val="90000"/>
        </a:lnSpc>
        <a:spcBef>
          <a:spcPts val="280"/>
        </a:spcBef>
        <a:buClr>
          <a:srgbClr val="630662"/>
        </a:buClr>
        <a:buFont typeface="Calibri" panose="020F0502020204030204" pitchFamily="34" charset="0"/>
        <a:buChar char="–"/>
        <a:defRPr sz="1125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986790" indent="-214630" algn="l" defTabSz="514985" rtl="0" eaLnBrk="1" latinLnBrk="0" hangingPunct="1">
        <a:lnSpc>
          <a:spcPct val="90000"/>
        </a:lnSpc>
        <a:spcBef>
          <a:spcPts val="280"/>
        </a:spcBef>
        <a:buClr>
          <a:srgbClr val="63065F"/>
        </a:buClr>
        <a:buFont typeface="Calibri" panose="020F0502020204030204" pitchFamily="34" charset="0"/>
        <a:buChar char="»"/>
        <a:defRPr sz="1015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158240" indent="-128905" algn="l" defTabSz="514985" rtl="0" eaLnBrk="1" latinLnBrk="0" hangingPunct="1">
        <a:lnSpc>
          <a:spcPct val="90000"/>
        </a:lnSpc>
        <a:spcBef>
          <a:spcPts val="280"/>
        </a:spcBef>
        <a:buClr>
          <a:srgbClr val="63065F"/>
        </a:buClr>
        <a:buFont typeface="Arial" panose="020B0604020202020204" pitchFamily="34" charset="0"/>
        <a:buChar char="•"/>
        <a:defRPr sz="1015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416050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6pPr>
      <a:lvl7pPr marL="1673225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7pPr>
      <a:lvl8pPr marL="1930400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8pPr>
      <a:lvl9pPr marL="2188210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2pPr>
      <a:lvl3pPr marL="51498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3pPr>
      <a:lvl4pPr marL="77216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4pPr>
      <a:lvl5pPr marL="102997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5pPr>
      <a:lvl6pPr marL="128714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6pPr>
      <a:lvl7pPr marL="154432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7pPr>
      <a:lvl8pPr marL="180213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8pPr>
      <a:lvl9pPr marL="205930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13461" y="360000"/>
            <a:ext cx="5786053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3461" y="972000"/>
            <a:ext cx="5786053" cy="3650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1" y="-2"/>
            <a:ext cx="340598" cy="5148000"/>
          </a:xfrm>
          <a:prstGeom prst="rect">
            <a:avLst/>
          </a:prstGeom>
          <a:solidFill>
            <a:srgbClr val="6306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" y="154800"/>
            <a:ext cx="340515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688763" y="4744800"/>
            <a:ext cx="810750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/>
                </a:solidFill>
              </a:defRPr>
            </a:lvl1pPr>
          </a:lstStyle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</p:sldLayoutIdLst>
  <p:txStyles>
    <p:titleStyle>
      <a:lvl1pPr algn="l" defTabSz="686435" rtl="0" eaLnBrk="1" latinLnBrk="0" hangingPunct="1">
        <a:lnSpc>
          <a:spcPct val="90000"/>
        </a:lnSpc>
        <a:spcBef>
          <a:spcPct val="0"/>
        </a:spcBef>
        <a:buNone/>
        <a:defRPr sz="2100" kern="1200" baseline="0">
          <a:solidFill>
            <a:srgbClr val="63065F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7175" marR="0" indent="-257175" algn="l" defTabSz="514985" rtl="0" eaLnBrk="1" fontAlgn="auto" latinLnBrk="0" hangingPunct="1">
        <a:lnSpc>
          <a:spcPct val="90000"/>
        </a:lnSpc>
        <a:spcBef>
          <a:spcPts val="565"/>
        </a:spcBef>
        <a:spcAft>
          <a:spcPts val="0"/>
        </a:spcAft>
        <a:buClr>
          <a:srgbClr val="63065F"/>
        </a:buClr>
        <a:buSzPct val="80000"/>
        <a:buFont typeface="Wingdings" panose="05000000000000000000" pitchFamily="2" charset="2"/>
        <a:buChar char="n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471805" marR="0" indent="-214630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5F"/>
        </a:buClr>
        <a:buSzPct val="80000"/>
        <a:buFont typeface="Wingdings" panose="05000000000000000000" pitchFamily="2" charset="2"/>
        <a:buChar char="l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29615" marR="0" indent="-214630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62"/>
        </a:buClr>
        <a:buSzTx/>
        <a:buFont typeface="Calibri" panose="020F050202020403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986790" marR="0" indent="-214630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5F"/>
        </a:buClr>
        <a:buSzTx/>
        <a:buFont typeface="Calibri" panose="020F0502020204030204" pitchFamily="34" charset="0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158240" marR="0" indent="-128905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5F"/>
        </a:buClr>
        <a:buSzTx/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7855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30755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4290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7190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353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643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997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287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640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930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284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574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7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20.png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8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0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2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1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094740" y="1472565"/>
            <a:ext cx="4810760" cy="1151890"/>
          </a:xfrm>
        </p:spPr>
        <p:txBody>
          <a:bodyPr/>
          <a:lstStyle/>
          <a:p>
            <a:r>
              <a:rPr kumimoji="1" lang="zh-CN" altLang="en-US" dirty="0">
                <a:sym typeface="+mn-ea"/>
              </a:rPr>
              <a:t>基于公式的数值推理方法与评测研究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2652883" y="2984686"/>
            <a:ext cx="1558585" cy="666000"/>
          </a:xfrm>
        </p:spPr>
        <p:txBody>
          <a:bodyPr>
            <a:normAutofit fontScale="80000" lnSpcReduction="10000"/>
          </a:bodyPr>
          <a:lstStyle/>
          <a:p>
            <a:pPr algn="l"/>
            <a:r>
              <a:rPr kumimoji="1" lang="zh-CN" altLang="en-US" dirty="0"/>
              <a:t>答辩人：</a:t>
            </a:r>
            <a:r>
              <a:rPr kumimoji="1" lang="zh-CN" altLang="en-US" dirty="0"/>
              <a:t>朱博林  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学号：</a:t>
            </a:r>
            <a:r>
              <a:rPr kumimoji="1" lang="en-US" altLang="zh-CN" dirty="0"/>
              <a:t>522023330123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导师：</a:t>
            </a:r>
            <a:r>
              <a:rPr kumimoji="1" lang="zh-CN" altLang="en-US" dirty="0"/>
              <a:t>程龚</a:t>
            </a:r>
            <a:endParaRPr kumimoji="1"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C7451-1419-4202-A27F-AE347845A433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advTm="5626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572936" y="360418"/>
            <a:ext cx="1075656" cy="443194"/>
          </a:xfrm>
        </p:spPr>
        <p:txBody>
          <a:bodyPr>
            <a:noAutofit/>
          </a:bodyPr>
          <a:lstStyle/>
          <a:p>
            <a:r>
              <a:rPr lang="zh-CN" altLang="en-US" sz="3200" dirty="0"/>
              <a:t>目录</a:t>
            </a:r>
            <a:endParaRPr lang="zh-CN" altLang="en-US" sz="3200" dirty="0"/>
          </a:p>
        </p:txBody>
      </p:sp>
      <p:sp>
        <p:nvSpPr>
          <p:cNvPr id="7" name="内容占位符 6"/>
          <p:cNvSpPr>
            <a:spLocks noGrp="1"/>
          </p:cNvSpPr>
          <p:nvPr>
            <p:ph idx="1"/>
          </p:nvPr>
        </p:nvSpPr>
        <p:spPr>
          <a:xfrm>
            <a:off x="1405890" y="1127760"/>
            <a:ext cx="4525010" cy="3286125"/>
          </a:xfrm>
        </p:spPr>
        <p:txBody>
          <a:bodyPr>
            <a:normAutofit/>
          </a:bodyPr>
          <a:lstStyle/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/>
              <a:t>研究背景</a:t>
            </a:r>
            <a:endParaRPr lang="en-US" altLang="zh-CN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/>
              <a:t>相关工作</a:t>
            </a:r>
            <a:endParaRPr lang="en-US" altLang="zh-CN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>
                <a:sym typeface="+mn-ea"/>
              </a:rPr>
              <a:t>基于公式的数值推理数据集构建</a:t>
            </a:r>
            <a:endParaRPr lang="zh-CN" altLang="en-US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>
                <a:sym typeface="+mn-ea"/>
              </a:rPr>
              <a:t>基于公式的数值推理方法评测</a:t>
            </a:r>
            <a:endParaRPr lang="en-US" altLang="zh-CN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>
                <a:sym typeface="+mn-ea"/>
              </a:rPr>
              <a:t>一种基于公式的数值推理方法</a:t>
            </a:r>
            <a:endParaRPr lang="zh-CN" altLang="en-US" sz="2000" dirty="0">
              <a:sym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/>
              <a:t>总结与</a:t>
            </a:r>
            <a:r>
              <a:rPr lang="zh-CN" altLang="en-US" sz="2000" dirty="0"/>
              <a:t>展望</a:t>
            </a:r>
            <a:endParaRPr lang="zh-CN" altLang="en-US" sz="2000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advTm="6799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/>
              <a:t>研究背景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advTm="1284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471533" y="849559"/>
            <a:ext cx="5880888" cy="2353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机器阅读理解：理解给定的自然语言文本，给出答案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生成式：重新构建答案，可能包含原文未出现的新词</a:t>
            </a:r>
            <a:endParaRPr lang="zh-CN" altLang="en-US" sz="14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sym typeface="+mn-ea"/>
              </a:rPr>
              <a:t>任务类型：文本摘要、问答、关键词生成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>
                <a:sym typeface="+mn-ea"/>
              </a:rPr>
              <a:t>大规模预训练语言模型发展：</a:t>
            </a:r>
            <a:r>
              <a:rPr lang="zh-CN" altLang="en-US" sz="1400" dirty="0">
                <a:effectLst/>
                <a:sym typeface="+mn-ea"/>
              </a:rPr>
              <a:t>注意力和自监督（</a:t>
            </a:r>
            <a:r>
              <a:rPr lang="en-US" altLang="zh-CN" sz="1400" dirty="0">
                <a:sym typeface="+mn-ea"/>
              </a:rPr>
              <a:t>T5 </a:t>
            </a:r>
            <a:r>
              <a:rPr lang="zh-CN" altLang="en-US" sz="1400" dirty="0">
                <a:sym typeface="+mn-ea"/>
              </a:rPr>
              <a:t>、</a:t>
            </a:r>
            <a:r>
              <a:rPr lang="en-US" altLang="zh-CN" sz="1400" dirty="0">
                <a:sym typeface="+mn-ea"/>
              </a:rPr>
              <a:t> GPT</a:t>
            </a:r>
            <a:r>
              <a:rPr lang="zh-CN" altLang="en-US" sz="1400" dirty="0">
                <a:sym typeface="+mn-ea"/>
              </a:rPr>
              <a:t>等）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挑战：</a:t>
            </a:r>
            <a:endParaRPr lang="en-US" altLang="zh-CN" sz="1400" dirty="0"/>
          </a:p>
          <a:p>
            <a:pPr marL="62928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 dirty="0"/>
              <a:t> </a:t>
            </a:r>
            <a:r>
              <a:rPr lang="zh-CN" altLang="en-US" sz="1400" dirty="0"/>
              <a:t>推理能力弱，更复杂的任务，如多答案问答</a:t>
            </a:r>
            <a:endParaRPr lang="zh-CN" altLang="en-US" sz="1400" dirty="0"/>
          </a:p>
          <a:p>
            <a:pPr marL="62928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 dirty="0"/>
              <a:t> </a:t>
            </a:r>
            <a:r>
              <a:rPr lang="zh-CN" altLang="en-US" sz="1400" dirty="0"/>
              <a:t>长文本处理与推理速度慢</a:t>
            </a:r>
            <a:endParaRPr lang="zh-CN" altLang="en-US" sz="1400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7312" b="9455"/>
          <a:stretch>
            <a:fillRect/>
          </a:stretch>
        </p:blipFill>
        <p:spPr>
          <a:xfrm>
            <a:off x="854075" y="3082925"/>
            <a:ext cx="4794885" cy="1677035"/>
          </a:xfrm>
          <a:prstGeom prst="rect">
            <a:avLst/>
          </a:prstGeom>
        </p:spPr>
      </p:pic>
      <p:sp>
        <p:nvSpPr>
          <p:cNvPr id="12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 err="1"/>
              <a:t>数值</a:t>
            </a:r>
            <a:r>
              <a:rPr lang="zh-CN" altLang="en-US" dirty="0" err="1"/>
              <a:t>推理</a:t>
            </a:r>
            <a:endParaRPr lang="zh-CN" altLang="en-US" dirty="0" err="1"/>
          </a:p>
        </p:txBody>
      </p:sp>
    </p:spTree>
  </p:cSld>
  <p:clrMapOvr>
    <a:masterClrMapping/>
  </p:clrMapOvr>
  <p:transition advTm="4106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/>
              <a:t>相关工作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advTm="1284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116359" y="256222"/>
            <a:ext cx="3429000" cy="3816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 defTabSz="514985">
              <a:lnSpc>
                <a:spcPct val="90000"/>
              </a:lnSpc>
              <a:buClrTx/>
              <a:buSzTx/>
              <a:buFontTx/>
            </a:pPr>
            <a:r>
              <a:rPr lang="zh-CN" altLang="en-US" sz="2100" dirty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研究工作</a:t>
            </a:r>
            <a:endParaRPr lang="zh-CN" altLang="en-US" sz="2100" dirty="0">
              <a:solidFill>
                <a:srgbClr val="63065F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37845" y="826770"/>
            <a:ext cx="5330190" cy="15544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推理加速</a:t>
            </a:r>
            <a:endParaRPr lang="zh-CN" altLang="en-US" dirty="0"/>
          </a:p>
          <a:p>
            <a:pPr marL="285750" indent="-285750">
              <a:buFont typeface="Wingdings" panose="05000000000000000000" pitchFamily="2" charset="2"/>
              <a:buChar char="n"/>
            </a:pPr>
            <a:endParaRPr lang="zh-CN" alt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 dirty="0"/>
              <a:t>自回归范式：</a:t>
            </a:r>
            <a:r>
              <a:rPr lang="en-US" altLang="zh-CN" dirty="0"/>
              <a:t>token by token</a:t>
            </a:r>
            <a:endParaRPr lang="zh-CN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 dirty="0"/>
              <a:t>文本长度长：注意力机制复杂度高</a:t>
            </a:r>
            <a:endParaRPr lang="zh-CN" alt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zh-CN" alt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 dirty="0"/>
              <a:t>信息噪声</a:t>
            </a:r>
            <a:endParaRPr lang="zh-CN" altLang="en-US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56735" y="595630"/>
            <a:ext cx="2369820" cy="201676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70" y="3268345"/>
            <a:ext cx="6124575" cy="14573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351155" y="616585"/>
            <a:ext cx="5965825" cy="16586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n"/>
            </a:pPr>
            <a:r>
              <a:rPr lang="zh-CN" altLang="en-US"/>
              <a:t>常见技术路线</a:t>
            </a:r>
            <a:r>
              <a:rPr lang="en-US" altLang="zh-CN"/>
              <a:t>-Medusa</a:t>
            </a:r>
            <a:r>
              <a:rPr lang="zh-CN" altLang="en-US"/>
              <a:t>框架</a:t>
            </a:r>
            <a:endParaRPr lang="zh-CN" altLang="en-US"/>
          </a:p>
          <a:p>
            <a:pPr marL="285750" indent="-285750">
              <a:buFont typeface="Wingdings" panose="05000000000000000000" charset="0"/>
              <a:buChar char="n"/>
            </a:pPr>
            <a:endParaRPr lang="zh-CN" altLang="en-US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ym typeface="+mn-ea"/>
              </a:rPr>
              <a:t>多个解码头：每个解码头负责预测下一个或后续若干个</a:t>
            </a:r>
            <a:r>
              <a:rPr lang="en-US" altLang="zh-CN" dirty="0">
                <a:sym typeface="+mn-ea"/>
              </a:rPr>
              <a:t> Token</a:t>
            </a:r>
            <a:endParaRPr lang="en-US" altLang="zh-CN" dirty="0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zh-CN" dirty="0">
              <a:sym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ym typeface="+mn-ea"/>
              </a:rPr>
              <a:t>树型注意力：关注各自前驱</a:t>
            </a:r>
            <a:endParaRPr lang="en-US" altLang="zh-CN" dirty="0">
              <a:sym typeface="+mn-ea"/>
            </a:endParaRPr>
          </a:p>
          <a:p>
            <a:pPr marL="285750" indent="-285750">
              <a:buFont typeface="Wingdings" panose="05000000000000000000" charset="0"/>
              <a:buChar char="n"/>
            </a:pPr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472690"/>
            <a:ext cx="3281045" cy="228727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2175" y="2680335"/>
            <a:ext cx="3288665" cy="20281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432435" y="415290"/>
            <a:ext cx="6909435" cy="25996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n"/>
            </a:pPr>
            <a:r>
              <a:rPr lang="zh-CN" altLang="en-US" dirty="0"/>
              <a:t>常见技术路线</a:t>
            </a:r>
            <a:r>
              <a:rPr lang="en-US" altLang="zh-CN" dirty="0"/>
              <a:t>-</a:t>
            </a:r>
            <a:r>
              <a:rPr lang="zh-CN" altLang="en-US" dirty="0"/>
              <a:t>投机解码</a:t>
            </a:r>
            <a:endParaRPr lang="zh-CN" altLang="en-US" dirty="0"/>
          </a:p>
          <a:p>
            <a:pPr marL="285750" indent="-285750">
              <a:buFont typeface="Wingdings" panose="05000000000000000000" charset="0"/>
              <a:buChar char="n"/>
            </a:pPr>
            <a:endParaRPr lang="zh-CN" alt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ym typeface="+mn-ea"/>
              </a:rPr>
              <a:t>草稿模型生成候选</a:t>
            </a:r>
            <a:r>
              <a:rPr lang="en-US" altLang="zh-CN" dirty="0">
                <a:sym typeface="+mn-ea"/>
              </a:rPr>
              <a:t>token</a:t>
            </a:r>
            <a:r>
              <a:rPr lang="zh-CN" altLang="en-US" dirty="0">
                <a:sym typeface="+mn-ea"/>
              </a:rPr>
              <a:t>，大模型验证</a:t>
            </a:r>
            <a:endParaRPr lang="zh-CN" altLang="en-US" dirty="0">
              <a:sym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ym typeface="+mn-ea"/>
              </a:rPr>
              <a:t>缺点：高度依赖草稿模型、难以集成</a:t>
            </a:r>
            <a:endParaRPr lang="zh-CN" altLang="en-US" dirty="0">
              <a:sym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zh-CN" altLang="en-US" dirty="0">
              <a:sym typeface="+mn-ea"/>
            </a:endParaRPr>
          </a:p>
          <a:p>
            <a:pPr marL="0" lvl="1" indent="-285750">
              <a:lnSpc>
                <a:spcPct val="150000"/>
              </a:lnSpc>
              <a:buFont typeface="Wingdings" panose="05000000000000000000" charset="0"/>
              <a:buChar char="n"/>
            </a:pPr>
            <a:r>
              <a:rPr lang="zh-CN" altLang="en-US">
                <a:sym typeface="+mn-ea"/>
              </a:rPr>
              <a:t>优化局限性：现有方法聚焦步骤数压缩，但未解决自注意力机制的高计算</a:t>
            </a:r>
            <a:endParaRPr lang="zh-CN" altLang="en-US">
              <a:sym typeface="+mn-ea"/>
            </a:endParaRPr>
          </a:p>
          <a:p>
            <a:pPr marL="0" lvl="1" indent="0">
              <a:lnSpc>
                <a:spcPct val="150000"/>
              </a:lnSpc>
              <a:buFont typeface="Wingdings" panose="05000000000000000000" charset="0"/>
              <a:buNone/>
            </a:pPr>
            <a:r>
              <a:rPr lang="zh-CN" altLang="en-US">
                <a:sym typeface="+mn-ea"/>
              </a:rPr>
              <a:t>复杂度问题（单步耗时未减少）</a:t>
            </a:r>
            <a:endParaRPr lang="zh-CN" altLang="en-US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zh-CN" altLang="en-US" dirty="0">
              <a:sym typeface="+mn-ea"/>
            </a:endParaRPr>
          </a:p>
          <a:p>
            <a:pPr marL="285750" indent="-285750">
              <a:buFont typeface="Wingdings" panose="05000000000000000000" charset="0"/>
              <a:buChar char="n"/>
            </a:pPr>
            <a:endParaRPr lang="zh-CN" altLang="en-US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b="2775"/>
          <a:stretch>
            <a:fillRect/>
          </a:stretch>
        </p:blipFill>
        <p:spPr>
          <a:xfrm>
            <a:off x="86995" y="2670810"/>
            <a:ext cx="6689725" cy="2113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基于公式的数值推理数据集构建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advTm="1284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723" y="195666"/>
            <a:ext cx="5920502" cy="489600"/>
          </a:xfrm>
        </p:spPr>
        <p:txBody>
          <a:bodyPr/>
          <a:lstStyle/>
          <a:p>
            <a:r>
              <a:rPr lang="zh-CN" altLang="en-US" dirty="0"/>
              <a:t>自适应解码</a:t>
            </a:r>
            <a:endParaRPr lang="en-US" altLang="zh-CN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352913" y="685135"/>
            <a:ext cx="3430954" cy="1136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629285" lvl="1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高频词</a:t>
            </a:r>
            <a:r>
              <a:rPr lang="en-US" altLang="zh-CN" dirty="0"/>
              <a:t>-</a:t>
            </a:r>
            <a:r>
              <a:rPr lang="zh-CN" altLang="en-US" dirty="0"/>
              <a:t>切换草稿模型快速生成</a:t>
            </a:r>
            <a:endParaRPr lang="en-US" altLang="zh-CN" dirty="0"/>
          </a:p>
          <a:p>
            <a:pPr marL="629285" lvl="1" indent="-285750">
              <a:buFont typeface="Wingdings" panose="05000000000000000000" pitchFamily="2" charset="2"/>
              <a:buChar char="n"/>
            </a:pPr>
            <a:endParaRPr lang="en-US" altLang="zh-CN" dirty="0"/>
          </a:p>
          <a:p>
            <a:pPr marL="629285" lvl="1" indent="-285750">
              <a:buFont typeface="Wingdings" panose="05000000000000000000" pitchFamily="2" charset="2"/>
              <a:buChar char="n"/>
            </a:pPr>
            <a:endParaRPr lang="en-US" altLang="zh-CN" dirty="0"/>
          </a:p>
          <a:p>
            <a:pPr marL="629285" lvl="1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更低的注意力机制复杂度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940" y="2028825"/>
            <a:ext cx="4650105" cy="27590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723" y="217774"/>
            <a:ext cx="5920502" cy="489600"/>
          </a:xfrm>
        </p:spPr>
        <p:txBody>
          <a:bodyPr/>
          <a:lstStyle/>
          <a:p>
            <a:r>
              <a:rPr lang="zh-CN" altLang="en-US" dirty="0"/>
              <a:t>解码器概览</a:t>
            </a:r>
            <a:endParaRPr lang="en-US" altLang="zh-CN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2" name="文本框 11"/>
          <p:cNvSpPr txBox="1"/>
          <p:nvPr/>
        </p:nvSpPr>
        <p:spPr>
          <a:xfrm>
            <a:off x="3061335" y="707390"/>
            <a:ext cx="5509260" cy="1345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>
                <a:sym typeface="+mn-ea"/>
              </a:rPr>
              <a:t>多头机制</a:t>
            </a:r>
            <a:endParaRPr lang="zh-CN" altLang="en-US" dirty="0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 dirty="0"/>
              <a:t>普通生成头：基于预训练</a:t>
            </a:r>
            <a:r>
              <a:rPr lang="zh-CN" altLang="en-US" dirty="0"/>
              <a:t>语言模型</a:t>
            </a:r>
            <a:endParaRPr lang="zh-CN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 dirty="0">
                <a:sym typeface="+mn-ea"/>
              </a:rPr>
              <a:t>共享循环</a:t>
            </a:r>
            <a:r>
              <a:rPr lang="zh-CN" altLang="en-US" dirty="0">
                <a:sym typeface="+mn-ea"/>
              </a:rPr>
              <a:t>头：解码器基于循环</a:t>
            </a:r>
            <a:r>
              <a:rPr lang="zh-CN" altLang="en-US" dirty="0">
                <a:sym typeface="+mn-ea"/>
              </a:rPr>
              <a:t>神经网络</a:t>
            </a:r>
            <a:endParaRPr lang="zh-CN" altLang="en-US" dirty="0"/>
          </a:p>
          <a:p>
            <a:pPr marL="285750" indent="-285750">
              <a:buFont typeface="Wingdings" panose="05000000000000000000" pitchFamily="2" charset="2"/>
              <a:buChar char="n"/>
            </a:pP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740" y="1860550"/>
            <a:ext cx="4544060" cy="287972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385" y="1389918"/>
            <a:ext cx="1844200" cy="57917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552938" y="707360"/>
            <a:ext cx="3430954" cy="300852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285750" indent="-285750">
              <a:buFont typeface="Wingdings" panose="05000000000000000000" charset="0"/>
              <a:buChar char="n"/>
            </a:pPr>
            <a:r>
              <a:rPr lang="zh-CN" altLang="en-US" dirty="0"/>
              <a:t>时间嵌入与循环解码</a:t>
            </a:r>
            <a:endParaRPr lang="en-US" altLang="zh-CN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170" y="1069340"/>
            <a:ext cx="2652395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05554" y="271735"/>
            <a:ext cx="5920502" cy="489600"/>
          </a:xfrm>
        </p:spPr>
        <p:txBody>
          <a:bodyPr/>
          <a:lstStyle/>
          <a:p>
            <a:pPr algn="l">
              <a:buClrTx/>
              <a:buSzTx/>
              <a:buFontTx/>
            </a:pPr>
            <a:r>
              <a:rPr lang="zh-CN" altLang="en-US" dirty="0"/>
              <a:t>实验设置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24056" y="685769"/>
            <a:ext cx="4446204" cy="404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dirty="0"/>
              <a:t>数据集信息</a:t>
            </a:r>
            <a:endParaRPr lang="en-US" altLang="zh-CN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056" y="1020889"/>
            <a:ext cx="5974598" cy="1524132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624056" y="2438513"/>
            <a:ext cx="4446204" cy="3660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dirty="0"/>
              <a:t>模型配置</a:t>
            </a:r>
            <a:endParaRPr lang="en-US" altLang="zh-CN" dirty="0"/>
          </a:p>
        </p:txBody>
      </p:sp>
      <p:sp>
        <p:nvSpPr>
          <p:cNvPr id="11" name="文本框 10"/>
          <p:cNvSpPr txBox="1"/>
          <p:nvPr/>
        </p:nvSpPr>
        <p:spPr>
          <a:xfrm>
            <a:off x="942392" y="2872692"/>
            <a:ext cx="3433664" cy="3003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Llama-3.2-1B</a:t>
            </a:r>
            <a:r>
              <a:rPr lang="zh-CN" altLang="en-US" dirty="0"/>
              <a:t>、 </a:t>
            </a:r>
            <a:r>
              <a:rPr lang="en-US" altLang="zh-CN" dirty="0"/>
              <a:t>Qwen-2.5-0.5B</a:t>
            </a:r>
            <a:endParaRPr lang="zh-CN" altLang="en-US" dirty="0"/>
          </a:p>
        </p:txBody>
      </p:sp>
      <p:sp>
        <p:nvSpPr>
          <p:cNvPr id="12" name="文本框 11"/>
          <p:cNvSpPr txBox="1"/>
          <p:nvPr/>
        </p:nvSpPr>
        <p:spPr>
          <a:xfrm>
            <a:off x="624056" y="3220197"/>
            <a:ext cx="4446204" cy="1345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dirty="0"/>
              <a:t>评价指标</a:t>
            </a:r>
            <a:endParaRPr lang="en-US" altLang="zh-CN" dirty="0"/>
          </a:p>
          <a:p>
            <a:pPr marL="62928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问答 精确匹配</a:t>
            </a:r>
            <a:r>
              <a:rPr lang="en-US" altLang="zh-CN" dirty="0"/>
              <a:t>F1 </a:t>
            </a:r>
            <a:r>
              <a:rPr lang="zh-CN" altLang="en-US" dirty="0"/>
              <a:t>（</a:t>
            </a:r>
            <a:r>
              <a:rPr lang="en-US" altLang="zh-CN" dirty="0"/>
              <a:t>EM</a:t>
            </a:r>
            <a:r>
              <a:rPr lang="zh-CN" altLang="en-US" dirty="0"/>
              <a:t>）、部分匹配</a:t>
            </a:r>
            <a:r>
              <a:rPr lang="en-US" altLang="zh-CN" dirty="0"/>
              <a:t>F1</a:t>
            </a:r>
            <a:r>
              <a:rPr lang="zh-CN" altLang="en-US" dirty="0"/>
              <a:t> （</a:t>
            </a:r>
            <a:r>
              <a:rPr lang="en-US" altLang="zh-CN" dirty="0"/>
              <a:t>PM</a:t>
            </a:r>
            <a:r>
              <a:rPr lang="zh-CN" altLang="en-US" dirty="0"/>
              <a:t>）</a:t>
            </a:r>
            <a:endParaRPr lang="en-US" altLang="zh-CN" dirty="0"/>
          </a:p>
          <a:p>
            <a:pPr marL="62928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关键词 </a:t>
            </a:r>
            <a:r>
              <a:rPr lang="en-US" altLang="zh-CN" dirty="0"/>
              <a:t>F1@5 </a:t>
            </a:r>
            <a:r>
              <a:rPr lang="zh-CN" altLang="en-US" dirty="0"/>
              <a:t>、 </a:t>
            </a:r>
            <a:r>
              <a:rPr lang="en-US" altLang="zh-CN" dirty="0"/>
              <a:t>F1@M </a:t>
            </a:r>
            <a:endParaRPr lang="en-US" altLang="zh-CN" dirty="0"/>
          </a:p>
          <a:p>
            <a:pPr marL="62928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摘要 </a:t>
            </a:r>
            <a:r>
              <a:rPr lang="en-US" altLang="zh-CN" dirty="0"/>
              <a:t> Rouge-1</a:t>
            </a:r>
            <a:r>
              <a:rPr lang="zh-CN" altLang="en-US" dirty="0"/>
              <a:t>、</a:t>
            </a:r>
            <a:r>
              <a:rPr lang="en-US" altLang="zh-CN" dirty="0"/>
              <a:t>Rouge-2 </a:t>
            </a:r>
            <a:r>
              <a:rPr lang="zh-CN" altLang="en-US" dirty="0"/>
              <a:t>和 </a:t>
            </a:r>
            <a:r>
              <a:rPr lang="en-US" altLang="zh-CN" dirty="0"/>
              <a:t>Rouge-L </a:t>
            </a:r>
            <a:endParaRPr lang="en-US" altLang="zh-CN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4925" y="89112"/>
            <a:ext cx="5920502" cy="489600"/>
          </a:xfrm>
        </p:spPr>
        <p:txBody>
          <a:bodyPr/>
          <a:lstStyle/>
          <a:p>
            <a:pPr algn="l">
              <a:buClrTx/>
              <a:buSzTx/>
              <a:buFontTx/>
            </a:pPr>
            <a:r>
              <a:rPr lang="zh-CN" altLang="en-US" dirty="0"/>
              <a:t>短语级结果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24205" y="578485"/>
            <a:ext cx="5303520" cy="404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en-US" altLang="zh-CN" dirty="0"/>
              <a:t>MSQA</a:t>
            </a:r>
            <a:r>
              <a:rPr lang="zh-CN" altLang="en-US" dirty="0"/>
              <a:t>上的效果：</a:t>
            </a:r>
            <a:r>
              <a:rPr lang="en-US" altLang="zh-CN" dirty="0">
                <a:sym typeface="+mn-ea"/>
              </a:rPr>
              <a:t>12</a:t>
            </a:r>
            <a:r>
              <a:rPr lang="zh-CN" altLang="en-US" dirty="0">
                <a:sym typeface="+mn-ea"/>
              </a:rPr>
              <a:t>项质量指标领先，解码速度</a:t>
            </a:r>
            <a:r>
              <a:rPr lang="zh-CN" altLang="en-US" dirty="0">
                <a:sym typeface="+mn-ea"/>
              </a:rPr>
              <a:t>提升</a:t>
            </a:r>
            <a:endParaRPr lang="zh-CN" altLang="en-US" dirty="0"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24205" y="2064385"/>
            <a:ext cx="5531485" cy="404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dirty="0"/>
              <a:t>关键词生成的效果：</a:t>
            </a:r>
            <a:r>
              <a:rPr lang="zh-CN" altLang="en-US" dirty="0">
                <a:sym typeface="+mn-ea"/>
              </a:rPr>
              <a:t>缺失关键词指标提升达 </a:t>
            </a:r>
            <a:r>
              <a:rPr lang="en-US" altLang="zh-CN" dirty="0">
                <a:sym typeface="+mn-ea"/>
              </a:rPr>
              <a:t>15 </a:t>
            </a:r>
            <a:r>
              <a:rPr lang="zh-CN" altLang="en-US" dirty="0">
                <a:sym typeface="+mn-ea"/>
              </a:rPr>
              <a:t>个百分点</a:t>
            </a:r>
            <a:endParaRPr lang="en-US" altLang="zh-CN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689" y="980978"/>
            <a:ext cx="4988536" cy="1135478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780" y="2400935"/>
            <a:ext cx="4897755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4925" y="89112"/>
            <a:ext cx="5920502" cy="489600"/>
          </a:xfrm>
        </p:spPr>
        <p:txBody>
          <a:bodyPr/>
          <a:lstStyle/>
          <a:p>
            <a:pPr algn="l">
              <a:buClrTx/>
              <a:buSzTx/>
              <a:buFontTx/>
            </a:pPr>
            <a:r>
              <a:rPr lang="zh-CN" altLang="en-US" dirty="0"/>
              <a:t>句子级结果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24205" y="578485"/>
            <a:ext cx="5103495" cy="1345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dirty="0"/>
              <a:t>摘要任务的效果</a:t>
            </a:r>
            <a:endParaRPr lang="zh-CN" alt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ym typeface="+mn-ea"/>
              </a:rPr>
              <a:t>针对不同场景特性实现了 </a:t>
            </a:r>
            <a:r>
              <a:rPr lang="en-US" altLang="zh-CN" dirty="0">
                <a:sym typeface="+mn-ea"/>
              </a:rPr>
              <a:t>6-10%</a:t>
            </a:r>
            <a:r>
              <a:rPr lang="zh-CN" altLang="en-US" dirty="0">
                <a:sym typeface="+mn-ea"/>
              </a:rPr>
              <a:t>的吞吐量提升</a:t>
            </a:r>
            <a:endParaRPr lang="zh-CN" altLang="en-US" dirty="0">
              <a:sym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ym typeface="+mn-ea"/>
              </a:rPr>
              <a:t>模型参数量提升，</a:t>
            </a:r>
            <a:r>
              <a:rPr lang="zh-CN" altLang="en-US" dirty="0">
                <a:sym typeface="+mn-ea"/>
              </a:rPr>
              <a:t>带来更高的端到端加速增益</a:t>
            </a:r>
            <a:endParaRPr lang="zh-CN" altLang="en-US" dirty="0">
              <a:sym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zh-CN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561" y="1796475"/>
            <a:ext cx="6209826" cy="294385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基于公式的</a:t>
            </a:r>
            <a:r>
              <a:rPr lang="zh-CN" altLang="en-US" dirty="0">
                <a:sym typeface="+mn-ea"/>
              </a:rPr>
              <a:t>数值推理方法评测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advTm="1284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-7898" y="29277"/>
            <a:ext cx="5920502" cy="489600"/>
          </a:xfrm>
        </p:spPr>
        <p:txBody>
          <a:bodyPr/>
          <a:lstStyle/>
          <a:p>
            <a:r>
              <a:rPr lang="zh-CN" altLang="en-US" dirty="0"/>
              <a:t>流水线解码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116543" y="299191"/>
            <a:ext cx="6517522" cy="2390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altLang="zh-CN" dirty="0"/>
          </a:p>
          <a:p>
            <a:pPr marL="629285" lvl="1" indent="-285750">
              <a:buFont typeface="Wingdings" panose="05000000000000000000" charset="0"/>
              <a:buChar char="n"/>
            </a:pPr>
            <a:r>
              <a:rPr lang="zh-CN" altLang="en-US" dirty="0">
                <a:solidFill>
                  <a:schemeClr val="tx1"/>
                </a:solidFill>
              </a:rPr>
              <a:t>关键</a:t>
            </a:r>
            <a:r>
              <a:rPr lang="en-US" altLang="zh-CN" dirty="0">
                <a:solidFill>
                  <a:schemeClr val="tx1"/>
                </a:solidFill>
              </a:rPr>
              <a:t>t</a:t>
            </a:r>
            <a:r>
              <a:rPr lang="en-US" altLang="zh-CN" dirty="0">
                <a:solidFill>
                  <a:schemeClr val="tx1"/>
                </a:solidFill>
              </a:rPr>
              <a:t>oken</a:t>
            </a:r>
            <a:r>
              <a:rPr lang="zh-CN" altLang="en-US" dirty="0">
                <a:solidFill>
                  <a:schemeClr val="tx1"/>
                </a:solidFill>
              </a:rPr>
              <a:t>驱动生成</a:t>
            </a:r>
            <a:endParaRPr lang="zh-CN" altLang="en-US" dirty="0">
              <a:solidFill>
                <a:schemeClr val="tx1"/>
              </a:solidFill>
            </a:endParaRPr>
          </a:p>
          <a:p>
            <a:pPr marL="629285" lvl="1" indent="-285750">
              <a:buFont typeface="Wingdings" panose="05000000000000000000" charset="0"/>
              <a:buChar char="n"/>
            </a:pPr>
            <a:endParaRPr lang="en-US" altLang="zh-CN" dirty="0">
              <a:solidFill>
                <a:schemeClr val="tx1"/>
              </a:solidFill>
            </a:endParaRPr>
          </a:p>
          <a:p>
            <a:pPr lvl="2">
              <a:lnSpc>
                <a:spcPts val="2145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altLang="zh-CN" sz="1355" b="0" i="0" dirty="0">
                <a:solidFill>
                  <a:schemeClr val="tx1"/>
                </a:solidFill>
              </a:rPr>
              <a:t>     </a:t>
            </a:r>
            <a:r>
              <a:rPr lang="zh-CN" altLang="en-US" sz="1355" b="0" i="0" dirty="0">
                <a:solidFill>
                  <a:schemeClr val="tx1"/>
                </a:solidFill>
              </a:rPr>
              <a:t>首</a:t>
            </a:r>
            <a:r>
              <a:rPr lang="en-US" altLang="zh-CN" sz="1355" b="0" i="0" dirty="0">
                <a:solidFill>
                  <a:schemeClr val="tx1"/>
                </a:solidFill>
              </a:rPr>
              <a:t>t</a:t>
            </a:r>
            <a:r>
              <a:rPr lang="zh-CN" altLang="en-US" sz="1355" b="0" i="0" dirty="0">
                <a:solidFill>
                  <a:schemeClr val="tx1"/>
                </a:solidFill>
              </a:rPr>
              <a:t>oken主导性，依赖前序子序列的前序</a:t>
            </a:r>
            <a:r>
              <a:rPr lang="en-US" altLang="zh-CN" sz="1355" b="0" i="0" dirty="0">
                <a:solidFill>
                  <a:schemeClr val="tx1"/>
                </a:solidFill>
              </a:rPr>
              <a:t>t</a:t>
            </a:r>
            <a:r>
              <a:rPr lang="zh-CN" altLang="en-US" sz="1355" b="0" i="0" dirty="0">
                <a:solidFill>
                  <a:schemeClr val="tx1"/>
                </a:solidFill>
              </a:rPr>
              <a:t>oken启动新序列</a:t>
            </a:r>
            <a:endParaRPr lang="zh-CN" altLang="en-US" sz="1355" b="0" i="0" dirty="0">
              <a:solidFill>
                <a:schemeClr val="tx1"/>
              </a:solidFill>
            </a:endParaRPr>
          </a:p>
          <a:p>
            <a:pPr lvl="2">
              <a:lnSpc>
                <a:spcPts val="2145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zh-CN" altLang="en-US" dirty="0">
              <a:solidFill>
                <a:schemeClr val="tx1"/>
              </a:solidFill>
            </a:endParaRPr>
          </a:p>
          <a:p>
            <a:pPr marL="629285" lvl="1" indent="-285750">
              <a:buFont typeface="Wingdings" panose="05000000000000000000" charset="0"/>
              <a:buChar char="n"/>
            </a:pPr>
            <a:r>
              <a:rPr lang="zh-CN" altLang="en-US" i="0" dirty="0">
                <a:solidFill>
                  <a:schemeClr val="tx1"/>
                </a:solidFill>
              </a:rPr>
              <a:t>应用价值</a:t>
            </a:r>
            <a:endParaRPr lang="zh-CN" altLang="en-US" i="0" dirty="0">
              <a:solidFill>
                <a:schemeClr val="tx1"/>
              </a:solidFill>
            </a:endParaRPr>
          </a:p>
          <a:p>
            <a:pPr lvl="1" indent="0">
              <a:buFont typeface="Wingdings" panose="05000000000000000000" charset="0"/>
              <a:buNone/>
            </a:pPr>
            <a:endParaRPr lang="zh-CN" altLang="en-US" i="0" dirty="0">
              <a:solidFill>
                <a:schemeClr val="tx1"/>
              </a:solidFill>
            </a:endParaRPr>
          </a:p>
          <a:p>
            <a:pPr marL="973455" lvl="2" indent="-285750">
              <a:buFont typeface="Arial" panose="020B0604020202020204" pitchFamily="34" charset="0"/>
              <a:buChar char="•"/>
            </a:pPr>
            <a:r>
              <a:rPr lang="zh-CN" altLang="en-US" i="0" dirty="0">
                <a:solidFill>
                  <a:schemeClr val="tx1"/>
                </a:solidFill>
              </a:rPr>
              <a:t>固定延迟高效生成</a:t>
            </a:r>
            <a:r>
              <a:rPr lang="zh-CN" altLang="en-US" dirty="0">
                <a:solidFill>
                  <a:schemeClr val="tx1"/>
                </a:solidFill>
              </a:rPr>
              <a:t>，</a:t>
            </a:r>
            <a:r>
              <a:rPr lang="zh-CN" altLang="en-US" b="0" i="0" dirty="0">
                <a:solidFill>
                  <a:schemeClr val="tx1"/>
                </a:solidFill>
              </a:rPr>
              <a:t>适合长文本、多任务场景加速</a:t>
            </a:r>
            <a:endParaRPr lang="zh-CN" altLang="en-US" b="0" i="0" dirty="0">
              <a:solidFill>
                <a:schemeClr val="tx1"/>
              </a:solidFill>
            </a:endParaRPr>
          </a:p>
          <a:p>
            <a:pPr marL="629285" lvl="1" indent="-285750">
              <a:buFont typeface="Wingdings" panose="05000000000000000000" charset="0"/>
              <a:buChar char="n"/>
            </a:pPr>
            <a:endParaRPr lang="zh-CN" altLang="en-US" i="0" dirty="0"/>
          </a:p>
          <a:p>
            <a:pPr marL="629285" lvl="1" indent="-285750">
              <a:buFont typeface="Wingdings" panose="05000000000000000000" charset="0"/>
              <a:buChar char="n"/>
            </a:pP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10" y="2364740"/>
            <a:ext cx="5076825" cy="24193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32571"/>
            <a:ext cx="5920502" cy="489600"/>
          </a:xfrm>
        </p:spPr>
        <p:txBody>
          <a:bodyPr/>
          <a:lstStyle/>
          <a:p>
            <a:r>
              <a:rPr lang="zh-CN" altLang="en-US" dirty="0"/>
              <a:t>流水线解码描述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137554" y="277371"/>
            <a:ext cx="6726796" cy="3780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altLang="zh-CN" dirty="0"/>
          </a:p>
          <a:p>
            <a:pPr marL="629285" lvl="1" indent="-285750">
              <a:buFont typeface="Wingdings" panose="05000000000000000000" charset="0"/>
              <a:buChar char="n"/>
            </a:pPr>
            <a:r>
              <a:rPr lang="zh-CN" altLang="en-US" dirty="0">
                <a:solidFill>
                  <a:schemeClr val="tx1"/>
                </a:solidFill>
              </a:rPr>
              <a:t>序列生成目标</a:t>
            </a:r>
            <a:endParaRPr lang="zh-CN" altLang="en-US" dirty="0">
              <a:solidFill>
                <a:schemeClr val="tx1"/>
              </a:solidFill>
            </a:endParaRPr>
          </a:p>
          <a:p>
            <a:pPr marL="629285" lvl="1" indent="-285750">
              <a:buFont typeface="Wingdings" panose="05000000000000000000" charset="0"/>
              <a:buChar char="n"/>
            </a:pPr>
            <a:endParaRPr lang="zh-CN" altLang="en-US" dirty="0">
              <a:solidFill>
                <a:schemeClr val="tx1"/>
              </a:solidFill>
            </a:endParaRPr>
          </a:p>
          <a:p>
            <a:pPr marL="973455" lvl="2" indent="-285750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tx1"/>
                </a:solidFill>
              </a:rPr>
              <a:t>输入序列：𝑄</a:t>
            </a:r>
            <a:r>
              <a:rPr lang="en-US" altLang="zh-CN" dirty="0">
                <a:solidFill>
                  <a:schemeClr val="tx1"/>
                </a:solidFill>
              </a:rPr>
              <a:t>+ </a:t>
            </a:r>
            <a:r>
              <a:rPr lang="zh-CN" altLang="en-US" dirty="0">
                <a:solidFill>
                  <a:schemeClr val="tx1"/>
                </a:solidFill>
              </a:rPr>
              <a:t>𝐶</a:t>
            </a:r>
            <a:r>
              <a:rPr lang="en-US" altLang="zh-CN" dirty="0">
                <a:solidFill>
                  <a:schemeClr val="tx1"/>
                </a:solidFill>
              </a:rPr>
              <a:t>= X</a:t>
            </a:r>
            <a:r>
              <a:rPr lang="en-US" altLang="zh-CN" baseline="-25000" dirty="0">
                <a:solidFill>
                  <a:schemeClr val="tx1"/>
                </a:solidFill>
              </a:rPr>
              <a:t>1</a:t>
            </a:r>
            <a:r>
              <a:rPr lang="en-US" altLang="zh-CN" dirty="0">
                <a:solidFill>
                  <a:schemeClr val="tx1"/>
                </a:solidFill>
              </a:rPr>
              <a:t>~</a:t>
            </a:r>
            <a:r>
              <a:rPr lang="en-US" dirty="0">
                <a:solidFill>
                  <a:schemeClr val="tx1"/>
                </a:solidFill>
              </a:rPr>
              <a:t>X</a:t>
            </a:r>
            <a:r>
              <a:rPr lang="en-US" baseline="-25000" dirty="0">
                <a:solidFill>
                  <a:schemeClr val="tx1"/>
                </a:solidFill>
              </a:rPr>
              <a:t>l</a:t>
            </a:r>
            <a:endParaRPr lang="zh-CN" altLang="en-US" baseline="-25000" dirty="0">
              <a:solidFill>
                <a:schemeClr val="tx1"/>
              </a:solidFill>
            </a:endParaRPr>
          </a:p>
          <a:p>
            <a:pPr marL="973455" lvl="2" indent="-285750">
              <a:buFont typeface="Arial" panose="020B0604020202020204" pitchFamily="34" charset="0"/>
              <a:buChar char="•"/>
            </a:pPr>
            <a:endParaRPr lang="zh-CN" altLang="en-US" baseline="-25000" dirty="0">
              <a:solidFill>
                <a:schemeClr val="tx1"/>
              </a:solidFill>
            </a:endParaRPr>
          </a:p>
          <a:p>
            <a:pPr marL="973455" lvl="2" indent="-285750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tx1"/>
                </a:solidFill>
              </a:rPr>
              <a:t>输出结构：</a:t>
            </a:r>
            <a:r>
              <a:rPr lang="en-US" altLang="zh-CN" dirty="0">
                <a:solidFill>
                  <a:schemeClr val="tx1"/>
                </a:solidFill>
              </a:rPr>
              <a:t>n</a:t>
            </a:r>
            <a:r>
              <a:rPr lang="zh-CN" altLang="en-US" dirty="0">
                <a:solidFill>
                  <a:schemeClr val="tx1"/>
                </a:solidFill>
              </a:rPr>
              <a:t>个带分隔符</a:t>
            </a:r>
            <a:r>
              <a:rPr lang="en-US" altLang="zh-CN" dirty="0">
                <a:solidFill>
                  <a:schemeClr val="tx1"/>
                </a:solidFill>
              </a:rPr>
              <a:t>&lt;</a:t>
            </a:r>
            <a:r>
              <a:rPr lang="en-US" altLang="zh-CN" dirty="0" err="1">
                <a:solidFill>
                  <a:schemeClr val="tx1"/>
                </a:solidFill>
              </a:rPr>
              <a:t>sep&gt;</a:t>
            </a:r>
            <a:r>
              <a:rPr lang="zh-CN" altLang="en-US" dirty="0">
                <a:solidFill>
                  <a:schemeClr val="tx1"/>
                </a:solidFill>
              </a:rPr>
              <a:t>的子序列（</a:t>
            </a:r>
            <a:r>
              <a:rPr lang="en-US" altLang="zh-CN" dirty="0">
                <a:solidFill>
                  <a:schemeClr val="tx1"/>
                </a:solidFill>
              </a:rPr>
              <a:t>Y</a:t>
            </a:r>
            <a:r>
              <a:rPr lang="en-US" altLang="zh-CN" baseline="-25000" dirty="0">
                <a:solidFill>
                  <a:schemeClr val="tx1"/>
                </a:solidFill>
              </a:rPr>
              <a:t>1</a:t>
            </a:r>
            <a:r>
              <a:rPr lang="en-US" altLang="zh-CN" dirty="0">
                <a:solidFill>
                  <a:schemeClr val="tx1"/>
                </a:solidFill>
              </a:rPr>
              <a:t>~Y</a:t>
            </a:r>
            <a:r>
              <a:rPr lang="en-US" altLang="zh-CN" baseline="-25000" dirty="0">
                <a:solidFill>
                  <a:schemeClr val="tx1"/>
                </a:solidFill>
              </a:rPr>
              <a:t>n</a:t>
            </a:r>
            <a:r>
              <a:rPr lang="zh-CN" altLang="en-US" dirty="0">
                <a:solidFill>
                  <a:schemeClr val="tx1"/>
                </a:solidFill>
              </a:rPr>
              <a:t>）</a:t>
            </a:r>
            <a:endParaRPr lang="en-US" altLang="zh-CN" dirty="0">
              <a:solidFill>
                <a:schemeClr val="tx1"/>
              </a:solidFill>
            </a:endParaRPr>
          </a:p>
          <a:p>
            <a:pPr lvl="2" indent="0">
              <a:buFont typeface="Arial" panose="020B0604020202020204" pitchFamily="34" charset="0"/>
              <a:buNone/>
            </a:pPr>
            <a:endParaRPr lang="en-US" altLang="zh-CN" dirty="0">
              <a:solidFill>
                <a:schemeClr val="tx1"/>
              </a:solidFill>
            </a:endParaRPr>
          </a:p>
          <a:p>
            <a:pPr lvl="2" indent="0">
              <a:buFont typeface="Arial" panose="020B0604020202020204" pitchFamily="34" charset="0"/>
              <a:buNone/>
            </a:pPr>
            <a:endParaRPr lang="en-US" altLang="zh-CN" dirty="0">
              <a:solidFill>
                <a:schemeClr val="tx1"/>
              </a:solidFill>
            </a:endParaRPr>
          </a:p>
          <a:p>
            <a:pPr lvl="2"/>
            <a:endParaRPr lang="en-US" altLang="zh-CN" dirty="0">
              <a:solidFill>
                <a:schemeClr val="tx1"/>
              </a:solidFill>
            </a:endParaRPr>
          </a:p>
          <a:p>
            <a:pPr marL="0" lvl="1" indent="-285750">
              <a:buFont typeface="Wingdings" panose="05000000000000000000" charset="0"/>
              <a:buChar char="n"/>
            </a:pPr>
            <a:endParaRPr lang="en-US" altLang="zh-CN" b="0" i="0" dirty="0">
              <a:solidFill>
                <a:schemeClr val="tx1"/>
              </a:solidFill>
            </a:endParaRPr>
          </a:p>
          <a:p>
            <a:pPr marL="629285" lvl="1" indent="-285750" algn="l">
              <a:buClrTx/>
              <a:buSzTx/>
              <a:buFont typeface="Wingdings" panose="05000000000000000000" charset="0"/>
              <a:buChar char="n"/>
            </a:pPr>
            <a:r>
              <a:rPr lang="zh-CN" altLang="en-US" b="0" i="0" dirty="0">
                <a:solidFill>
                  <a:schemeClr val="tx1"/>
                </a:solidFill>
              </a:rPr>
              <a:t>传统逐步解码：6步</a:t>
            </a:r>
            <a:endParaRPr lang="zh-CN" altLang="en-US" b="0" i="0" dirty="0">
              <a:solidFill>
                <a:schemeClr val="tx1"/>
              </a:solidFill>
            </a:endParaRPr>
          </a:p>
          <a:p>
            <a:pPr marL="629285" lvl="1" indent="-285750" algn="l">
              <a:buClrTx/>
              <a:buSzTx/>
              <a:buFont typeface="Wingdings" panose="05000000000000000000" charset="0"/>
              <a:buChar char="n"/>
            </a:pPr>
            <a:endParaRPr lang="zh-CN" altLang="en-US" b="0" i="0" dirty="0">
              <a:solidFill>
                <a:schemeClr val="tx1"/>
              </a:solidFill>
            </a:endParaRPr>
          </a:p>
          <a:p>
            <a:pPr marL="629285" lvl="1" indent="-285750" algn="l">
              <a:buClrTx/>
              <a:buSzTx/>
              <a:buFont typeface="Wingdings" panose="05000000000000000000" charset="0"/>
              <a:buChar char="n"/>
            </a:pPr>
            <a:r>
              <a:rPr lang="zh-CN" altLang="en-US" b="0" i="0" dirty="0">
                <a:solidFill>
                  <a:schemeClr val="tx1"/>
                </a:solidFill>
              </a:rPr>
              <a:t> 流水线解码：4步（加速50%）</a:t>
            </a:r>
            <a:endParaRPr lang="zh-CN" altLang="en-US" b="0" i="0" dirty="0">
              <a:solidFill>
                <a:schemeClr val="tx1"/>
              </a:solidFill>
            </a:endParaRPr>
          </a:p>
          <a:p>
            <a:pPr marL="629285" lvl="1" indent="-285750">
              <a:buFont typeface="Wingdings" panose="05000000000000000000" charset="0"/>
              <a:buChar char="n"/>
            </a:pPr>
            <a:endParaRPr lang="en-US" altLang="zh-CN" b="0" i="0" dirty="0">
              <a:solidFill>
                <a:schemeClr val="tx1"/>
              </a:solidFill>
            </a:endParaRPr>
          </a:p>
          <a:p>
            <a:pPr marL="973455" lvl="2" indent="-285750" algn="l"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chemeClr val="tx1"/>
                </a:solidFill>
              </a:rPr>
              <a:t>子系列启动</a:t>
            </a:r>
            <a:endParaRPr lang="zh-CN" altLang="en-US" b="0" i="0" dirty="0">
              <a:solidFill>
                <a:schemeClr val="tx1"/>
              </a:solidFill>
            </a:endParaRPr>
          </a:p>
          <a:p>
            <a:pPr marL="629285" lvl="1" indent="-285750">
              <a:buFont typeface="Wingdings" panose="05000000000000000000" charset="0"/>
              <a:buChar char="n"/>
            </a:pPr>
            <a:endParaRPr lang="en-US" altLang="zh-CN" b="0" i="0" dirty="0">
              <a:solidFill>
                <a:schemeClr val="tx1"/>
              </a:solidFill>
            </a:endParaRPr>
          </a:p>
          <a:p>
            <a:pPr marL="629285" lvl="1" indent="-285750">
              <a:buFont typeface="Wingdings" panose="05000000000000000000" charset="0"/>
              <a:buChar char="n"/>
            </a:pPr>
            <a:endParaRPr lang="zh-CN" alt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lvl="1"/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rcRect l="497" b="4300"/>
          <a:stretch>
            <a:fillRect/>
          </a:stretch>
        </p:blipFill>
        <p:spPr>
          <a:xfrm>
            <a:off x="3510915" y="2068830"/>
            <a:ext cx="3307715" cy="268478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56" b="11364"/>
          <a:stretch>
            <a:fillRect/>
          </a:stretch>
        </p:blipFill>
        <p:spPr>
          <a:xfrm>
            <a:off x="1047750" y="1634490"/>
            <a:ext cx="2834640" cy="538480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925" y="3325691"/>
            <a:ext cx="1867062" cy="762066"/>
          </a:xfrm>
          <a:prstGeom prst="rect">
            <a:avLst/>
          </a:prstGeom>
        </p:spPr>
      </p:pic>
      <p:sp>
        <p:nvSpPr>
          <p:cNvPr id="22" name="文本框 21"/>
          <p:cNvSpPr txBox="1"/>
          <p:nvPr/>
        </p:nvSpPr>
        <p:spPr>
          <a:xfrm>
            <a:off x="871571" y="4087455"/>
            <a:ext cx="6104708" cy="366395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285750" indent="-285750" algn="l">
              <a:lnSpc>
                <a:spcPts val="2145"/>
              </a:lnSpc>
              <a:spcBef>
                <a:spcPts val="103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404040"/>
                </a:solidFill>
                <a:latin typeface="DeepSeek-CJK-patch"/>
              </a:rPr>
              <a:t>并行生成</a:t>
            </a:r>
            <a:endParaRPr lang="zh-CN" altLang="en-US" i="0" dirty="0">
              <a:solidFill>
                <a:srgbClr val="404040"/>
              </a:solidFill>
              <a:effectLst/>
              <a:latin typeface="DeepSeek-CJK-patch"/>
            </a:endParaRP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3" t="26205" r="19218" b="15451"/>
          <a:stretch>
            <a:fillRect/>
          </a:stretch>
        </p:blipFill>
        <p:spPr>
          <a:xfrm>
            <a:off x="1196975" y="4453890"/>
            <a:ext cx="2021205" cy="2997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29277"/>
            <a:ext cx="5920502" cy="489600"/>
          </a:xfrm>
        </p:spPr>
        <p:txBody>
          <a:bodyPr/>
          <a:lstStyle/>
          <a:p>
            <a:r>
              <a:rPr lang="zh-CN" altLang="en-US" dirty="0"/>
              <a:t>模型训练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475860" y="518877"/>
            <a:ext cx="6466115" cy="8172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1370"/>
              </a:spcBef>
              <a:spcAft>
                <a:spcPts val="1030"/>
              </a:spcAft>
              <a:buClrTx/>
              <a:buSzTx/>
              <a:buFont typeface="Wingdings" panose="05000000000000000000" pitchFamily="2" charset="2"/>
              <a:buChar char="n"/>
            </a:pPr>
            <a:r>
              <a:rPr lang="zh-CN" altLang="en-US" i="0" dirty="0">
                <a:solidFill>
                  <a:srgbClr val="404040"/>
                </a:solidFill>
                <a:effectLst/>
                <a:latin typeface="+mn-ea"/>
                <a:cs typeface="+mn-ea"/>
              </a:rPr>
              <a:t>完整训练目标结构：包含</a:t>
            </a:r>
            <a:r>
              <a:rPr lang="en-US" altLang="zh-CN" i="0" dirty="0">
                <a:solidFill>
                  <a:srgbClr val="404040"/>
                </a:solidFill>
                <a:effectLst/>
                <a:latin typeface="+mn-ea"/>
                <a:cs typeface="+mn-ea"/>
              </a:rPr>
              <a:t>n</a:t>
            </a:r>
            <a:r>
              <a:rPr lang="zh-CN" altLang="en-US" i="0" dirty="0">
                <a:solidFill>
                  <a:srgbClr val="404040"/>
                </a:solidFill>
                <a:effectLst/>
                <a:latin typeface="+mn-ea"/>
                <a:cs typeface="+mn-ea"/>
              </a:rPr>
              <a:t>+1个子序列（原</a:t>
            </a:r>
            <a:r>
              <a:rPr lang="en-US" altLang="zh-CN" i="0" dirty="0">
                <a:solidFill>
                  <a:srgbClr val="404040"/>
                </a:solidFill>
                <a:effectLst/>
                <a:latin typeface="+mn-ea"/>
                <a:cs typeface="+mn-ea"/>
              </a:rPr>
              <a:t>n</a:t>
            </a:r>
            <a:r>
              <a:rPr lang="zh-CN" altLang="en-US" i="0" dirty="0">
                <a:solidFill>
                  <a:srgbClr val="404040"/>
                </a:solidFill>
                <a:effectLst/>
                <a:latin typeface="+mn-ea"/>
                <a:cs typeface="+mn-ea"/>
              </a:rPr>
              <a:t>个子序列 + 终止空序列）</a:t>
            </a:r>
            <a:endParaRPr lang="zh-CN" altLang="en-US" i="0" dirty="0">
              <a:solidFill>
                <a:srgbClr val="404040"/>
              </a:solidFill>
              <a:effectLst/>
              <a:latin typeface="+mn-ea"/>
              <a:cs typeface="+mn-ea"/>
            </a:endParaRPr>
          </a:p>
          <a:p>
            <a:pPr marL="285750" indent="-285750" algn="l">
              <a:spcBef>
                <a:spcPts val="1370"/>
              </a:spcBef>
              <a:spcAft>
                <a:spcPts val="1030"/>
              </a:spcAft>
              <a:buClrTx/>
              <a:buSzTx/>
              <a:buFont typeface="Wingdings" panose="05000000000000000000" pitchFamily="2" charset="2"/>
              <a:buChar char="n"/>
            </a:pPr>
            <a:endParaRPr lang="zh-CN" altLang="en-US" i="0" dirty="0">
              <a:solidFill>
                <a:srgbClr val="404040"/>
              </a:solidFill>
              <a:effectLst/>
              <a:latin typeface="+mn-ea"/>
              <a:cs typeface="+mn-ea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996" y="763145"/>
            <a:ext cx="2164268" cy="617273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475860" y="984579"/>
            <a:ext cx="3508310" cy="8171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1370"/>
              </a:spcBef>
              <a:spcAft>
                <a:spcPts val="1030"/>
              </a:spcAft>
              <a:buFont typeface="Wingdings" panose="05000000000000000000" pitchFamily="2" charset="2"/>
              <a:buChar char="n"/>
            </a:pPr>
            <a:endParaRPr lang="en-US" altLang="zh-CN" b="1" dirty="0">
              <a:solidFill>
                <a:srgbClr val="404040"/>
              </a:solidFill>
              <a:latin typeface="DeepSeek-CJK-patch"/>
            </a:endParaRPr>
          </a:p>
          <a:p>
            <a:pPr marL="285750" indent="-285750" algn="l">
              <a:spcBef>
                <a:spcPts val="1370"/>
              </a:spcBef>
              <a:spcAft>
                <a:spcPts val="1030"/>
              </a:spcAft>
              <a:buFont typeface="Wingdings" panose="05000000000000000000" pitchFamily="2" charset="2"/>
              <a:buChar char="n"/>
            </a:pPr>
            <a:r>
              <a:rPr lang="zh-CN" altLang="en-US" i="0" dirty="0">
                <a:solidFill>
                  <a:srgbClr val="404040"/>
                </a:solidFill>
                <a:effectLst/>
                <a:latin typeface="DeepSeek-CJK-patch"/>
              </a:rPr>
              <a:t>损失函数定义</a:t>
            </a:r>
            <a:endParaRPr lang="zh-CN" altLang="en-US" i="0" dirty="0">
              <a:solidFill>
                <a:srgbClr val="404040"/>
              </a:solidFill>
              <a:effectLst/>
              <a:latin typeface="DeepSeek-CJK-patch"/>
            </a:endParaRP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3657" y="2105359"/>
            <a:ext cx="2453853" cy="602032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555" y="2646680"/>
            <a:ext cx="5381625" cy="2000250"/>
          </a:xfrm>
          <a:prstGeom prst="rect">
            <a:avLst/>
          </a:prstGeom>
        </p:spPr>
      </p:pic>
      <p:pic>
        <p:nvPicPr>
          <p:cNvPr id="26" name="图片 2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80" b="26082"/>
          <a:stretch>
            <a:fillRect/>
          </a:stretch>
        </p:blipFill>
        <p:spPr>
          <a:xfrm>
            <a:off x="1360805" y="1785620"/>
            <a:ext cx="2385695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05554" y="271735"/>
            <a:ext cx="5920502" cy="489600"/>
          </a:xfrm>
        </p:spPr>
        <p:txBody>
          <a:bodyPr/>
          <a:lstStyle/>
          <a:p>
            <a:pPr algn="l">
              <a:buClrTx/>
              <a:buSzTx/>
              <a:buFontTx/>
            </a:pPr>
            <a:r>
              <a:rPr lang="zh-CN" altLang="en-US" dirty="0"/>
              <a:t>实验设置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24056" y="685769"/>
            <a:ext cx="4446204" cy="3660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dirty="0"/>
              <a:t>数据集信息</a:t>
            </a:r>
            <a:endParaRPr lang="en-US" altLang="zh-CN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056" y="1020889"/>
            <a:ext cx="5974598" cy="1524132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624056" y="2438513"/>
            <a:ext cx="4446204" cy="3660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dirty="0"/>
              <a:t>模型配置</a:t>
            </a:r>
            <a:endParaRPr lang="en-US" altLang="zh-CN" dirty="0"/>
          </a:p>
        </p:txBody>
      </p:sp>
      <p:sp>
        <p:nvSpPr>
          <p:cNvPr id="11" name="文本框 10"/>
          <p:cNvSpPr txBox="1"/>
          <p:nvPr/>
        </p:nvSpPr>
        <p:spPr>
          <a:xfrm>
            <a:off x="942392" y="2872692"/>
            <a:ext cx="3433664" cy="3008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tx1"/>
                </a:solidFill>
              </a:rPr>
              <a:t>T5-Base、 T5-</a:t>
            </a:r>
            <a:r>
              <a:rPr lang="en-US" altLang="zh-CN" dirty="0">
                <a:solidFill>
                  <a:schemeClr val="tx1"/>
                </a:solidFill>
              </a:rPr>
              <a:t>Large</a:t>
            </a:r>
            <a:endParaRPr lang="en-US" altLang="zh-CN" dirty="0">
              <a:solidFill>
                <a:schemeClr val="tx1"/>
              </a:solidFill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24056" y="3220197"/>
            <a:ext cx="4446204" cy="1302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dirty="0">
                <a:solidFill>
                  <a:schemeClr val="tx1"/>
                </a:solidFill>
              </a:rPr>
              <a:t>评价指标</a:t>
            </a:r>
            <a:endParaRPr lang="en-US" altLang="zh-CN" dirty="0">
              <a:solidFill>
                <a:schemeClr val="tx1"/>
              </a:solidFill>
            </a:endParaRPr>
          </a:p>
          <a:p>
            <a:pPr marL="629285" lvl="1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dirty="0">
                <a:solidFill>
                  <a:schemeClr val="tx1"/>
                </a:solidFill>
              </a:rPr>
              <a:t>问答 精确匹配</a:t>
            </a:r>
            <a:r>
              <a:rPr lang="en-US" altLang="zh-CN" dirty="0">
                <a:solidFill>
                  <a:schemeClr val="tx1"/>
                </a:solidFill>
              </a:rPr>
              <a:t>F1 </a:t>
            </a:r>
            <a:r>
              <a:rPr lang="zh-CN" altLang="en-US" dirty="0">
                <a:solidFill>
                  <a:schemeClr val="tx1"/>
                </a:solidFill>
              </a:rPr>
              <a:t>（</a:t>
            </a:r>
            <a:r>
              <a:rPr lang="en-US" altLang="zh-CN" dirty="0">
                <a:solidFill>
                  <a:schemeClr val="tx1"/>
                </a:solidFill>
              </a:rPr>
              <a:t>EM</a:t>
            </a:r>
            <a:r>
              <a:rPr lang="zh-CN" altLang="en-US" dirty="0">
                <a:solidFill>
                  <a:schemeClr val="tx1"/>
                </a:solidFill>
              </a:rPr>
              <a:t>）、部分匹配</a:t>
            </a:r>
            <a:r>
              <a:rPr lang="en-US" altLang="zh-CN" dirty="0">
                <a:solidFill>
                  <a:schemeClr val="tx1"/>
                </a:solidFill>
              </a:rPr>
              <a:t>F1</a:t>
            </a:r>
            <a:r>
              <a:rPr lang="zh-CN" altLang="en-US" dirty="0">
                <a:solidFill>
                  <a:schemeClr val="tx1"/>
                </a:solidFill>
              </a:rPr>
              <a:t> （</a:t>
            </a:r>
            <a:r>
              <a:rPr lang="en-US" altLang="zh-CN" dirty="0">
                <a:solidFill>
                  <a:schemeClr val="tx1"/>
                </a:solidFill>
              </a:rPr>
              <a:t>PM</a:t>
            </a:r>
            <a:r>
              <a:rPr lang="zh-CN" altLang="en-US" dirty="0">
                <a:solidFill>
                  <a:schemeClr val="tx1"/>
                </a:solidFill>
              </a:rPr>
              <a:t>）</a:t>
            </a:r>
            <a:endParaRPr lang="en-US" altLang="zh-CN" dirty="0">
              <a:solidFill>
                <a:schemeClr val="tx1"/>
              </a:solidFill>
            </a:endParaRPr>
          </a:p>
          <a:p>
            <a:pPr marL="629285" lvl="1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dirty="0">
                <a:solidFill>
                  <a:schemeClr val="tx1"/>
                </a:solidFill>
              </a:rPr>
              <a:t>关键词 </a:t>
            </a:r>
            <a:r>
              <a:rPr lang="en-US" altLang="zh-CN" dirty="0">
                <a:solidFill>
                  <a:schemeClr val="tx1"/>
                </a:solidFill>
              </a:rPr>
              <a:t>F1@5 </a:t>
            </a:r>
            <a:r>
              <a:rPr lang="zh-CN" altLang="en-US" dirty="0">
                <a:solidFill>
                  <a:schemeClr val="tx1"/>
                </a:solidFill>
              </a:rPr>
              <a:t>、 </a:t>
            </a:r>
            <a:r>
              <a:rPr lang="en-US" altLang="zh-CN" dirty="0">
                <a:solidFill>
                  <a:schemeClr val="tx1"/>
                </a:solidFill>
              </a:rPr>
              <a:t>F1@M </a:t>
            </a:r>
            <a:endParaRPr lang="en-US" altLang="zh-CN" dirty="0">
              <a:solidFill>
                <a:schemeClr val="tx1"/>
              </a:solidFill>
            </a:endParaRPr>
          </a:p>
          <a:p>
            <a:pPr marL="629285" lvl="1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dirty="0">
                <a:solidFill>
                  <a:schemeClr val="tx1"/>
                </a:solidFill>
              </a:rPr>
              <a:t>摘要 </a:t>
            </a:r>
            <a:r>
              <a:rPr lang="en-US" altLang="zh-CN" dirty="0">
                <a:solidFill>
                  <a:schemeClr val="tx1"/>
                </a:solidFill>
              </a:rPr>
              <a:t> Rouge-1</a:t>
            </a:r>
            <a:r>
              <a:rPr lang="zh-CN" altLang="en-US" dirty="0">
                <a:solidFill>
                  <a:schemeClr val="tx1"/>
                </a:solidFill>
              </a:rPr>
              <a:t>、</a:t>
            </a:r>
            <a:r>
              <a:rPr lang="en-US" altLang="zh-CN" dirty="0">
                <a:solidFill>
                  <a:schemeClr val="tx1"/>
                </a:solidFill>
              </a:rPr>
              <a:t>Rouge-2 </a:t>
            </a:r>
            <a:r>
              <a:rPr lang="zh-CN" altLang="en-US" dirty="0">
                <a:solidFill>
                  <a:schemeClr val="tx1"/>
                </a:solidFill>
              </a:rPr>
              <a:t>和 </a:t>
            </a:r>
            <a:r>
              <a:rPr lang="en-US" altLang="zh-CN" dirty="0">
                <a:solidFill>
                  <a:schemeClr val="tx1"/>
                </a:solidFill>
              </a:rPr>
              <a:t>Rouge-L </a:t>
            </a:r>
            <a:endParaRPr lang="en-US" altLang="zh-CN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4925" y="89112"/>
            <a:ext cx="5920502" cy="489600"/>
          </a:xfrm>
        </p:spPr>
        <p:txBody>
          <a:bodyPr/>
          <a:lstStyle/>
          <a:p>
            <a:pPr algn="l">
              <a:buClrTx/>
              <a:buSzTx/>
              <a:buFontTx/>
            </a:pPr>
            <a:r>
              <a:rPr lang="zh-CN" altLang="en-US" dirty="0"/>
              <a:t>短语级结果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24056" y="578712"/>
            <a:ext cx="4446204" cy="404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en-US" altLang="zh-CN" dirty="0"/>
              <a:t>MSQA</a:t>
            </a:r>
            <a:r>
              <a:rPr lang="zh-CN" altLang="en-US" dirty="0"/>
              <a:t>上实现</a:t>
            </a:r>
            <a:r>
              <a:rPr lang="en-US" altLang="zh-CN" dirty="0"/>
              <a:t>1.7</a:t>
            </a:r>
            <a:r>
              <a:rPr lang="zh-CN" altLang="en-US" dirty="0"/>
              <a:t>倍</a:t>
            </a:r>
            <a:r>
              <a:rPr lang="zh-CN" altLang="en-US" dirty="0"/>
              <a:t>加速</a:t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689" y="985719"/>
            <a:ext cx="4446204" cy="126436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624205" y="2320925"/>
            <a:ext cx="5387975" cy="404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dirty="0"/>
              <a:t>关键词生成</a:t>
            </a:r>
            <a:r>
              <a:rPr lang="zh-CN" altLang="en-US" dirty="0"/>
              <a:t>实现最高</a:t>
            </a:r>
            <a:r>
              <a:rPr lang="en-US" altLang="zh-CN" dirty="0"/>
              <a:t>2.5</a:t>
            </a:r>
            <a:r>
              <a:rPr lang="zh-CN" altLang="en-US" dirty="0"/>
              <a:t>倍加速</a:t>
            </a:r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689" y="2678308"/>
            <a:ext cx="4336156" cy="198899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4925" y="89112"/>
            <a:ext cx="5920502" cy="489600"/>
          </a:xfrm>
        </p:spPr>
        <p:txBody>
          <a:bodyPr/>
          <a:lstStyle/>
          <a:p>
            <a:pPr algn="l">
              <a:buClrTx/>
              <a:buSzTx/>
              <a:buFontTx/>
            </a:pPr>
            <a:r>
              <a:rPr lang="zh-CN" altLang="en-US" dirty="0"/>
              <a:t>句子级结果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24205" y="578485"/>
            <a:ext cx="5617210" cy="1031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dirty="0"/>
              <a:t>摘要任务的效果</a:t>
            </a:r>
            <a:endParaRPr lang="zh-CN" alt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ym typeface="+mn-ea"/>
              </a:rPr>
              <a:t>在 </a:t>
            </a:r>
            <a:r>
              <a:rPr lang="en-US" altLang="zh-CN" dirty="0" err="1">
                <a:sym typeface="+mn-ea"/>
              </a:rPr>
              <a:t>WikiHowQA</a:t>
            </a:r>
            <a:r>
              <a:rPr lang="en-US" altLang="zh-CN" dirty="0">
                <a:sym typeface="+mn-ea"/>
              </a:rPr>
              <a:t> </a:t>
            </a:r>
            <a:r>
              <a:rPr lang="zh-CN" altLang="en-US" dirty="0">
                <a:sym typeface="+mn-ea"/>
              </a:rPr>
              <a:t>和 </a:t>
            </a:r>
            <a:r>
              <a:rPr lang="en-US" altLang="zh-CN" dirty="0">
                <a:sym typeface="+mn-ea"/>
              </a:rPr>
              <a:t>PubMed </a:t>
            </a:r>
            <a:r>
              <a:rPr lang="zh-CN" altLang="en-US" dirty="0">
                <a:sym typeface="+mn-ea"/>
              </a:rPr>
              <a:t>数据集上，流水线解码器的吞吐量分别比顺序解码器高出至少 </a:t>
            </a:r>
            <a:r>
              <a:rPr lang="en-US" altLang="zh-CN" dirty="0">
                <a:sym typeface="+mn-ea"/>
              </a:rPr>
              <a:t>5.2 </a:t>
            </a:r>
            <a:r>
              <a:rPr lang="zh-CN" altLang="en-US" dirty="0">
                <a:sym typeface="+mn-ea"/>
              </a:rPr>
              <a:t>倍和 </a:t>
            </a:r>
            <a:r>
              <a:rPr lang="en-US" altLang="zh-CN" dirty="0">
                <a:sym typeface="+mn-ea"/>
              </a:rPr>
              <a:t>6.5 </a:t>
            </a:r>
            <a:r>
              <a:rPr lang="zh-CN" altLang="en-US" dirty="0">
                <a:sym typeface="+mn-ea"/>
              </a:rPr>
              <a:t>倍。</a:t>
            </a:r>
            <a:endParaRPr lang="zh-CN" altLang="en-US" dirty="0">
              <a:sym typeface="+mn-ea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53"/>
          <a:stretch>
            <a:fillRect/>
          </a:stretch>
        </p:blipFill>
        <p:spPr>
          <a:xfrm>
            <a:off x="441960" y="1687830"/>
            <a:ext cx="6164580" cy="30829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4925" y="89112"/>
            <a:ext cx="5920502" cy="489600"/>
          </a:xfrm>
        </p:spPr>
        <p:txBody>
          <a:bodyPr/>
          <a:lstStyle/>
          <a:p>
            <a:pPr algn="l">
              <a:buClrTx/>
              <a:buSzTx/>
              <a:buFontTx/>
            </a:pPr>
            <a:r>
              <a:rPr lang="zh-CN" altLang="en-US" dirty="0"/>
              <a:t>答案子序列数量分析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2174" y="1652033"/>
            <a:ext cx="3432175" cy="3071558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52033"/>
            <a:ext cx="3432174" cy="3071558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949366" y="1427368"/>
            <a:ext cx="1747181" cy="3008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对推理速度的影响                                                                  </a:t>
            </a:r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4525528" y="1427368"/>
            <a:ext cx="1747181" cy="3008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对生成质量的影响                                                                  </a:t>
            </a:r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594995" y="578485"/>
            <a:ext cx="5080000" cy="718185"/>
          </a:xfrm>
          <a:prstGeom prst="rect">
            <a:avLst/>
          </a:prstGeom>
        </p:spPr>
        <p:txBody>
          <a:bodyPr>
            <a:spAutoFit/>
          </a:bodyPr>
          <a:p>
            <a:pPr marL="285750" indent="-285750">
              <a:buFont typeface="Wingdings" panose="05000000000000000000" charset="0"/>
              <a:buChar char="n"/>
            </a:pPr>
            <a:r>
              <a:rPr lang="zh-CN" altLang="en-US" sz="1360"/>
              <a:t>长文本效果更佳（子序列越多，加速潜力越大）</a:t>
            </a:r>
            <a:endParaRPr lang="zh-CN" altLang="en-US" sz="1360"/>
          </a:p>
          <a:p>
            <a:pPr marL="285750" indent="-285750">
              <a:buFont typeface="Wingdings" panose="05000000000000000000" charset="0"/>
              <a:buChar char="n"/>
            </a:pPr>
            <a:endParaRPr lang="zh-CN" altLang="en-US" sz="1360"/>
          </a:p>
          <a:p>
            <a:pPr marL="285750" indent="-285750">
              <a:buFont typeface="Wingdings" panose="05000000000000000000" charset="0"/>
              <a:buChar char="n"/>
            </a:pPr>
            <a:r>
              <a:rPr lang="zh-CN" altLang="en-US" sz="1360"/>
              <a:t>加速优化未牺牲生成质量，甚至略有提升</a:t>
            </a:r>
            <a:endParaRPr lang="zh-CN" altLang="en-US" sz="136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4925" y="89112"/>
            <a:ext cx="5920502" cy="489600"/>
          </a:xfrm>
        </p:spPr>
        <p:txBody>
          <a:bodyPr/>
          <a:lstStyle/>
          <a:p>
            <a:pPr algn="l">
              <a:buClrTx/>
              <a:buSzTx/>
              <a:buFontTx/>
            </a:pPr>
            <a:r>
              <a:rPr lang="zh-CN" altLang="en-US" dirty="0"/>
              <a:t>延迟时间分析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269" y="1492166"/>
            <a:ext cx="4711973" cy="329239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461010" y="578485"/>
            <a:ext cx="6099175" cy="718185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Wingdings" panose="05000000000000000000" charset="0"/>
              <a:buChar char="n"/>
            </a:pPr>
            <a:r>
              <a:rPr lang="zh-CN" altLang="en-US" sz="1360"/>
              <a:t>延迟时间增大时，推理速度按预期下降。</a:t>
            </a:r>
            <a:endParaRPr lang="zh-CN" altLang="en-US" sz="1360"/>
          </a:p>
          <a:p>
            <a:pPr marL="285750" indent="-285750">
              <a:buFont typeface="Wingdings" panose="05000000000000000000" charset="0"/>
              <a:buChar char="n"/>
            </a:pPr>
            <a:endParaRPr lang="zh-CN" altLang="en-US" sz="1360"/>
          </a:p>
          <a:p>
            <a:pPr marL="285750" indent="-285750">
              <a:buFont typeface="Wingdings" panose="05000000000000000000" charset="0"/>
              <a:buChar char="n"/>
            </a:pPr>
            <a:r>
              <a:rPr lang="zh-CN" altLang="en-US" sz="1360"/>
              <a:t>生成质量在窄幅波动，表明初始</a:t>
            </a:r>
            <a:r>
              <a:rPr lang="en-US" altLang="zh-CN" sz="1360"/>
              <a:t>token</a:t>
            </a:r>
            <a:r>
              <a:rPr lang="zh-CN" altLang="en-US" sz="1360"/>
              <a:t>信息足够支撑后续生成。</a:t>
            </a:r>
            <a:endParaRPr lang="zh-CN" altLang="en-US" sz="136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一种基于公式的数值推理方法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advTm="1284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总结与</a:t>
            </a:r>
            <a:r>
              <a:rPr lang="zh-CN" altLang="en-US" dirty="0">
                <a:sym typeface="+mn-ea"/>
              </a:rPr>
              <a:t>展望</a:t>
            </a:r>
            <a:endParaRPr lang="zh-CN" altLang="en-US"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advTm="1284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22B08-3EA3-41BF-B421-FEB4AE47B4B9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2" name="文本框 1"/>
          <p:cNvSpPr txBox="1"/>
          <p:nvPr/>
        </p:nvSpPr>
        <p:spPr>
          <a:xfrm>
            <a:off x="300355" y="265430"/>
            <a:ext cx="6296660" cy="32264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n"/>
            </a:pPr>
            <a:r>
              <a:rPr lang="zh-CN" altLang="en-US"/>
              <a:t>总结</a:t>
            </a:r>
            <a:endParaRPr lang="zh-CN" altLang="en-US"/>
          </a:p>
          <a:p>
            <a:pPr marL="285750" indent="-285750">
              <a:buFont typeface="Wingdings" panose="05000000000000000000" charset="0"/>
              <a:buChar char="n"/>
            </a:pPr>
            <a:endParaRPr lang="zh-CN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/>
              <a:t>设计自适应</a:t>
            </a:r>
            <a:r>
              <a:rPr lang="zh-CN" altLang="en-US"/>
              <a:t>解码器和流水线解码器，兼顾全局语义建模与生成速度提升</a:t>
            </a:r>
            <a:endParaRPr lang="zh-CN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zh-CN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/>
              <a:t>在阅读理解、文本摘要、关键短语生成等任务中验证模型潜力，多任务生成能力突出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pPr marL="285750" indent="-285750">
              <a:buFont typeface="Wingdings" panose="05000000000000000000" charset="0"/>
              <a:buChar char="n"/>
            </a:pPr>
            <a:endParaRPr lang="zh-CN" altLang="en-US"/>
          </a:p>
          <a:p>
            <a:pPr marL="285750" indent="-285750">
              <a:buFont typeface="Wingdings" panose="05000000000000000000" charset="0"/>
              <a:buChar char="n"/>
            </a:pPr>
            <a:r>
              <a:rPr lang="zh-CN" altLang="en-US"/>
              <a:t>未来方向</a:t>
            </a:r>
            <a:endParaRPr lang="zh-CN" altLang="en-US"/>
          </a:p>
          <a:p>
            <a:pPr marL="285750" indent="-285750">
              <a:buFont typeface="Wingdings" panose="05000000000000000000" charset="0"/>
              <a:buChar char="n"/>
            </a:pPr>
            <a:endParaRPr lang="zh-CN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/>
              <a:t>数学问题求解等无上下文感知任务（依赖强标记时序，需改进依赖建模）</a:t>
            </a:r>
            <a:endParaRPr lang="zh-CN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zh-CN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/>
              <a:t>优化子序列生成，取消固定时间间隔，按语义动态划分子序列。</a:t>
            </a:r>
            <a:endParaRPr lang="zh-CN" altLang="en-US"/>
          </a:p>
          <a:p>
            <a:pPr indent="457200"/>
            <a:endParaRPr lang="zh-CN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471922" y="979200"/>
            <a:ext cx="5540303" cy="3701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Xiao Li, </a:t>
            </a:r>
            <a:r>
              <a:rPr lang="en-US" altLang="zh-CN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Bolin Zhu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et al. FormulaReasoning: A Dataset for Formula-Based Numerical Reasoning[C/OL]//The 64th Annual Meeting of the Association for Computational Linguistics. 2026. https://openreview.net/forum?id=G87r1ICRPg. </a:t>
            </a: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r>
              <a: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程龚，朱博林，厉肖，一种基于公式的数值</a:t>
            </a:r>
            <a:r>
              <a: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推理问答实现方法、设备及介质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2026.4 </a:t>
            </a: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charset="-122"/>
                <a:ea typeface="黑体" panose="02010609060101010101" charset="-122"/>
              </a:rPr>
              <a:t>攻读硕士学位期间完成的学术成果</a:t>
            </a:r>
            <a:endParaRPr lang="zh-CN" altLang="en-US" dirty="0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" name="标题 4"/>
          <p:cNvSpPr>
            <a:spLocks noGrp="1"/>
          </p:cNvSpPr>
          <p:nvPr/>
        </p:nvSpPr>
        <p:spPr>
          <a:xfrm>
            <a:off x="598924" y="26968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latin typeface="黑体" panose="02010609060101010101" charset="-122"/>
                <a:ea typeface="黑体" panose="02010609060101010101" charset="-122"/>
              </a:rPr>
              <a:t>攻读硕士学位期间完成的</a:t>
            </a:r>
            <a:r>
              <a:rPr lang="zh-CN" altLang="en-US" dirty="0">
                <a:latin typeface="黑体" panose="02010609060101010101" charset="-122"/>
                <a:ea typeface="黑体" panose="02010609060101010101" charset="-122"/>
              </a:rPr>
              <a:t>专利情况</a:t>
            </a:r>
            <a:endParaRPr lang="zh-CN" altLang="en-US" dirty="0"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感谢观看</a:t>
            </a:r>
            <a:endParaRPr lang="zh-CN" altLang="en-US" dirty="0"/>
          </a:p>
        </p:txBody>
      </p:sp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>
          <a:xfrm>
            <a:off x="2708617" y="2953358"/>
            <a:ext cx="1921440" cy="66600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kumimoji="1" lang="zh-CN" altLang="en-US" dirty="0"/>
              <a:t>汇报人：</a:t>
            </a:r>
            <a:r>
              <a:rPr kumimoji="1" lang="zh-CN" altLang="en-US" dirty="0"/>
              <a:t>朱博林  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学号：</a:t>
            </a:r>
            <a:r>
              <a:rPr kumimoji="1" lang="en-US" altLang="zh-CN" dirty="0"/>
              <a:t>522023330123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导师：</a:t>
            </a:r>
            <a:r>
              <a:rPr kumimoji="1" lang="zh-CN" altLang="en-US" dirty="0"/>
              <a:t>程龚</a:t>
            </a:r>
            <a:endParaRPr kumimoji="1" lang="zh-CN" altLang="en-US" dirty="0"/>
          </a:p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COMMONDATA" val="eyJoZGlkIjoiZmFhOTViNmIzMjg3YjNiOWUyNWVkYjNjNDNiZjUwMzUifQ==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1988</Words>
  <Application>WPS 演示</Application>
  <PresentationFormat>自定义</PresentationFormat>
  <Paragraphs>337</Paragraphs>
  <Slides>28</Slides>
  <Notes>23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28</vt:i4>
      </vt:variant>
    </vt:vector>
  </HeadingPairs>
  <TitlesOfParts>
    <vt:vector size="45" baseType="lpstr">
      <vt:lpstr>Arial</vt:lpstr>
      <vt:lpstr>宋体</vt:lpstr>
      <vt:lpstr>Wingdings</vt:lpstr>
      <vt:lpstr>Calibri</vt:lpstr>
      <vt:lpstr>Calibri</vt:lpstr>
      <vt:lpstr>Wingdings</vt:lpstr>
      <vt:lpstr>微软雅黑</vt:lpstr>
      <vt:lpstr>黑体</vt:lpstr>
      <vt:lpstr>Arial Unicode MS</vt:lpstr>
      <vt:lpstr>等线</vt:lpstr>
      <vt:lpstr>DeepSeek-CJK-patch</vt:lpstr>
      <vt:lpstr>Segoe Print</vt:lpstr>
      <vt:lpstr>Times New Roman</vt:lpstr>
      <vt:lpstr>BatangChe</vt:lpstr>
      <vt:lpstr>MS PGothic</vt:lpstr>
      <vt:lpstr>Office 主题​​</vt:lpstr>
      <vt:lpstr>自定义设计方案</vt:lpstr>
      <vt:lpstr>基于上下文感知的高效 文本生成模型</vt:lpstr>
      <vt:lpstr>目录</vt:lpstr>
      <vt:lpstr>研究背景</vt:lpstr>
      <vt:lpstr>FormulaReasoning-实验结果</vt:lpstr>
      <vt:lpstr>研究背景</vt:lpstr>
      <vt:lpstr>PowerPoint 演示文稿</vt:lpstr>
      <vt:lpstr>PowerPoint 演示文稿</vt:lpstr>
      <vt:lpstr>PowerPoint 演示文稿</vt:lpstr>
      <vt:lpstr>相关工作</vt:lpstr>
      <vt:lpstr>自适应解码</vt:lpstr>
      <vt:lpstr>解码器概览</vt:lpstr>
      <vt:lpstr>实验设置</vt:lpstr>
      <vt:lpstr>短语级结果</vt:lpstr>
      <vt:lpstr>句子级结果</vt:lpstr>
      <vt:lpstr>基于公式的数值推理数据集构建</vt:lpstr>
      <vt:lpstr>流水线解码</vt:lpstr>
      <vt:lpstr>流水线解码描述</vt:lpstr>
      <vt:lpstr>模型训练</vt:lpstr>
      <vt:lpstr>实验设置</vt:lpstr>
      <vt:lpstr>短语级结果</vt:lpstr>
      <vt:lpstr>句子级结果</vt:lpstr>
      <vt:lpstr>答案子序列数量分析</vt:lpstr>
      <vt:lpstr>延迟时间分析</vt:lpstr>
      <vt:lpstr>基于公式的数值推理方法评测</vt:lpstr>
      <vt:lpstr>基于公式的数值推理方法评测</vt:lpstr>
      <vt:lpstr>PowerPoint 演示文稿</vt:lpstr>
      <vt:lpstr>攻读硕士学位期间完成的学术成果</vt:lpstr>
      <vt:lpstr>感谢观看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Wang Yuxin</dc:creator>
  <cp:lastModifiedBy>.云雨.</cp:lastModifiedBy>
  <cp:revision>308</cp:revision>
  <dcterms:created xsi:type="dcterms:W3CDTF">2019-07-23T07:18:00Z</dcterms:created>
  <dcterms:modified xsi:type="dcterms:W3CDTF">2026-05-06T14:22:56Z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863547886DD245B3A8B43CAE48D36B34_13</vt:lpwstr>
  </property>
  <property fmtid="{D5CDD505-2E9C-101B-9397-08002B2CF9AE}" pid="3" name="KSOProductBuildVer">
    <vt:lpwstr>2052-12.1.0.25865</vt:lpwstr>
  </property>
</Properties>
</file>