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56" r:id="rId4"/>
    <p:sldId id="258" r:id="rId6"/>
    <p:sldId id="261" r:id="rId7"/>
    <p:sldId id="260" r:id="rId8"/>
    <p:sldId id="368" r:id="rId9"/>
    <p:sldId id="362" r:id="rId10"/>
    <p:sldId id="370" r:id="rId11"/>
    <p:sldId id="369" r:id="rId12"/>
    <p:sldId id="262" r:id="rId13"/>
    <p:sldId id="334" r:id="rId14"/>
    <p:sldId id="333" r:id="rId15"/>
    <p:sldId id="363" r:id="rId16"/>
    <p:sldId id="335" r:id="rId17"/>
    <p:sldId id="337" r:id="rId18"/>
    <p:sldId id="355" r:id="rId19"/>
    <p:sldId id="356" r:id="rId20"/>
    <p:sldId id="357" r:id="rId21"/>
    <p:sldId id="364" r:id="rId22"/>
    <p:sldId id="338" r:id="rId23"/>
    <p:sldId id="339" r:id="rId24"/>
    <p:sldId id="344" r:id="rId25"/>
    <p:sldId id="350" r:id="rId26"/>
    <p:sldId id="336" r:id="rId27"/>
    <p:sldId id="351" r:id="rId28"/>
    <p:sldId id="352" r:id="rId29"/>
    <p:sldId id="354" r:id="rId30"/>
    <p:sldId id="365" r:id="rId31"/>
    <p:sldId id="366" r:id="rId32"/>
    <p:sldId id="359" r:id="rId33"/>
    <p:sldId id="360" r:id="rId34"/>
    <p:sldId id="282" r:id="rId35"/>
  </p:sldIdLst>
  <p:sldSz cx="6864350" cy="5147945"/>
  <p:notesSz cx="6858000" cy="9144000"/>
  <p:custDataLst>
    <p:tags r:id="rId39"/>
  </p:custDataLst>
  <p:defaultTextStyle>
    <a:defPPr>
      <a:defRPr lang="zh-CN"/>
    </a:defPPr>
    <a:lvl1pPr marL="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1pPr>
    <a:lvl2pPr marL="34353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2pPr>
    <a:lvl3pPr marL="68770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3pPr>
    <a:lvl4pPr marL="103124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4pPr>
    <a:lvl5pPr marL="137477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5pPr>
    <a:lvl6pPr marL="171894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6pPr>
    <a:lvl7pPr marL="206248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7pPr>
    <a:lvl8pPr marL="240665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8pPr>
    <a:lvl9pPr marL="275018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285DA7C-D78A-4EA6-9859-07F8A1FD5AB3}">
          <p14:sldIdLst>
            <p14:sldId id="256"/>
            <p14:sldId id="258"/>
            <p14:sldId id="261"/>
            <p14:sldId id="260"/>
            <p14:sldId id="368"/>
            <p14:sldId id="362"/>
            <p14:sldId id="370"/>
            <p14:sldId id="369"/>
            <p14:sldId id="262"/>
            <p14:sldId id="334"/>
            <p14:sldId id="333"/>
            <p14:sldId id="363"/>
            <p14:sldId id="335"/>
            <p14:sldId id="337"/>
            <p14:sldId id="355"/>
            <p14:sldId id="356"/>
            <p14:sldId id="357"/>
            <p14:sldId id="364"/>
            <p14:sldId id="338"/>
            <p14:sldId id="339"/>
            <p14:sldId id="344"/>
            <p14:sldId id="350"/>
            <p14:sldId id="336"/>
            <p14:sldId id="351"/>
            <p14:sldId id="352"/>
            <p14:sldId id="354"/>
            <p14:sldId id="365"/>
            <p14:sldId id="366"/>
            <p14:sldId id="359"/>
            <p14:sldId id="360"/>
            <p14:sldId id="2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0000"/>
    <a:srgbClr val="C40000"/>
    <a:srgbClr val="FF2525"/>
    <a:srgbClr val="FF4343"/>
    <a:srgbClr val="F2EAF2"/>
    <a:srgbClr val="D2B7D1"/>
    <a:srgbClr val="63065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/>
    <p:restoredTop sz="91602" autoAdjust="0"/>
  </p:normalViewPr>
  <p:slideViewPr>
    <p:cSldViewPr snapToGrid="0">
      <p:cViewPr>
        <p:scale>
          <a:sx n="81" d="100"/>
          <a:sy n="81" d="100"/>
        </p:scale>
        <p:origin x="1886" y="3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7A321-F3D9-4C81-BB44-B8E478C3E0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1pPr>
    <a:lvl2pPr marL="343535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2pPr>
    <a:lvl3pPr marL="687705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3pPr>
    <a:lvl4pPr marL="1031240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4pPr>
    <a:lvl5pPr marL="1374775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5pPr>
    <a:lvl6pPr marL="1718945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6pPr>
    <a:lvl7pPr marL="2062480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7pPr>
    <a:lvl8pPr marL="2406650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8pPr>
    <a:lvl9pPr marL="2750185" algn="l" defTabSz="687705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7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7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7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7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7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7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65937-FCC7-47CE-8B46-06F747D53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58045" y="1472400"/>
            <a:ext cx="5148263" cy="1152000"/>
          </a:xfrm>
        </p:spPr>
        <p:txBody>
          <a:bodyPr anchor="b"/>
          <a:lstStyle>
            <a:lvl1pPr algn="ctr">
              <a:defRPr sz="3380" spc="3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主题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8045" y="2689200"/>
            <a:ext cx="5148263" cy="666000"/>
          </a:xfrm>
        </p:spPr>
        <p:txBody>
          <a:bodyPr/>
          <a:lstStyle>
            <a:lvl1pPr marL="0" indent="0" algn="ctr">
              <a:buNone/>
              <a:defRPr sz="1350" baseline="0">
                <a:solidFill>
                  <a:srgbClr val="63065F"/>
                </a:solidFill>
              </a:defRPr>
            </a:lvl1pPr>
            <a:lvl2pPr marL="257175" indent="0" algn="ctr">
              <a:buNone/>
              <a:defRPr sz="1125"/>
            </a:lvl2pPr>
            <a:lvl3pPr marL="514985" indent="0" algn="ctr">
              <a:buNone/>
              <a:defRPr sz="1015"/>
            </a:lvl3pPr>
            <a:lvl4pPr marL="772160" indent="0" algn="ctr">
              <a:buNone/>
              <a:defRPr sz="900"/>
            </a:lvl4pPr>
            <a:lvl5pPr marL="1029970" indent="0" algn="ctr">
              <a:buNone/>
              <a:defRPr sz="900"/>
            </a:lvl5pPr>
            <a:lvl6pPr marL="1287145" indent="0" algn="ctr">
              <a:buNone/>
              <a:defRPr sz="900"/>
            </a:lvl6pPr>
            <a:lvl7pPr marL="1544320" indent="0" algn="ctr">
              <a:buNone/>
              <a:defRPr sz="900"/>
            </a:lvl7pPr>
            <a:lvl8pPr marL="1802130" indent="0" algn="ctr">
              <a:buNone/>
              <a:defRPr sz="900"/>
            </a:lvl8pPr>
            <a:lvl9pPr marL="2059305" indent="0" algn="ctr">
              <a:buNone/>
              <a:defRPr sz="900"/>
            </a:lvl9pPr>
          </a:lstStyle>
          <a:p>
            <a:r>
              <a:rPr lang="en-US" dirty="0"/>
              <a:t>SUBTITLE GOES HERE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7451-1419-4202-A27F-AE347845A43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97" y="223201"/>
            <a:ext cx="2108881" cy="52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1924" y="979201"/>
            <a:ext cx="5920502" cy="3636000"/>
          </a:xfrm>
        </p:spPr>
        <p:txBody>
          <a:bodyPr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71924" y="360000"/>
            <a:ext cx="5920502" cy="489600"/>
          </a:xfrm>
        </p:spPr>
        <p:txBody>
          <a:bodyPr/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9" y="1283491"/>
            <a:ext cx="5920502" cy="2141534"/>
          </a:xfrm>
        </p:spPr>
        <p:txBody>
          <a:bodyPr anchor="b"/>
          <a:lstStyle>
            <a:lvl1pPr>
              <a:defRPr sz="3380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8349" y="3445285"/>
            <a:ext cx="5920502" cy="1126182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98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21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99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714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432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213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930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here to edit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2B08-3EA3-41BF-B421-FEB4AE47B4B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24" y="360000"/>
            <a:ext cx="5920502" cy="489600"/>
          </a:xfrm>
        </p:spPr>
        <p:txBody>
          <a:bodyPr/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1925" y="982800"/>
            <a:ext cx="2917349" cy="36324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5078" y="982800"/>
            <a:ext cx="2917349" cy="3632400"/>
          </a:xfrm>
        </p:spPr>
        <p:txBody>
          <a:bodyPr/>
          <a:lstStyle/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97F0-3F40-4E8D-AD72-3EF4C46A3CD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818" y="360000"/>
            <a:ext cx="5920502" cy="489600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2819" y="1004400"/>
            <a:ext cx="2918700" cy="615600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985" indent="0">
              <a:buNone/>
              <a:defRPr sz="1015" b="1"/>
            </a:lvl3pPr>
            <a:lvl4pPr marL="772160" indent="0">
              <a:buNone/>
              <a:defRPr sz="900" b="1"/>
            </a:lvl4pPr>
            <a:lvl5pPr marL="1029970" indent="0">
              <a:buNone/>
              <a:defRPr sz="900" b="1"/>
            </a:lvl5pPr>
            <a:lvl6pPr marL="1287145" indent="0">
              <a:buNone/>
              <a:defRPr sz="900" b="1"/>
            </a:lvl6pPr>
            <a:lvl7pPr marL="1544320" indent="0">
              <a:buNone/>
              <a:defRPr sz="900" b="1"/>
            </a:lvl7pPr>
            <a:lvl8pPr marL="1802130" indent="0">
              <a:buNone/>
              <a:defRPr sz="900" b="1"/>
            </a:lvl8pPr>
            <a:lvl9pPr marL="2059305" indent="0">
              <a:buNone/>
              <a:defRPr sz="900" b="1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820" y="1674000"/>
            <a:ext cx="2913295" cy="29484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5077" y="1004400"/>
            <a:ext cx="2918700" cy="615600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985" indent="0">
              <a:buNone/>
              <a:defRPr sz="1015" b="1"/>
            </a:lvl3pPr>
            <a:lvl4pPr marL="772160" indent="0">
              <a:buNone/>
              <a:defRPr sz="900" b="1"/>
            </a:lvl4pPr>
            <a:lvl5pPr marL="1029970" indent="0">
              <a:buNone/>
              <a:defRPr sz="900" b="1"/>
            </a:lvl5pPr>
            <a:lvl6pPr marL="1287145" indent="0">
              <a:buNone/>
              <a:defRPr sz="900" b="1"/>
            </a:lvl6pPr>
            <a:lvl7pPr marL="1544320" indent="0">
              <a:buNone/>
              <a:defRPr sz="900" b="1"/>
            </a:lvl7pPr>
            <a:lvl8pPr marL="1802130" indent="0">
              <a:buNone/>
              <a:defRPr sz="900" b="1"/>
            </a:lvl8pPr>
            <a:lvl9pPr marL="2059305" indent="0">
              <a:buNone/>
              <a:defRPr sz="900" b="1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01E6E-D92E-4C52-A98F-A9E10A9340D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3473727" y="1674000"/>
            <a:ext cx="2918700" cy="29484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818" y="360000"/>
            <a:ext cx="5920502" cy="489600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819" y="986128"/>
            <a:ext cx="5921178" cy="18180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01E6E-D92E-4C52-A98F-A9E10A9340D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471250" y="2890800"/>
            <a:ext cx="5921178" cy="18180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24" y="360000"/>
            <a:ext cx="5920502" cy="489600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697-D339-4047-AF9F-C94934425D8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819" y="343221"/>
            <a:ext cx="2213932" cy="1201261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8244" y="741255"/>
            <a:ext cx="3475077" cy="3658604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5"/>
            </a:lvl4pPr>
            <a:lvl5pPr>
              <a:defRPr sz="101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819" y="1544479"/>
            <a:ext cx="2213932" cy="286133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257175" indent="0">
              <a:buNone/>
              <a:defRPr sz="790"/>
            </a:lvl2pPr>
            <a:lvl3pPr marL="514985" indent="0">
              <a:buNone/>
              <a:defRPr sz="675"/>
            </a:lvl3pPr>
            <a:lvl4pPr marL="772160" indent="0">
              <a:buNone/>
              <a:defRPr sz="565"/>
            </a:lvl4pPr>
            <a:lvl5pPr marL="1029970" indent="0">
              <a:buNone/>
              <a:defRPr sz="565"/>
            </a:lvl5pPr>
            <a:lvl6pPr marL="1287145" indent="0">
              <a:buNone/>
              <a:defRPr sz="565"/>
            </a:lvl6pPr>
            <a:lvl7pPr marL="1544320" indent="0">
              <a:buNone/>
              <a:defRPr sz="565"/>
            </a:lvl7pPr>
            <a:lvl8pPr marL="1802130" indent="0">
              <a:buNone/>
              <a:defRPr sz="565"/>
            </a:lvl8pPr>
            <a:lvl9pPr marL="2059305" indent="0">
              <a:buNone/>
              <a:defRPr sz="565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B8FB5-04D9-4225-B74F-1A2F4016A2D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819" y="343221"/>
            <a:ext cx="2213932" cy="1201261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918244" y="741255"/>
            <a:ext cx="3475077" cy="3658604"/>
          </a:xfrm>
        </p:spPr>
        <p:txBody>
          <a:bodyPr anchor="t">
            <a:normAutofit/>
          </a:bodyPr>
          <a:lstStyle>
            <a:lvl1pPr marL="0" indent="0">
              <a:buNone/>
              <a:defRPr sz="1575"/>
            </a:lvl1pPr>
            <a:lvl2pPr marL="257175" indent="0">
              <a:buNone/>
              <a:defRPr sz="1575"/>
            </a:lvl2pPr>
            <a:lvl3pPr marL="514985" indent="0">
              <a:buNone/>
              <a:defRPr sz="1350"/>
            </a:lvl3pPr>
            <a:lvl4pPr marL="772160" indent="0">
              <a:buNone/>
              <a:defRPr sz="1125"/>
            </a:lvl4pPr>
            <a:lvl5pPr marL="1029970" indent="0">
              <a:buNone/>
              <a:defRPr sz="1125"/>
            </a:lvl5pPr>
            <a:lvl6pPr marL="1287145" indent="0">
              <a:buNone/>
              <a:defRPr sz="1125"/>
            </a:lvl6pPr>
            <a:lvl7pPr marL="1544320" indent="0">
              <a:buNone/>
              <a:defRPr sz="1125"/>
            </a:lvl7pPr>
            <a:lvl8pPr marL="1802130" indent="0">
              <a:buNone/>
              <a:defRPr sz="1125"/>
            </a:lvl8pPr>
            <a:lvl9pPr marL="2059305" indent="0">
              <a:buNone/>
              <a:defRPr sz="1125"/>
            </a:lvl9pPr>
          </a:lstStyle>
          <a:p>
            <a:r>
              <a:rPr lang="en-US" altLang="zh-CN" dirty="0"/>
              <a:t>Click to add pictures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819" y="1544479"/>
            <a:ext cx="2213932" cy="286133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257175" indent="0">
              <a:buNone/>
              <a:defRPr sz="790"/>
            </a:lvl2pPr>
            <a:lvl3pPr marL="514985" indent="0">
              <a:buNone/>
              <a:defRPr sz="675"/>
            </a:lvl3pPr>
            <a:lvl4pPr marL="772160" indent="0">
              <a:buNone/>
              <a:defRPr sz="565"/>
            </a:lvl4pPr>
            <a:lvl5pPr marL="1029970" indent="0">
              <a:buNone/>
              <a:defRPr sz="565"/>
            </a:lvl5pPr>
            <a:lvl6pPr marL="1287145" indent="0">
              <a:buNone/>
              <a:defRPr sz="565"/>
            </a:lvl6pPr>
            <a:lvl7pPr marL="1544320" indent="0">
              <a:buNone/>
              <a:defRPr sz="565"/>
            </a:lvl7pPr>
            <a:lvl8pPr marL="1802130" indent="0">
              <a:buNone/>
              <a:defRPr sz="565"/>
            </a:lvl8pPr>
            <a:lvl9pPr marL="2059305" indent="0">
              <a:buNone/>
              <a:defRPr sz="565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56EE-3EB6-48A8-9004-22005D6F3B0D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858045" y="1472400"/>
            <a:ext cx="5148263" cy="1152000"/>
          </a:xfrm>
        </p:spPr>
        <p:txBody>
          <a:bodyPr anchor="b"/>
          <a:lstStyle>
            <a:lvl1pPr algn="ctr">
              <a:defRPr sz="338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8045" y="2689200"/>
            <a:ext cx="5148263" cy="666000"/>
          </a:xfrm>
        </p:spPr>
        <p:txBody>
          <a:bodyPr/>
          <a:lstStyle>
            <a:lvl1pPr marL="0" indent="0" algn="ctr">
              <a:buNone/>
              <a:defRPr sz="1350" baseline="0">
                <a:solidFill>
                  <a:srgbClr val="63065F"/>
                </a:solidFill>
              </a:defRPr>
            </a:lvl1pPr>
            <a:lvl2pPr marL="257175" indent="0" algn="ctr">
              <a:buNone/>
              <a:defRPr sz="1125"/>
            </a:lvl2pPr>
            <a:lvl3pPr marL="514985" indent="0" algn="ctr">
              <a:buNone/>
              <a:defRPr sz="1015"/>
            </a:lvl3pPr>
            <a:lvl4pPr marL="772160" indent="0" algn="ctr">
              <a:buNone/>
              <a:defRPr sz="900"/>
            </a:lvl4pPr>
            <a:lvl5pPr marL="1029970" indent="0" algn="ctr">
              <a:buNone/>
              <a:defRPr sz="900"/>
            </a:lvl5pPr>
            <a:lvl6pPr marL="1287145" indent="0" algn="ctr">
              <a:buNone/>
              <a:defRPr sz="900"/>
            </a:lvl6pPr>
            <a:lvl7pPr marL="1544320" indent="0" algn="ctr">
              <a:buNone/>
              <a:defRPr sz="900"/>
            </a:lvl7pPr>
            <a:lvl8pPr marL="1802130" indent="0" algn="ctr">
              <a:buNone/>
              <a:defRPr sz="900"/>
            </a:lvl8pPr>
            <a:lvl9pPr marL="2059305" indent="0" algn="ctr">
              <a:buNone/>
              <a:defRPr sz="900"/>
            </a:lvl9pPr>
          </a:lstStyle>
          <a:p>
            <a:r>
              <a:rPr lang="en-US" dirty="0"/>
              <a:t>SUBTITLE GOES HERE</a:t>
            </a:r>
            <a:endParaRPr 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93" y="223201"/>
            <a:ext cx="2108881" cy="52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49" y="1282700"/>
            <a:ext cx="5920502" cy="2141538"/>
          </a:xfrm>
        </p:spPr>
        <p:txBody>
          <a:bodyPr anchor="b">
            <a:normAutofit/>
          </a:bodyPr>
          <a:lstStyle>
            <a:lvl1pPr>
              <a:defRPr sz="338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68349" y="3444879"/>
            <a:ext cx="5920502" cy="11271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5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643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99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8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64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93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28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57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here to edit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13460" y="907200"/>
            <a:ext cx="2843030" cy="37584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sz="half" idx="12" hasCustomPrompt="1"/>
          </p:nvPr>
        </p:nvSpPr>
        <p:spPr>
          <a:xfrm>
            <a:off x="3656483" y="907200"/>
            <a:ext cx="2843030" cy="37584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13460" y="907200"/>
            <a:ext cx="2843030" cy="37584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sz="half" idx="12" hasCustomPrompt="1"/>
          </p:nvPr>
        </p:nvSpPr>
        <p:spPr>
          <a:xfrm>
            <a:off x="3656483" y="907200"/>
            <a:ext cx="2843030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3656483" y="2844000"/>
            <a:ext cx="2843030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13461" y="907200"/>
            <a:ext cx="5786053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sz="half" idx="12" hasCustomPrompt="1"/>
          </p:nvPr>
        </p:nvSpPr>
        <p:spPr>
          <a:xfrm>
            <a:off x="713461" y="2840400"/>
            <a:ext cx="5786053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713460" y="907200"/>
            <a:ext cx="2843030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713461" y="360000"/>
            <a:ext cx="5786053" cy="489600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3" name="内容占位符 3"/>
          <p:cNvSpPr>
            <a:spLocks noGrp="1"/>
          </p:cNvSpPr>
          <p:nvPr>
            <p:ph sz="half" idx="12" hasCustomPrompt="1"/>
          </p:nvPr>
        </p:nvSpPr>
        <p:spPr>
          <a:xfrm>
            <a:off x="3656483" y="907200"/>
            <a:ext cx="2843030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内容占位符 3"/>
          <p:cNvSpPr>
            <a:spLocks noGrp="1"/>
          </p:cNvSpPr>
          <p:nvPr>
            <p:ph sz="half" idx="13" hasCustomPrompt="1"/>
          </p:nvPr>
        </p:nvSpPr>
        <p:spPr>
          <a:xfrm>
            <a:off x="713460" y="2840400"/>
            <a:ext cx="2843030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内容占位符 3"/>
          <p:cNvSpPr>
            <a:spLocks noGrp="1"/>
          </p:cNvSpPr>
          <p:nvPr>
            <p:ph sz="half" idx="14" hasCustomPrompt="1"/>
          </p:nvPr>
        </p:nvSpPr>
        <p:spPr>
          <a:xfrm>
            <a:off x="3656483" y="2840618"/>
            <a:ext cx="2843030" cy="1821600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118" y="342900"/>
            <a:ext cx="2214230" cy="1201738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918542" y="741367"/>
            <a:ext cx="3475077" cy="3659187"/>
          </a:xfrm>
        </p:spPr>
        <p:txBody>
          <a:bodyPr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 sz="2400"/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 sz="2100"/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 sz="1800"/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 sz="1500"/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473118" y="1544642"/>
            <a:ext cx="2214230" cy="2860675"/>
          </a:xfr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535" indent="0">
              <a:buNone/>
              <a:defRPr sz="1050"/>
            </a:lvl2pPr>
            <a:lvl3pPr marL="686435" indent="0">
              <a:buNone/>
              <a:defRPr sz="900"/>
            </a:lvl3pPr>
            <a:lvl4pPr marL="1029970" indent="0">
              <a:buNone/>
              <a:defRPr sz="750"/>
            </a:lvl4pPr>
            <a:lvl5pPr marL="1372870" indent="0">
              <a:buNone/>
              <a:defRPr sz="750"/>
            </a:lvl5pPr>
            <a:lvl6pPr marL="1716405" indent="0">
              <a:buNone/>
              <a:defRPr sz="750"/>
            </a:lvl6pPr>
            <a:lvl7pPr marL="2059305" indent="0">
              <a:buNone/>
              <a:defRPr sz="750"/>
            </a:lvl7pPr>
            <a:lvl8pPr marL="2402840" indent="0">
              <a:buNone/>
              <a:defRPr sz="750"/>
            </a:lvl8pPr>
            <a:lvl9pPr marL="2745740" indent="0">
              <a:buNone/>
              <a:defRPr sz="750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118" y="342900"/>
            <a:ext cx="2214230" cy="1201738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2918542" y="741367"/>
            <a:ext cx="3475077" cy="3659187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535" indent="0">
              <a:buNone/>
              <a:defRPr sz="2100"/>
            </a:lvl2pPr>
            <a:lvl3pPr marL="686435" indent="0">
              <a:buNone/>
              <a:defRPr sz="1800"/>
            </a:lvl3pPr>
            <a:lvl4pPr marL="1029970" indent="0">
              <a:buNone/>
              <a:defRPr sz="1500"/>
            </a:lvl4pPr>
            <a:lvl5pPr marL="1372870" indent="0">
              <a:buNone/>
              <a:defRPr sz="1500"/>
            </a:lvl5pPr>
            <a:lvl6pPr marL="1716405" indent="0">
              <a:buNone/>
              <a:defRPr sz="1500"/>
            </a:lvl6pPr>
            <a:lvl7pPr marL="2059305" indent="0">
              <a:buNone/>
              <a:defRPr sz="1500"/>
            </a:lvl7pPr>
            <a:lvl8pPr marL="2402840" indent="0">
              <a:buNone/>
              <a:defRPr sz="1500"/>
            </a:lvl8pPr>
            <a:lvl9pPr marL="2745740" indent="0">
              <a:buNone/>
              <a:defRPr sz="1500"/>
            </a:lvl9pPr>
          </a:lstStyle>
          <a:p>
            <a:r>
              <a:rPr lang="en-US" altLang="zh-CN" dirty="0"/>
              <a:t>Click to add pictures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473118" y="1544642"/>
            <a:ext cx="2214230" cy="2860675"/>
          </a:xfr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535" indent="0">
              <a:buNone/>
              <a:defRPr sz="1050"/>
            </a:lvl2pPr>
            <a:lvl3pPr marL="686435" indent="0">
              <a:buNone/>
              <a:defRPr sz="900"/>
            </a:lvl3pPr>
            <a:lvl4pPr marL="1029970" indent="0">
              <a:buNone/>
              <a:defRPr sz="750"/>
            </a:lvl4pPr>
            <a:lvl5pPr marL="1372870" indent="0">
              <a:buNone/>
              <a:defRPr sz="750"/>
            </a:lvl5pPr>
            <a:lvl6pPr marL="1716405" indent="0">
              <a:buNone/>
              <a:defRPr sz="750"/>
            </a:lvl6pPr>
            <a:lvl7pPr marL="2059305" indent="0">
              <a:buNone/>
              <a:defRPr sz="750"/>
            </a:lvl7pPr>
            <a:lvl8pPr marL="2402840" indent="0">
              <a:buNone/>
              <a:defRPr sz="750"/>
            </a:lvl8pPr>
            <a:lvl9pPr marL="2745740" indent="0">
              <a:buNone/>
              <a:defRPr sz="750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65899" y="274639"/>
            <a:ext cx="633613" cy="4362450"/>
          </a:xfrm>
        </p:spPr>
        <p:txBody>
          <a:bodyPr vert="eaVert"/>
          <a:lstStyle>
            <a:lvl1pPr>
              <a:defRPr baseline="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926" y="274639"/>
            <a:ext cx="5274367" cy="4362450"/>
          </a:xfrm>
        </p:spPr>
        <p:txBody>
          <a:bodyPr vert="eaVert"/>
          <a:lstStyle>
            <a:lvl1pPr marL="257175" marR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7180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9615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6790" marR="0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58240" marR="0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924" y="274099"/>
            <a:ext cx="5920502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24" y="1370486"/>
            <a:ext cx="5920502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  <a:p>
            <a:pPr lvl="1"/>
            <a:r>
              <a:rPr lang="en-US" altLang="zh-CN" dirty="0"/>
              <a:t> 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Forth level</a:t>
            </a:r>
            <a:endParaRPr lang="zh-CN" alt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4" y="4809601"/>
            <a:ext cx="6864349" cy="342000"/>
          </a:xfrm>
          <a:prstGeom prst="rect">
            <a:avLst/>
          </a:pr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5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0260" y="4844889"/>
            <a:ext cx="941965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bg1"/>
                </a:solidFill>
              </a:defRPr>
            </a:lvl1pPr>
          </a:lstStyle>
          <a:p>
            <a:fld id="{EEEC610F-3C03-4981-BC45-48C127B3AC9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12227" y="4844889"/>
            <a:ext cx="380202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bg1"/>
                </a:solidFill>
              </a:defRPr>
            </a:lvl1pPr>
          </a:lstStyle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514985" rtl="0" eaLnBrk="1" latinLnBrk="0" hangingPunct="1">
        <a:lnSpc>
          <a:spcPct val="90000"/>
        </a:lnSpc>
        <a:spcBef>
          <a:spcPct val="0"/>
        </a:spcBef>
        <a:buNone/>
        <a:defRPr sz="2475" kern="1200" baseline="0">
          <a:solidFill>
            <a:srgbClr val="63065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985" rtl="0" eaLnBrk="1" latinLnBrk="0" hangingPunct="1">
        <a:lnSpc>
          <a:spcPct val="90000"/>
        </a:lnSpc>
        <a:spcBef>
          <a:spcPts val="565"/>
        </a:spcBef>
        <a:buClr>
          <a:srgbClr val="63065F"/>
        </a:buClr>
        <a:buSzPct val="80000"/>
        <a:buFont typeface="Wingdings" panose="05000000000000000000" pitchFamily="2" charset="2"/>
        <a:buChar char="n"/>
        <a:defRPr sz="1575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805" indent="-214630" algn="l" defTabSz="514985" rtl="0" eaLnBrk="1" latinLnBrk="0" hangingPunct="1">
        <a:lnSpc>
          <a:spcPct val="90000"/>
        </a:lnSpc>
        <a:spcBef>
          <a:spcPts val="280"/>
        </a:spcBef>
        <a:buClr>
          <a:srgbClr val="63065F"/>
        </a:buClr>
        <a:buSzPct val="80000"/>
        <a:buFont typeface="Wingdings" panose="05000000000000000000" pitchFamily="2" charset="2"/>
        <a:buChar char="l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29615" indent="-214630" algn="l" defTabSz="514985" rtl="0" eaLnBrk="1" latinLnBrk="0" hangingPunct="1">
        <a:lnSpc>
          <a:spcPct val="90000"/>
        </a:lnSpc>
        <a:spcBef>
          <a:spcPts val="280"/>
        </a:spcBef>
        <a:buClr>
          <a:srgbClr val="630662"/>
        </a:buClr>
        <a:buFont typeface="Calibri" panose="020F0502020204030204" pitchFamily="34" charset="0"/>
        <a:buChar char="–"/>
        <a:defRPr sz="1125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86790" indent="-214630" algn="l" defTabSz="514985" rtl="0" eaLnBrk="1" latinLnBrk="0" hangingPunct="1">
        <a:lnSpc>
          <a:spcPct val="90000"/>
        </a:lnSpc>
        <a:spcBef>
          <a:spcPts val="280"/>
        </a:spcBef>
        <a:buClr>
          <a:srgbClr val="63065F"/>
        </a:buClr>
        <a:buFont typeface="Calibri" panose="020F0502020204030204" pitchFamily="34" charset="0"/>
        <a:buChar char="»"/>
        <a:defRPr sz="1015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58240" indent="-128905" algn="l" defTabSz="514985" rtl="0" eaLnBrk="1" latinLnBrk="0" hangingPunct="1">
        <a:lnSpc>
          <a:spcPct val="90000"/>
        </a:lnSpc>
        <a:spcBef>
          <a:spcPts val="280"/>
        </a:spcBef>
        <a:buClr>
          <a:srgbClr val="63065F"/>
        </a:buClr>
        <a:buFont typeface="Arial" panose="020B0604020202020204" pitchFamily="34" charset="0"/>
        <a:buChar char="•"/>
        <a:defRPr sz="1015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416050" indent="-128905" algn="l" defTabSz="51498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3225" indent="-128905" algn="l" defTabSz="51498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30400" indent="-128905" algn="l" defTabSz="51498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8210" indent="-128905" algn="l" defTabSz="51498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985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2160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9970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4320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2130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9305" algn="l" defTabSz="514985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13461" y="360000"/>
            <a:ext cx="5786053" cy="48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3461" y="972000"/>
            <a:ext cx="5786053" cy="365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57175" marR="0" lvl="0" indent="-257175" algn="l" defTabSz="514985" rtl="0" eaLnBrk="1" fontAlgn="auto" latinLnBrk="0" hangingPunct="1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title style</a:t>
            </a:r>
            <a:endParaRPr kumimoji="0" lang="zh-CN" altLang="en-US" sz="15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71805" marR="0" lvl="1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Second level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29615" marR="0" lvl="2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62"/>
              </a:buClr>
              <a:buSzTx/>
              <a:buFont typeface="Calibri" panose="020F0502020204030204" pitchFamily="34" charset="0"/>
              <a:buChar char="–"/>
              <a:defRPr/>
            </a:pPr>
            <a:r>
              <a:rPr kumimoji="0" lang="en-US" altLang="zh-CN" sz="11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  <a:endParaRPr kumimoji="0" lang="zh-CN" alt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86790" marR="0" lvl="3" indent="-214630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Calibri" panose="020F0502020204030204" pitchFamily="34" charset="0"/>
              <a:buChar char="»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Forth level</a:t>
            </a: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58240" marR="0" lvl="4" indent="-128905" algn="l" defTabSz="514985" rtl="0" eaLnBrk="1" fontAlgn="auto" latinLnBrk="0" hangingPunct="1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63065F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US" altLang="zh-CN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" y="-2"/>
            <a:ext cx="340598" cy="5148000"/>
          </a:xfrm>
          <a:prstGeom prst="rect">
            <a:avLst/>
          </a:pr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154800"/>
            <a:ext cx="340515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85E0EEDB-9B5D-440F-BD19-32387C535F4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688763" y="4744800"/>
            <a:ext cx="81075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7F15C4C5-76F9-4B83-ABA4-A55D550700EF}" type="datetimeFigureOut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txStyles>
    <p:titleStyle>
      <a:lvl1pPr algn="l" defTabSz="686435" rtl="0" eaLnBrk="1" latinLnBrk="0" hangingPunct="1">
        <a:lnSpc>
          <a:spcPct val="90000"/>
        </a:lnSpc>
        <a:spcBef>
          <a:spcPct val="0"/>
        </a:spcBef>
        <a:buNone/>
        <a:defRPr sz="2100" kern="1200" baseline="0">
          <a:solidFill>
            <a:srgbClr val="63065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marR="0" indent="-257175" algn="l" defTabSz="514985" rtl="0" eaLnBrk="1" fontAlgn="auto" latinLnBrk="0" hangingPunct="1">
        <a:lnSpc>
          <a:spcPct val="90000"/>
        </a:lnSpc>
        <a:spcBef>
          <a:spcPts val="565"/>
        </a:spcBef>
        <a:spcAft>
          <a:spcPts val="0"/>
        </a:spcAft>
        <a:buClr>
          <a:srgbClr val="63065F"/>
        </a:buClr>
        <a:buSzPct val="80000"/>
        <a:buFont typeface="Wingdings" panose="05000000000000000000" pitchFamily="2" charset="2"/>
        <a:buChar char="n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71805" marR="0" indent="-214630" algn="l" defTabSz="514985" rtl="0" eaLnBrk="1" fontAlgn="auto" latinLnBrk="0" hangingPunct="1">
        <a:lnSpc>
          <a:spcPct val="90000"/>
        </a:lnSpc>
        <a:spcBef>
          <a:spcPts val="280"/>
        </a:spcBef>
        <a:spcAft>
          <a:spcPts val="0"/>
        </a:spcAft>
        <a:buClr>
          <a:srgbClr val="63065F"/>
        </a:buClr>
        <a:buSzPct val="8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29615" marR="0" indent="-214630" algn="l" defTabSz="514985" rtl="0" eaLnBrk="1" fontAlgn="auto" latinLnBrk="0" hangingPunct="1">
        <a:lnSpc>
          <a:spcPct val="90000"/>
        </a:lnSpc>
        <a:spcBef>
          <a:spcPts val="280"/>
        </a:spcBef>
        <a:spcAft>
          <a:spcPts val="0"/>
        </a:spcAft>
        <a:buClr>
          <a:srgbClr val="630662"/>
        </a:buClr>
        <a:buSzTx/>
        <a:buFont typeface="Calibri" panose="020F050202020403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86790" marR="0" indent="-214630" algn="l" defTabSz="514985" rtl="0" eaLnBrk="1" fontAlgn="auto" latinLnBrk="0" hangingPunct="1">
        <a:lnSpc>
          <a:spcPct val="90000"/>
        </a:lnSpc>
        <a:spcBef>
          <a:spcPts val="280"/>
        </a:spcBef>
        <a:spcAft>
          <a:spcPts val="0"/>
        </a:spcAft>
        <a:buClr>
          <a:srgbClr val="63065F"/>
        </a:buClr>
        <a:buSzTx/>
        <a:buFont typeface="Calibri" panose="020F0502020204030204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58240" marR="0" indent="-128905" algn="l" defTabSz="514985" rtl="0" eaLnBrk="1" fontAlgn="auto" latinLnBrk="0" hangingPunct="1">
        <a:lnSpc>
          <a:spcPct val="90000"/>
        </a:lnSpc>
        <a:spcBef>
          <a:spcPts val="280"/>
        </a:spcBef>
        <a:spcAft>
          <a:spcPts val="0"/>
        </a:spcAft>
        <a:buClr>
          <a:srgbClr val="63065F"/>
        </a:buClr>
        <a:buSzTx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7855" indent="-171450" algn="l" defTabSz="6864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30755" indent="-171450" algn="l" defTabSz="6864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4290" indent="-171450" algn="l" defTabSz="6864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7190" indent="-171450" algn="l" defTabSz="6864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3535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6435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9970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2870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6405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9305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2840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5740" algn="l" defTabSz="6864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4740" y="1472565"/>
            <a:ext cx="4810760" cy="1151890"/>
          </a:xfrm>
        </p:spPr>
        <p:txBody>
          <a:bodyPr/>
          <a:lstStyle/>
          <a:p>
            <a:r>
              <a:rPr kumimoji="1" lang="zh-CN" altLang="en-US" dirty="0">
                <a:sym typeface="+mn-ea"/>
              </a:rPr>
              <a:t>基于公式的数值推理方法与评测研究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52883" y="2984686"/>
            <a:ext cx="1558585" cy="666000"/>
          </a:xfrm>
        </p:spPr>
        <p:txBody>
          <a:bodyPr>
            <a:normAutofit fontScale="80000" lnSpcReduction="10000"/>
          </a:bodyPr>
          <a:lstStyle/>
          <a:p>
            <a:pPr algn="l"/>
            <a:r>
              <a:rPr kumimoji="1" lang="zh-CN" altLang="en-US" dirty="0"/>
              <a:t>答辩人：</a:t>
            </a:r>
            <a:r>
              <a:rPr kumimoji="1" lang="zh-CN" altLang="en-US" dirty="0"/>
              <a:t>朱博林  </a:t>
            </a:r>
            <a:endParaRPr kumimoji="1" lang="en-US" altLang="zh-CN" dirty="0"/>
          </a:p>
          <a:p>
            <a:pPr algn="l"/>
            <a:r>
              <a:rPr kumimoji="1" lang="zh-CN" altLang="en-US" dirty="0"/>
              <a:t>学号：</a:t>
            </a:r>
            <a:r>
              <a:rPr kumimoji="1" lang="en-US" altLang="zh-CN" dirty="0"/>
              <a:t>522023330123</a:t>
            </a:r>
            <a:endParaRPr kumimoji="1" lang="en-US" altLang="zh-CN" dirty="0"/>
          </a:p>
          <a:p>
            <a:pPr algn="l"/>
            <a:r>
              <a:rPr kumimoji="1" lang="zh-CN" altLang="en-US" dirty="0"/>
              <a:t>导师：</a:t>
            </a:r>
            <a:r>
              <a:rPr kumimoji="1" lang="zh-CN" altLang="en-US" dirty="0"/>
              <a:t>程龚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7451-1419-4202-A27F-AE347845A43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5626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72936" y="360418"/>
            <a:ext cx="1075656" cy="443194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目录</a:t>
            </a:r>
            <a:endParaRPr lang="zh-CN" altLang="en-US" sz="32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405890" y="1127760"/>
            <a:ext cx="4525010" cy="3286125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研究背景</a:t>
            </a:r>
            <a:endParaRPr lang="en-US" altLang="zh-CN" sz="2000" dirty="0"/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相关工作</a:t>
            </a:r>
            <a:endParaRPr lang="en-US" altLang="zh-CN" sz="2000" dirty="0"/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sym typeface="+mn-ea"/>
              </a:rPr>
              <a:t>基于公式的数值推理数据集构建</a:t>
            </a:r>
            <a:endParaRPr lang="zh-CN" altLang="en-US" sz="2000" dirty="0"/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sym typeface="+mn-ea"/>
              </a:rPr>
              <a:t>基于公式的数值推理方法评测</a:t>
            </a:r>
            <a:endParaRPr lang="en-US" altLang="zh-CN" sz="2000" dirty="0"/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sym typeface="+mn-ea"/>
              </a:rPr>
              <a:t>一种基于公式的数值推理方法</a:t>
            </a:r>
            <a:endParaRPr lang="zh-CN" altLang="en-US" sz="2000" dirty="0">
              <a:sym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总结与</a:t>
            </a:r>
            <a:r>
              <a:rPr lang="zh-CN" altLang="en-US" sz="2000" dirty="0"/>
              <a:t>展望</a:t>
            </a:r>
            <a:endParaRPr lang="zh-CN" altLang="en-US" sz="20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6799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1282065"/>
            <a:ext cx="6864985" cy="1292860"/>
          </a:xfrm>
        </p:spPr>
        <p:txBody>
          <a:bodyPr/>
          <a:lstStyle/>
          <a:p>
            <a:pPr algn="ctr"/>
            <a:r>
              <a:rPr lang="zh-CN" altLang="en-US" dirty="0"/>
              <a:t>研究背景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1284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71533" y="849559"/>
            <a:ext cx="5880888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/>
              <a:t>理解文本中的数字信息，并在此基础上进行计算推导的能</a:t>
            </a:r>
            <a:r>
              <a:rPr lang="zh-CN" altLang="en-US" sz="1400" dirty="0"/>
              <a:t>力</a:t>
            </a:r>
            <a:endParaRPr lang="zh-CN" altLang="en-US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>
                <a:sym typeface="+mn-ea"/>
              </a:rPr>
              <a:t>输入：蕴含数值信息的文本问题</a:t>
            </a:r>
            <a:endParaRPr lang="zh-CN" altLang="en-US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/>
              <a:t>输出：带有数值的</a:t>
            </a:r>
            <a:r>
              <a:rPr lang="zh-CN" altLang="en-US" sz="1400" dirty="0"/>
              <a:t>答案</a:t>
            </a:r>
            <a:endParaRPr lang="zh-CN" altLang="en-US" sz="1400" dirty="0"/>
          </a:p>
        </p:txBody>
      </p:sp>
      <p:sp>
        <p:nvSpPr>
          <p:cNvPr id="12" name="标题 11"/>
          <p:cNvSpPr>
            <a:spLocks noGrp="1"/>
          </p:cNvSpPr>
          <p:nvPr/>
        </p:nvSpPr>
        <p:spPr>
          <a:xfrm>
            <a:off x="471924" y="360000"/>
            <a:ext cx="5920502" cy="48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9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baseline="0">
                <a:solidFill>
                  <a:srgbClr val="63065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dirty="0" err="1"/>
              <a:t>数值推理</a:t>
            </a:r>
            <a:endParaRPr lang="zh-CN" altLang="en-US" dirty="0" err="1"/>
          </a:p>
        </p:txBody>
      </p:sp>
      <p:sp>
        <p:nvSpPr>
          <p:cNvPr id="5" name="文本框 4"/>
          <p:cNvSpPr txBox="1"/>
          <p:nvPr/>
        </p:nvSpPr>
        <p:spPr>
          <a:xfrm>
            <a:off x="1181735" y="2177415"/>
            <a:ext cx="50787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珍妮特的鸭子每天产16个蛋。她每天早上吃3个做早餐，还用4个做给朋友们的松饼。她每天把剩下的鸡蛋以每个2美元的价格卖给农贸市场。那么，她每天在农贸市场赚多少钱？</a:t>
            </a:r>
            <a:endParaRPr lang="zh-CN" altLang="en-US" sz="1600"/>
          </a:p>
        </p:txBody>
      </p:sp>
      <p:sp>
        <p:nvSpPr>
          <p:cNvPr id="6" name="圆角矩形 5"/>
          <p:cNvSpPr/>
          <p:nvPr/>
        </p:nvSpPr>
        <p:spPr>
          <a:xfrm>
            <a:off x="520700" y="2131060"/>
            <a:ext cx="5969635" cy="23495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109980" y="2131060"/>
            <a:ext cx="0" cy="235712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81735" y="3422015"/>
            <a:ext cx="507936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珍妮特每天卖</a:t>
            </a:r>
            <a:r>
              <a:rPr lang="en-US" altLang="zh-CN" sz="160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16 - 3 - 4 = &lt;&lt;16-3-4=9&gt;&gt;9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个鸭蛋。 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她每天在农贸市场赚</a:t>
            </a:r>
            <a:r>
              <a:rPr lang="en-US" altLang="zh-CN" sz="160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9 * 2 = $&lt;&lt;9*2=18&gt;&gt;18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 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#### </a:t>
            </a:r>
            <a:r>
              <a:rPr lang="en-US" altLang="zh-CN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18</a:t>
            </a:r>
            <a:endParaRPr lang="en-US" altLang="zh-CN" sz="1600" b="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20700" y="3329305"/>
            <a:ext cx="5969635" cy="0"/>
          </a:xfrm>
          <a:prstGeom prst="line">
            <a:avLst/>
          </a:prstGeom>
          <a:ln cap="sq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20700" y="2656840"/>
            <a:ext cx="7099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输入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520700" y="3594735"/>
            <a:ext cx="7099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输</a:t>
            </a:r>
            <a:r>
              <a:rPr lang="zh-CN" altLang="en-US" sz="1600"/>
              <a:t>出</a:t>
            </a:r>
            <a:endParaRPr lang="zh-CN" altLang="en-US" sz="1600"/>
          </a:p>
        </p:txBody>
      </p:sp>
    </p:spTree>
  </p:cSld>
  <p:clrMapOvr>
    <a:masterClrMapping/>
  </p:clrMapOvr>
  <p:transition advTm="4106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71533" y="849559"/>
            <a:ext cx="5880888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/>
              <a:t>数据集：缺乏领域知识、</a:t>
            </a:r>
            <a:r>
              <a:rPr lang="zh-CN" altLang="en-US" sz="1400" dirty="0"/>
              <a:t>缺乏详细的知识</a:t>
            </a:r>
            <a:r>
              <a:rPr lang="zh-CN" altLang="en-US" sz="1400" dirty="0"/>
              <a:t>标注</a:t>
            </a:r>
            <a:endParaRPr lang="zh-CN" altLang="en-US" sz="1400" dirty="0"/>
          </a:p>
        </p:txBody>
      </p:sp>
      <p:sp>
        <p:nvSpPr>
          <p:cNvPr id="12" name="标题 11"/>
          <p:cNvSpPr>
            <a:spLocks noGrp="1"/>
          </p:cNvSpPr>
          <p:nvPr/>
        </p:nvSpPr>
        <p:spPr>
          <a:xfrm>
            <a:off x="471924" y="360000"/>
            <a:ext cx="5920502" cy="48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9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baseline="0">
                <a:solidFill>
                  <a:srgbClr val="63065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dirty="0" err="1"/>
              <a:t>数据集与</a:t>
            </a:r>
            <a:r>
              <a:rPr lang="zh-CN" altLang="en-US" dirty="0" err="1"/>
              <a:t>方法</a:t>
            </a:r>
            <a:endParaRPr lang="zh-CN" altLang="en-US" dirty="0" err="1"/>
          </a:p>
        </p:txBody>
      </p:sp>
      <p:sp>
        <p:nvSpPr>
          <p:cNvPr id="5" name="文本框 4"/>
          <p:cNvSpPr txBox="1"/>
          <p:nvPr/>
        </p:nvSpPr>
        <p:spPr>
          <a:xfrm>
            <a:off x="1181735" y="1301115"/>
            <a:ext cx="50787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珍妮特每天卖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16 - 3 - 4 = &lt;&lt;16-3-4=9&gt;&gt;9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个鸭蛋。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她每天在农贸市场赚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9 * 2 = $&lt;&lt;9*2=18&gt;&gt;18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#### 18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20700" y="1254760"/>
            <a:ext cx="5969635" cy="1406525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00455" y="1254760"/>
            <a:ext cx="9525" cy="14065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81735" y="2075815"/>
            <a:ext cx="507936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[总量] - [消耗数量] = [剩余数量]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[单价] * [数量] = [总价]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20700" y="2007870"/>
            <a:ext cx="5969635" cy="0"/>
          </a:xfrm>
          <a:prstGeom prst="line">
            <a:avLst/>
          </a:prstGeom>
          <a:ln cap="sq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20700" y="1374775"/>
            <a:ext cx="709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文本标注</a:t>
            </a:r>
            <a:endParaRPr lang="zh-CN" altLang="en-US" sz="1400"/>
          </a:p>
        </p:txBody>
      </p:sp>
      <p:sp>
        <p:nvSpPr>
          <p:cNvPr id="13" name="文本框 12"/>
          <p:cNvSpPr txBox="1"/>
          <p:nvPr/>
        </p:nvSpPr>
        <p:spPr>
          <a:xfrm>
            <a:off x="520700" y="2106930"/>
            <a:ext cx="709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公式知识</a:t>
            </a:r>
            <a:endParaRPr lang="zh-CN" altLang="en-US" sz="1400"/>
          </a:p>
        </p:txBody>
      </p:sp>
      <p:sp>
        <p:nvSpPr>
          <p:cNvPr id="2" name="文本框 1"/>
          <p:cNvSpPr txBox="1"/>
          <p:nvPr/>
        </p:nvSpPr>
        <p:spPr>
          <a:xfrm>
            <a:off x="471533" y="2733604"/>
            <a:ext cx="5880888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/>
              <a:t>大语言模型推理：对模型综合能力要求高，</a:t>
            </a:r>
            <a:r>
              <a:rPr lang="zh-CN" altLang="en-US" sz="1400" dirty="0">
                <a:sym typeface="+mn-ea"/>
              </a:rPr>
              <a:t>缺乏公式知识指导</a:t>
            </a:r>
            <a:endParaRPr lang="zh-CN" altLang="en-US" sz="1400" dirty="0"/>
          </a:p>
        </p:txBody>
      </p:sp>
      <p:sp>
        <p:nvSpPr>
          <p:cNvPr id="14" name="圆角矩形 13"/>
          <p:cNvSpPr/>
          <p:nvPr/>
        </p:nvSpPr>
        <p:spPr>
          <a:xfrm>
            <a:off x="520700" y="3162935"/>
            <a:ext cx="3333115" cy="130175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89685" y="3204210"/>
            <a:ext cx="22250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珍妮特每天卖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16 - 3 - 4 = &lt;&lt;16-3-4=9&gt;&gt;9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个鸭蛋。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她每天在农贸市场赚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9 * 2 = $&lt;&lt;9*2=18&gt;&gt;18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#### 18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 descr="大模型-co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0" y="3283585"/>
            <a:ext cx="338455" cy="338455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2449195" y="3252470"/>
            <a:ext cx="752475" cy="240665"/>
          </a:xfrm>
          <a:prstGeom prst="roundRect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100455" y="3206750"/>
            <a:ext cx="2603500" cy="112204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>
            <a:stCxn id="17" idx="3"/>
          </p:cNvCxnSpPr>
          <p:nvPr/>
        </p:nvCxnSpPr>
        <p:spPr>
          <a:xfrm>
            <a:off x="3201670" y="3373120"/>
            <a:ext cx="1433830" cy="76200"/>
          </a:xfrm>
          <a:prstGeom prst="line">
            <a:avLst/>
          </a:prstGeom>
          <a:ln>
            <a:solidFill>
              <a:srgbClr val="FF434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713480" y="3999865"/>
            <a:ext cx="922020" cy="107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635500" y="3263265"/>
            <a:ext cx="1528445" cy="302260"/>
          </a:xfrm>
          <a:prstGeom prst="rect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代数列</a:t>
            </a:r>
            <a:r>
              <a:rPr lang="zh-CN" altLang="en-US">
                <a:solidFill>
                  <a:srgbClr val="FF0000"/>
                </a:solidFill>
              </a:rPr>
              <a:t>式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35500" y="3911600"/>
            <a:ext cx="152781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文本推理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圆角右箭头 23"/>
          <p:cNvSpPr/>
          <p:nvPr/>
        </p:nvSpPr>
        <p:spPr>
          <a:xfrm rot="10800000" flipH="1">
            <a:off x="736600" y="3712210"/>
            <a:ext cx="309245" cy="395605"/>
          </a:xfrm>
          <a:prstGeom prst="bentArrow">
            <a:avLst>
              <a:gd name="adj1" fmla="val 25000"/>
              <a:gd name="adj2" fmla="val 25045"/>
              <a:gd name="adj3" fmla="val 25000"/>
              <a:gd name="adj4" fmla="val 43750"/>
            </a:avLst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Tm="4106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1282065"/>
            <a:ext cx="6864985" cy="1292860"/>
          </a:xfrm>
        </p:spPr>
        <p:txBody>
          <a:bodyPr/>
          <a:lstStyle/>
          <a:p>
            <a:pPr algn="ctr"/>
            <a:r>
              <a:rPr lang="zh-CN" altLang="en-US" dirty="0"/>
              <a:t>相关工作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1284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88925" y="915035"/>
            <a:ext cx="73215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/>
              <a:t>数据集</a:t>
            </a:r>
            <a:endParaRPr lang="zh-CN" altLang="en-US" sz="1400" dirty="0"/>
          </a:p>
        </p:txBody>
      </p:sp>
      <p:sp>
        <p:nvSpPr>
          <p:cNvPr id="12" name="标题 11"/>
          <p:cNvSpPr>
            <a:spLocks noGrp="1"/>
          </p:cNvSpPr>
          <p:nvPr/>
        </p:nvSpPr>
        <p:spPr>
          <a:xfrm>
            <a:off x="471924" y="360000"/>
            <a:ext cx="5920502" cy="48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9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baseline="0">
                <a:solidFill>
                  <a:srgbClr val="63065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dirty="0" err="1"/>
              <a:t>数据集</a:t>
            </a:r>
            <a:r>
              <a:rPr lang="zh-CN" altLang="en-US" dirty="0" err="1"/>
              <a:t>内容</a:t>
            </a:r>
            <a:endParaRPr lang="zh-CN" altLang="en-US" dirty="0" err="1"/>
          </a:p>
        </p:txBody>
      </p:sp>
      <p:cxnSp>
        <p:nvCxnSpPr>
          <p:cNvPr id="27" name="直接连接符 26"/>
          <p:cNvCxnSpPr/>
          <p:nvPr/>
        </p:nvCxnSpPr>
        <p:spPr>
          <a:xfrm>
            <a:off x="342265" y="1394460"/>
            <a:ext cx="5923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42265" y="3194050"/>
            <a:ext cx="5923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42265" y="3956050"/>
            <a:ext cx="5923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2656840" y="940435"/>
            <a:ext cx="635" cy="3411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4551680" y="940435"/>
            <a:ext cx="635" cy="3411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989330" y="940435"/>
            <a:ext cx="635" cy="3411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284605" y="915035"/>
            <a:ext cx="73215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/>
              <a:t>数据集</a:t>
            </a:r>
            <a:endParaRPr lang="zh-CN" altLang="en-US" sz="1400" dirty="0"/>
          </a:p>
        </p:txBody>
      </p:sp>
      <p:sp>
        <p:nvSpPr>
          <p:cNvPr id="36" name="文本框 35"/>
          <p:cNvSpPr txBox="1"/>
          <p:nvPr/>
        </p:nvSpPr>
        <p:spPr>
          <a:xfrm>
            <a:off x="2938145" y="915035"/>
            <a:ext cx="73215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/>
              <a:t>数据集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5175250" y="915035"/>
            <a:ext cx="73215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dirty="0"/>
              <a:t>数据集</a:t>
            </a:r>
            <a:endParaRPr lang="zh-CN" altLang="en-US" sz="1400" dirty="0"/>
          </a:p>
        </p:txBody>
      </p:sp>
      <p:sp>
        <p:nvSpPr>
          <p:cNvPr id="38" name="文本框 37"/>
          <p:cNvSpPr txBox="1"/>
          <p:nvPr/>
        </p:nvSpPr>
        <p:spPr>
          <a:xfrm>
            <a:off x="349885" y="2123440"/>
            <a:ext cx="623570" cy="509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</a:t>
            </a:r>
            <a:r>
              <a:rPr lang="zh-CN" altLang="en-US"/>
              <a:t>文本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51790" y="3424555"/>
            <a:ext cx="623570" cy="300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标注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349885" y="4036060"/>
            <a:ext cx="623570" cy="300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不足</a:t>
            </a:r>
            <a:endParaRPr lang="zh-CN" altLang="en-US"/>
          </a:p>
        </p:txBody>
      </p:sp>
    </p:spTree>
  </p:cSld>
  <p:clrMapOvr>
    <a:masterClrMapping/>
  </p:clrMapOvr>
  <p:transition advTm="4106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71533" y="849559"/>
            <a:ext cx="5880888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/>
              <a:t>数据集：缺乏领域知识、</a:t>
            </a:r>
            <a:r>
              <a:rPr lang="zh-CN" altLang="en-US" sz="1400" dirty="0"/>
              <a:t>缺乏详细的知识</a:t>
            </a:r>
            <a:r>
              <a:rPr lang="zh-CN" altLang="en-US" sz="1400" dirty="0"/>
              <a:t>标注</a:t>
            </a:r>
            <a:endParaRPr lang="zh-CN" altLang="en-US" sz="1400" dirty="0"/>
          </a:p>
        </p:txBody>
      </p:sp>
      <p:sp>
        <p:nvSpPr>
          <p:cNvPr id="12" name="标题 11"/>
          <p:cNvSpPr>
            <a:spLocks noGrp="1"/>
          </p:cNvSpPr>
          <p:nvPr/>
        </p:nvSpPr>
        <p:spPr>
          <a:xfrm>
            <a:off x="471924" y="360000"/>
            <a:ext cx="5920502" cy="48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9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baseline="0">
                <a:solidFill>
                  <a:srgbClr val="63065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dirty="0" err="1"/>
              <a:t>数据集</a:t>
            </a:r>
            <a:r>
              <a:rPr lang="zh-CN" altLang="en-US" dirty="0" err="1"/>
              <a:t>构建</a:t>
            </a:r>
            <a:endParaRPr lang="zh-CN" altLang="en-US" dirty="0" err="1"/>
          </a:p>
        </p:txBody>
      </p:sp>
      <p:sp>
        <p:nvSpPr>
          <p:cNvPr id="5" name="文本框 4"/>
          <p:cNvSpPr txBox="1"/>
          <p:nvPr/>
        </p:nvSpPr>
        <p:spPr>
          <a:xfrm>
            <a:off x="1181735" y="1301115"/>
            <a:ext cx="50787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珍妮特每天卖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16 - 3 - 4 = &lt;&lt;16-3-4=9&gt;&gt;9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个鸭蛋。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她每天在农贸市场赚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9 * 2 = $&lt;&lt;9*2=18&gt;&gt;18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#### 18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20700" y="1254760"/>
            <a:ext cx="5969635" cy="1406525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00455" y="1254760"/>
            <a:ext cx="9525" cy="14065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81735" y="2075815"/>
            <a:ext cx="507936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[总量] - [消耗数量] = [剩余数量]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[单价] * [数量] = [总价]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20700" y="2007870"/>
            <a:ext cx="5969635" cy="0"/>
          </a:xfrm>
          <a:prstGeom prst="line">
            <a:avLst/>
          </a:prstGeom>
          <a:ln cap="sq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20700" y="1374775"/>
            <a:ext cx="709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文本标注</a:t>
            </a:r>
            <a:endParaRPr lang="zh-CN" altLang="en-US" sz="1400"/>
          </a:p>
        </p:txBody>
      </p:sp>
      <p:sp>
        <p:nvSpPr>
          <p:cNvPr id="13" name="文本框 12"/>
          <p:cNvSpPr txBox="1"/>
          <p:nvPr/>
        </p:nvSpPr>
        <p:spPr>
          <a:xfrm>
            <a:off x="520700" y="2106930"/>
            <a:ext cx="709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公式知识</a:t>
            </a:r>
            <a:endParaRPr lang="zh-CN" altLang="en-US" sz="1400"/>
          </a:p>
        </p:txBody>
      </p:sp>
      <p:sp>
        <p:nvSpPr>
          <p:cNvPr id="2" name="文本框 1"/>
          <p:cNvSpPr txBox="1"/>
          <p:nvPr/>
        </p:nvSpPr>
        <p:spPr>
          <a:xfrm>
            <a:off x="471533" y="2733604"/>
            <a:ext cx="5880888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/>
              <a:t>大语言模型推理：对模型综合能力要求高，</a:t>
            </a:r>
            <a:r>
              <a:rPr lang="zh-CN" altLang="en-US" sz="1400" dirty="0">
                <a:sym typeface="+mn-ea"/>
              </a:rPr>
              <a:t>缺乏公式知识指导</a:t>
            </a:r>
            <a:endParaRPr lang="zh-CN" altLang="en-US" sz="1400" dirty="0"/>
          </a:p>
        </p:txBody>
      </p:sp>
      <p:sp>
        <p:nvSpPr>
          <p:cNvPr id="14" name="圆角矩形 13"/>
          <p:cNvSpPr/>
          <p:nvPr/>
        </p:nvSpPr>
        <p:spPr>
          <a:xfrm>
            <a:off x="520700" y="3162935"/>
            <a:ext cx="3333115" cy="130175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89685" y="3204210"/>
            <a:ext cx="22250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珍妮特每天卖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16 - 3 - 4 = &lt;&lt;16-3-4=9&gt;&gt;9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个鸭蛋。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她每天在农贸市场赚</a:t>
            </a:r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9 * 2 = $&lt;&lt;9*2=18&gt;&gt;18</a:t>
            </a:r>
            <a:r>
              <a:rPr lang="zh-CN" altLang="en-US" sz="1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。 </a:t>
            </a:r>
            <a:endParaRPr lang="zh-CN" altLang="en-US" sz="1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+mn-ea"/>
              </a:rPr>
              <a:t>#### 18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 descr="大模型-co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0" y="3283585"/>
            <a:ext cx="338455" cy="338455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2449195" y="3252470"/>
            <a:ext cx="752475" cy="240665"/>
          </a:xfrm>
          <a:prstGeom prst="roundRect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100455" y="3206750"/>
            <a:ext cx="2603500" cy="112204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>
            <a:stCxn id="17" idx="3"/>
          </p:cNvCxnSpPr>
          <p:nvPr/>
        </p:nvCxnSpPr>
        <p:spPr>
          <a:xfrm>
            <a:off x="3201670" y="3373120"/>
            <a:ext cx="1433830" cy="76200"/>
          </a:xfrm>
          <a:prstGeom prst="line">
            <a:avLst/>
          </a:prstGeom>
          <a:ln>
            <a:solidFill>
              <a:srgbClr val="FF434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713480" y="3999865"/>
            <a:ext cx="922020" cy="107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635500" y="3263265"/>
            <a:ext cx="1528445" cy="302260"/>
          </a:xfrm>
          <a:prstGeom prst="rect">
            <a:avLst/>
          </a:prstGeom>
          <a:noFill/>
          <a:ln>
            <a:solidFill>
              <a:srgbClr val="FF434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代数列</a:t>
            </a:r>
            <a:r>
              <a:rPr lang="zh-CN" altLang="en-US">
                <a:solidFill>
                  <a:srgbClr val="FF0000"/>
                </a:solidFill>
              </a:rPr>
              <a:t>式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35500" y="3911600"/>
            <a:ext cx="152781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文本推理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圆角右箭头 23"/>
          <p:cNvSpPr/>
          <p:nvPr/>
        </p:nvSpPr>
        <p:spPr>
          <a:xfrm rot="10800000" flipH="1">
            <a:off x="736600" y="3712210"/>
            <a:ext cx="309245" cy="395605"/>
          </a:xfrm>
          <a:prstGeom prst="bentArrow">
            <a:avLst>
              <a:gd name="adj1" fmla="val 25000"/>
              <a:gd name="adj2" fmla="val 25045"/>
              <a:gd name="adj3" fmla="val 25000"/>
              <a:gd name="adj4" fmla="val 43750"/>
            </a:avLst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Tm="4106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16359" y="256222"/>
            <a:ext cx="3429000" cy="3816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514985">
              <a:lnSpc>
                <a:spcPct val="90000"/>
              </a:lnSpc>
              <a:buClrTx/>
              <a:buSzTx/>
              <a:buFontTx/>
            </a:pPr>
            <a:r>
              <a:rPr lang="zh-CN" altLang="en-US" sz="2100" dirty="0">
                <a:solidFill>
                  <a:srgbClr val="63065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研究工作</a:t>
            </a:r>
            <a:endParaRPr lang="zh-CN" altLang="en-US" sz="2100" dirty="0">
              <a:solidFill>
                <a:srgbClr val="63065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7845" y="826770"/>
            <a:ext cx="5330190" cy="1554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推理加速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自回归范式：</a:t>
            </a:r>
            <a:r>
              <a:rPr lang="en-US" altLang="zh-CN" dirty="0"/>
              <a:t>token by token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文本长度长：注意力机制复杂度高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信息噪声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735" y="595630"/>
            <a:ext cx="2369820" cy="20167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" y="3268345"/>
            <a:ext cx="6124575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51155" y="616585"/>
            <a:ext cx="5965825" cy="1658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/>
              <a:t>常见技术路线</a:t>
            </a:r>
            <a:r>
              <a:rPr lang="en-US" altLang="zh-CN"/>
              <a:t>-Medusa</a:t>
            </a:r>
            <a:r>
              <a:rPr lang="zh-CN" altLang="en-US"/>
              <a:t>框架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多个解码头：每个解码头负责预测下一个或后续若干个</a:t>
            </a:r>
            <a:r>
              <a:rPr lang="en-US" altLang="zh-CN" dirty="0">
                <a:sym typeface="+mn-ea"/>
              </a:rPr>
              <a:t> Token</a:t>
            </a:r>
            <a:endParaRPr lang="en-US" altLang="zh-CN" dirty="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树型注意力：关注各自前驱</a:t>
            </a:r>
            <a:endParaRPr lang="en-US" altLang="zh-CN" dirty="0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72690"/>
            <a:ext cx="3281045" cy="22872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75" y="2680335"/>
            <a:ext cx="3288665" cy="2028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32435" y="415290"/>
            <a:ext cx="6909435" cy="2599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dirty="0"/>
              <a:t>常见技术路线</a:t>
            </a:r>
            <a:r>
              <a:rPr lang="en-US" altLang="zh-CN" dirty="0"/>
              <a:t>-</a:t>
            </a:r>
            <a:r>
              <a:rPr lang="zh-CN" altLang="en-US" dirty="0"/>
              <a:t>投机解码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草稿模型生成候选</a:t>
            </a:r>
            <a:r>
              <a:rPr lang="en-US" altLang="zh-CN" dirty="0">
                <a:sym typeface="+mn-ea"/>
              </a:rPr>
              <a:t>token</a:t>
            </a:r>
            <a:r>
              <a:rPr lang="zh-CN" altLang="en-US" dirty="0">
                <a:sym typeface="+mn-ea"/>
              </a:rPr>
              <a:t>，大模型验证</a:t>
            </a:r>
            <a:endParaRPr lang="zh-CN" altLang="en-US" dirty="0"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缺点：高度依赖草稿模型、难以集成</a:t>
            </a:r>
            <a:endParaRPr lang="zh-CN" altLang="en-US" dirty="0"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sym typeface="+mn-ea"/>
            </a:endParaRPr>
          </a:p>
          <a:p>
            <a:pPr marL="0" lvl="1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ym typeface="+mn-ea"/>
              </a:rPr>
              <a:t>优化局限性：现有方法聚焦步骤数压缩，但未解决自注意力机制的高计算</a:t>
            </a:r>
            <a:endParaRPr lang="zh-CN" altLang="en-US">
              <a:sym typeface="+mn-ea"/>
            </a:endParaRPr>
          </a:p>
          <a:p>
            <a:pPr marL="0" lvl="1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复杂度问题（单步耗时未减少）</a:t>
            </a: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775"/>
          <a:stretch>
            <a:fillRect/>
          </a:stretch>
        </p:blipFill>
        <p:spPr>
          <a:xfrm>
            <a:off x="86995" y="2670810"/>
            <a:ext cx="6689725" cy="2113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1282065"/>
            <a:ext cx="6864985" cy="1292860"/>
          </a:xfrm>
        </p:spPr>
        <p:txBody>
          <a:bodyPr/>
          <a:lstStyle/>
          <a:p>
            <a:pPr algn="ctr"/>
            <a:r>
              <a:rPr lang="zh-CN" altLang="en-US" dirty="0">
                <a:sym typeface="+mn-ea"/>
              </a:rPr>
              <a:t>基于公式的数值推理数据集构建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1284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723" y="195666"/>
            <a:ext cx="5920502" cy="489600"/>
          </a:xfrm>
        </p:spPr>
        <p:txBody>
          <a:bodyPr/>
          <a:lstStyle/>
          <a:p>
            <a:r>
              <a:rPr lang="zh-CN" altLang="en-US" dirty="0"/>
              <a:t>自适应解码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52913" y="685135"/>
            <a:ext cx="3430954" cy="1136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629285" lvl="1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高频词</a:t>
            </a:r>
            <a:r>
              <a:rPr lang="en-US" altLang="zh-CN" dirty="0"/>
              <a:t>-</a:t>
            </a:r>
            <a:r>
              <a:rPr lang="zh-CN" altLang="en-US" dirty="0"/>
              <a:t>切换草稿模型快速生成</a:t>
            </a:r>
            <a:endParaRPr lang="en-US" altLang="zh-CN" dirty="0"/>
          </a:p>
          <a:p>
            <a:pPr marL="629285" lvl="1" indent="-285750"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 marL="629285" lvl="1" indent="-285750"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 marL="629285" lvl="1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更低的注意力机制复杂度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40" y="2028825"/>
            <a:ext cx="4650105" cy="2759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723" y="217774"/>
            <a:ext cx="5920502" cy="489600"/>
          </a:xfrm>
        </p:spPr>
        <p:txBody>
          <a:bodyPr/>
          <a:lstStyle/>
          <a:p>
            <a:r>
              <a:rPr lang="zh-CN" altLang="en-US" dirty="0"/>
              <a:t>解码器概览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061335" y="707390"/>
            <a:ext cx="5509260" cy="134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>
                <a:sym typeface="+mn-ea"/>
              </a:rPr>
              <a:t>多头机制</a:t>
            </a:r>
            <a:endParaRPr lang="zh-CN" altLang="en-US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普通生成头：基于预训练</a:t>
            </a:r>
            <a:r>
              <a:rPr lang="zh-CN" altLang="en-US" dirty="0"/>
              <a:t>语言模型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共享循环</a:t>
            </a:r>
            <a:r>
              <a:rPr lang="zh-CN" altLang="en-US" dirty="0">
                <a:sym typeface="+mn-ea"/>
              </a:rPr>
              <a:t>头：解码器基于循环</a:t>
            </a:r>
            <a:r>
              <a:rPr lang="zh-CN" altLang="en-US" dirty="0">
                <a:sym typeface="+mn-ea"/>
              </a:rPr>
              <a:t>神经网络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40" y="1860550"/>
            <a:ext cx="4544060" cy="28797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85" y="1389918"/>
            <a:ext cx="1844200" cy="5791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52938" y="707360"/>
            <a:ext cx="3430954" cy="30085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dirty="0"/>
              <a:t>时间嵌入与循环解码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70" y="1069340"/>
            <a:ext cx="2652395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5554" y="271735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实验设置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4056" y="685769"/>
            <a:ext cx="4446204" cy="404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数据集信息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56" y="1020889"/>
            <a:ext cx="5974598" cy="152413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4056" y="2438513"/>
            <a:ext cx="4446204" cy="36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模型配置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942392" y="2872692"/>
            <a:ext cx="3433664" cy="300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Llama-3.2-1B</a:t>
            </a:r>
            <a:r>
              <a:rPr lang="zh-CN" altLang="en-US" dirty="0"/>
              <a:t>、 </a:t>
            </a:r>
            <a:r>
              <a:rPr lang="en-US" altLang="zh-CN" dirty="0"/>
              <a:t>Qwen-2.5-0.5B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24056" y="3220197"/>
            <a:ext cx="4446204" cy="1345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评价指标</a:t>
            </a:r>
            <a:endParaRPr lang="en-US" altLang="zh-CN" dirty="0"/>
          </a:p>
          <a:p>
            <a:pPr marL="62928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问答 精确匹配</a:t>
            </a:r>
            <a:r>
              <a:rPr lang="en-US" altLang="zh-CN" dirty="0"/>
              <a:t>F1 </a:t>
            </a:r>
            <a:r>
              <a:rPr lang="zh-CN" altLang="en-US" dirty="0"/>
              <a:t>（</a:t>
            </a:r>
            <a:r>
              <a:rPr lang="en-US" altLang="zh-CN" dirty="0"/>
              <a:t>EM</a:t>
            </a:r>
            <a:r>
              <a:rPr lang="zh-CN" altLang="en-US" dirty="0"/>
              <a:t>）、部分匹配</a:t>
            </a:r>
            <a:r>
              <a:rPr lang="en-US" altLang="zh-CN" dirty="0"/>
              <a:t>F1</a:t>
            </a:r>
            <a:r>
              <a:rPr lang="zh-CN" altLang="en-US" dirty="0"/>
              <a:t> （</a:t>
            </a:r>
            <a:r>
              <a:rPr lang="en-US" altLang="zh-CN" dirty="0"/>
              <a:t>PM</a:t>
            </a:r>
            <a:r>
              <a:rPr lang="zh-CN" altLang="en-US" dirty="0"/>
              <a:t>）</a:t>
            </a:r>
            <a:endParaRPr lang="en-US" altLang="zh-CN" dirty="0"/>
          </a:p>
          <a:p>
            <a:pPr marL="62928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关键词 </a:t>
            </a:r>
            <a:r>
              <a:rPr lang="en-US" altLang="zh-CN" dirty="0"/>
              <a:t>F1@5 </a:t>
            </a:r>
            <a:r>
              <a:rPr lang="zh-CN" altLang="en-US" dirty="0"/>
              <a:t>、 </a:t>
            </a:r>
            <a:r>
              <a:rPr lang="en-US" altLang="zh-CN" dirty="0"/>
              <a:t>F1@M </a:t>
            </a:r>
            <a:endParaRPr lang="en-US" altLang="zh-CN" dirty="0"/>
          </a:p>
          <a:p>
            <a:pPr marL="62928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摘要 </a:t>
            </a:r>
            <a:r>
              <a:rPr lang="en-US" altLang="zh-CN" dirty="0"/>
              <a:t> Rouge-1</a:t>
            </a:r>
            <a:r>
              <a:rPr lang="zh-CN" altLang="en-US" dirty="0"/>
              <a:t>、</a:t>
            </a:r>
            <a:r>
              <a:rPr lang="en-US" altLang="zh-CN" dirty="0"/>
              <a:t>Rouge-2 </a:t>
            </a:r>
            <a:r>
              <a:rPr lang="zh-CN" altLang="en-US" dirty="0"/>
              <a:t>和 </a:t>
            </a:r>
            <a:r>
              <a:rPr lang="en-US" altLang="zh-CN" dirty="0"/>
              <a:t>Rouge-L 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925" y="89112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短语级结果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4205" y="578485"/>
            <a:ext cx="5303520" cy="404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MSQA</a:t>
            </a:r>
            <a:r>
              <a:rPr lang="zh-CN" altLang="en-US" dirty="0"/>
              <a:t>上的效果：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项质量指标领先，解码速度</a:t>
            </a:r>
            <a:r>
              <a:rPr lang="zh-CN" altLang="en-US" dirty="0">
                <a:sym typeface="+mn-ea"/>
              </a:rPr>
              <a:t>提升</a:t>
            </a:r>
            <a:endParaRPr lang="zh-CN" altLang="en-US" dirty="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4205" y="2064385"/>
            <a:ext cx="5531485" cy="404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关键词生成的效果：</a:t>
            </a:r>
            <a:r>
              <a:rPr lang="zh-CN" altLang="en-US" dirty="0">
                <a:sym typeface="+mn-ea"/>
              </a:rPr>
              <a:t>缺失关键词指标提升达 </a:t>
            </a:r>
            <a:r>
              <a:rPr lang="en-US" altLang="zh-CN" dirty="0">
                <a:sym typeface="+mn-ea"/>
              </a:rPr>
              <a:t>15 </a:t>
            </a:r>
            <a:r>
              <a:rPr lang="zh-CN" altLang="en-US" dirty="0">
                <a:sym typeface="+mn-ea"/>
              </a:rPr>
              <a:t>个百分点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89" y="980978"/>
            <a:ext cx="4988536" cy="11354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" y="2400935"/>
            <a:ext cx="4897755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925" y="89112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句子级结果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4205" y="578485"/>
            <a:ext cx="5103495" cy="1345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摘要任务的效果</a:t>
            </a:r>
            <a:endParaRPr lang="zh-CN" alt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针对不同场景特性实现了 </a:t>
            </a:r>
            <a:r>
              <a:rPr lang="en-US" altLang="zh-CN" dirty="0">
                <a:sym typeface="+mn-ea"/>
              </a:rPr>
              <a:t>6-10%</a:t>
            </a:r>
            <a:r>
              <a:rPr lang="zh-CN" altLang="en-US" dirty="0">
                <a:sym typeface="+mn-ea"/>
              </a:rPr>
              <a:t>的吞吐量提升</a:t>
            </a:r>
            <a:endParaRPr lang="zh-CN" altLang="en-US" dirty="0"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模型参数量提升，</a:t>
            </a:r>
            <a:r>
              <a:rPr lang="zh-CN" altLang="en-US" dirty="0">
                <a:sym typeface="+mn-ea"/>
              </a:rPr>
              <a:t>带来更高的端到端加速增益</a:t>
            </a:r>
            <a:endParaRPr lang="zh-CN" altLang="en-US" dirty="0">
              <a:sym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1" y="1796475"/>
            <a:ext cx="6209826" cy="29438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1282065"/>
            <a:ext cx="6864985" cy="1292860"/>
          </a:xfrm>
        </p:spPr>
        <p:txBody>
          <a:bodyPr/>
          <a:lstStyle/>
          <a:p>
            <a:pPr algn="ctr"/>
            <a:r>
              <a:rPr lang="zh-CN" altLang="en-US" dirty="0">
                <a:sym typeface="+mn-ea"/>
              </a:rPr>
              <a:t>基于公式的</a:t>
            </a:r>
            <a:r>
              <a:rPr lang="zh-CN" altLang="en-US" dirty="0">
                <a:sym typeface="+mn-ea"/>
              </a:rPr>
              <a:t>数值推理方法评测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1284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898" y="29277"/>
            <a:ext cx="5920502" cy="489600"/>
          </a:xfrm>
        </p:spPr>
        <p:txBody>
          <a:bodyPr/>
          <a:lstStyle/>
          <a:p>
            <a:r>
              <a:rPr lang="zh-CN" altLang="en-US" dirty="0"/>
              <a:t>流水线解码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6543" y="299191"/>
            <a:ext cx="6517522" cy="2390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pPr marL="629285" lvl="1" indent="-285750"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关键</a:t>
            </a:r>
            <a:r>
              <a:rPr lang="en-US" altLang="zh-CN" dirty="0">
                <a:solidFill>
                  <a:schemeClr val="tx1"/>
                </a:solidFill>
              </a:rPr>
              <a:t>t</a:t>
            </a:r>
            <a:r>
              <a:rPr lang="en-US" altLang="zh-CN" dirty="0">
                <a:solidFill>
                  <a:schemeClr val="tx1"/>
                </a:solidFill>
              </a:rPr>
              <a:t>oken</a:t>
            </a:r>
            <a:r>
              <a:rPr lang="zh-CN" altLang="en-US" dirty="0">
                <a:solidFill>
                  <a:schemeClr val="tx1"/>
                </a:solidFill>
              </a:rPr>
              <a:t>驱动生成</a:t>
            </a:r>
            <a:endParaRPr lang="zh-CN" altLang="en-US" dirty="0">
              <a:solidFill>
                <a:schemeClr val="tx1"/>
              </a:solidFill>
            </a:endParaRPr>
          </a:p>
          <a:p>
            <a:pPr marL="629285" lvl="1" indent="-285750">
              <a:buFont typeface="Wingdings" panose="05000000000000000000" charset="0"/>
              <a:buChar char="n"/>
            </a:pPr>
            <a:endParaRPr lang="en-US" altLang="zh-CN" dirty="0">
              <a:solidFill>
                <a:schemeClr val="tx1"/>
              </a:solidFill>
            </a:endParaRPr>
          </a:p>
          <a:p>
            <a:pPr lvl="2">
              <a:lnSpc>
                <a:spcPts val="2145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zh-CN" sz="1355" b="0" i="0" dirty="0">
                <a:solidFill>
                  <a:schemeClr val="tx1"/>
                </a:solidFill>
              </a:rPr>
              <a:t>     </a:t>
            </a:r>
            <a:r>
              <a:rPr lang="zh-CN" altLang="en-US" sz="1355" b="0" i="0" dirty="0">
                <a:solidFill>
                  <a:schemeClr val="tx1"/>
                </a:solidFill>
              </a:rPr>
              <a:t>首</a:t>
            </a:r>
            <a:r>
              <a:rPr lang="en-US" altLang="zh-CN" sz="1355" b="0" i="0" dirty="0">
                <a:solidFill>
                  <a:schemeClr val="tx1"/>
                </a:solidFill>
              </a:rPr>
              <a:t>t</a:t>
            </a:r>
            <a:r>
              <a:rPr lang="zh-CN" altLang="en-US" sz="1355" b="0" i="0" dirty="0">
                <a:solidFill>
                  <a:schemeClr val="tx1"/>
                </a:solidFill>
              </a:rPr>
              <a:t>oken主导性，依赖前序子序列的前序</a:t>
            </a:r>
            <a:r>
              <a:rPr lang="en-US" altLang="zh-CN" sz="1355" b="0" i="0" dirty="0">
                <a:solidFill>
                  <a:schemeClr val="tx1"/>
                </a:solidFill>
              </a:rPr>
              <a:t>t</a:t>
            </a:r>
            <a:r>
              <a:rPr lang="zh-CN" altLang="en-US" sz="1355" b="0" i="0" dirty="0">
                <a:solidFill>
                  <a:schemeClr val="tx1"/>
                </a:solidFill>
              </a:rPr>
              <a:t>oken启动新序列</a:t>
            </a:r>
            <a:endParaRPr lang="zh-CN" altLang="en-US" sz="1355" b="0" i="0" dirty="0">
              <a:solidFill>
                <a:schemeClr val="tx1"/>
              </a:solidFill>
            </a:endParaRPr>
          </a:p>
          <a:p>
            <a:pPr lvl="2">
              <a:lnSpc>
                <a:spcPts val="2145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</a:endParaRPr>
          </a:p>
          <a:p>
            <a:pPr marL="629285" lvl="1" indent="-285750">
              <a:buFont typeface="Wingdings" panose="05000000000000000000" charset="0"/>
              <a:buChar char="n"/>
            </a:pPr>
            <a:r>
              <a:rPr lang="zh-CN" altLang="en-US" i="0" dirty="0">
                <a:solidFill>
                  <a:schemeClr val="tx1"/>
                </a:solidFill>
              </a:rPr>
              <a:t>应用价值</a:t>
            </a:r>
            <a:endParaRPr lang="zh-CN" altLang="en-US" i="0" dirty="0">
              <a:solidFill>
                <a:schemeClr val="tx1"/>
              </a:solidFill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i="0" dirty="0">
              <a:solidFill>
                <a:schemeClr val="tx1"/>
              </a:solidFill>
            </a:endParaRPr>
          </a:p>
          <a:p>
            <a:pPr marL="973455" lvl="2" indent="-285750">
              <a:buFont typeface="Arial" panose="020B0604020202020204" pitchFamily="34" charset="0"/>
              <a:buChar char="•"/>
            </a:pPr>
            <a:r>
              <a:rPr lang="zh-CN" altLang="en-US" i="0" dirty="0">
                <a:solidFill>
                  <a:schemeClr val="tx1"/>
                </a:solidFill>
              </a:rPr>
              <a:t>固定延迟高效生成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en-US" b="0" i="0" dirty="0">
                <a:solidFill>
                  <a:schemeClr val="tx1"/>
                </a:solidFill>
              </a:rPr>
              <a:t>适合长文本、多任务场景加速</a:t>
            </a:r>
            <a:endParaRPr lang="zh-CN" altLang="en-US" b="0" i="0" dirty="0">
              <a:solidFill>
                <a:schemeClr val="tx1"/>
              </a:solidFill>
            </a:endParaRPr>
          </a:p>
          <a:p>
            <a:pPr marL="629285" lvl="1" indent="-285750">
              <a:buFont typeface="Wingdings" panose="05000000000000000000" charset="0"/>
              <a:buChar char="n"/>
            </a:pPr>
            <a:endParaRPr lang="zh-CN" altLang="en-US" i="0" dirty="0"/>
          </a:p>
          <a:p>
            <a:pPr marL="629285" lvl="1" indent="-285750">
              <a:buFont typeface="Wingdings" panose="05000000000000000000" charset="0"/>
              <a:buChar char="n"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2364740"/>
            <a:ext cx="5076825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2571"/>
            <a:ext cx="5920502" cy="489600"/>
          </a:xfrm>
        </p:spPr>
        <p:txBody>
          <a:bodyPr/>
          <a:lstStyle/>
          <a:p>
            <a:r>
              <a:rPr lang="zh-CN" altLang="en-US" dirty="0"/>
              <a:t>流水线解码描述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37554" y="277371"/>
            <a:ext cx="6726796" cy="378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pPr marL="629285" lvl="1" indent="-285750"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序列生成目标</a:t>
            </a:r>
            <a:endParaRPr lang="zh-CN" altLang="en-US" dirty="0">
              <a:solidFill>
                <a:schemeClr val="tx1"/>
              </a:solidFill>
            </a:endParaRPr>
          </a:p>
          <a:p>
            <a:pPr marL="629285" lvl="1" indent="-285750">
              <a:buFont typeface="Wingdings" panose="05000000000000000000" charset="0"/>
              <a:buChar char="n"/>
            </a:pPr>
            <a:endParaRPr lang="zh-CN" altLang="en-US" dirty="0">
              <a:solidFill>
                <a:schemeClr val="tx1"/>
              </a:solidFill>
            </a:endParaRPr>
          </a:p>
          <a:p>
            <a:pPr marL="973455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输入序列：𝑄</a:t>
            </a:r>
            <a:r>
              <a:rPr lang="en-US" altLang="zh-CN" dirty="0">
                <a:solidFill>
                  <a:schemeClr val="tx1"/>
                </a:solidFill>
              </a:rPr>
              <a:t>+ </a:t>
            </a:r>
            <a:r>
              <a:rPr lang="zh-CN" altLang="en-US" dirty="0">
                <a:solidFill>
                  <a:schemeClr val="tx1"/>
                </a:solidFill>
              </a:rPr>
              <a:t>𝐶</a:t>
            </a:r>
            <a:r>
              <a:rPr lang="en-US" altLang="zh-CN" dirty="0">
                <a:solidFill>
                  <a:schemeClr val="tx1"/>
                </a:solidFill>
              </a:rPr>
              <a:t>= X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~</a:t>
            </a: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l</a:t>
            </a:r>
            <a:endParaRPr lang="zh-CN" altLang="en-US" baseline="-25000" dirty="0">
              <a:solidFill>
                <a:schemeClr val="tx1"/>
              </a:solidFill>
            </a:endParaRPr>
          </a:p>
          <a:p>
            <a:pPr marL="973455" lvl="2" indent="-285750">
              <a:buFont typeface="Arial" panose="020B0604020202020204" pitchFamily="34" charset="0"/>
              <a:buChar char="•"/>
            </a:pPr>
            <a:endParaRPr lang="zh-CN" altLang="en-US" baseline="-25000" dirty="0">
              <a:solidFill>
                <a:schemeClr val="tx1"/>
              </a:solidFill>
            </a:endParaRPr>
          </a:p>
          <a:p>
            <a:pPr marL="973455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输出结构：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个带分隔符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altLang="zh-CN" dirty="0" err="1">
                <a:solidFill>
                  <a:schemeClr val="tx1"/>
                </a:solidFill>
              </a:rPr>
              <a:t>sep&gt;</a:t>
            </a:r>
            <a:r>
              <a:rPr lang="zh-CN" altLang="en-US" dirty="0">
                <a:solidFill>
                  <a:schemeClr val="tx1"/>
                </a:solidFill>
              </a:rPr>
              <a:t>的子序列（</a:t>
            </a:r>
            <a:r>
              <a:rPr lang="en-US" altLang="zh-CN" dirty="0">
                <a:solidFill>
                  <a:schemeClr val="tx1"/>
                </a:solidFill>
              </a:rPr>
              <a:t>Y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~Y</a:t>
            </a:r>
            <a:r>
              <a:rPr lang="en-US" altLang="zh-CN" baseline="-25000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lvl="2"/>
            <a:endParaRPr lang="en-US" altLang="zh-CN" dirty="0">
              <a:solidFill>
                <a:schemeClr val="tx1"/>
              </a:solidFill>
            </a:endParaRPr>
          </a:p>
          <a:p>
            <a:pPr marL="0" lvl="1" indent="-285750">
              <a:buFont typeface="Wingdings" panose="05000000000000000000" charset="0"/>
              <a:buChar char="n"/>
            </a:pPr>
            <a:endParaRPr lang="en-US" altLang="zh-CN" b="0" i="0" dirty="0">
              <a:solidFill>
                <a:schemeClr val="tx1"/>
              </a:solidFill>
            </a:endParaRPr>
          </a:p>
          <a:p>
            <a:pPr marL="629285" lvl="1" indent="-285750" algn="l">
              <a:buClrTx/>
              <a:buSzTx/>
              <a:buFont typeface="Wingdings" panose="05000000000000000000" charset="0"/>
              <a:buChar char="n"/>
            </a:pPr>
            <a:r>
              <a:rPr lang="zh-CN" altLang="en-US" b="0" i="0" dirty="0">
                <a:solidFill>
                  <a:schemeClr val="tx1"/>
                </a:solidFill>
              </a:rPr>
              <a:t>传统逐步解码：6步</a:t>
            </a:r>
            <a:endParaRPr lang="zh-CN" altLang="en-US" b="0" i="0" dirty="0">
              <a:solidFill>
                <a:schemeClr val="tx1"/>
              </a:solidFill>
            </a:endParaRPr>
          </a:p>
          <a:p>
            <a:pPr marL="629285" lvl="1" indent="-285750" algn="l">
              <a:buClrTx/>
              <a:buSzTx/>
              <a:buFont typeface="Wingdings" panose="05000000000000000000" charset="0"/>
              <a:buChar char="n"/>
            </a:pPr>
            <a:endParaRPr lang="zh-CN" altLang="en-US" b="0" i="0" dirty="0">
              <a:solidFill>
                <a:schemeClr val="tx1"/>
              </a:solidFill>
            </a:endParaRPr>
          </a:p>
          <a:p>
            <a:pPr marL="629285" lvl="1" indent="-285750" algn="l">
              <a:buClrTx/>
              <a:buSzTx/>
              <a:buFont typeface="Wingdings" panose="05000000000000000000" charset="0"/>
              <a:buChar char="n"/>
            </a:pPr>
            <a:r>
              <a:rPr lang="zh-CN" altLang="en-US" b="0" i="0" dirty="0">
                <a:solidFill>
                  <a:schemeClr val="tx1"/>
                </a:solidFill>
              </a:rPr>
              <a:t> 流水线解码：4步（加速50%）</a:t>
            </a:r>
            <a:endParaRPr lang="zh-CN" altLang="en-US" b="0" i="0" dirty="0">
              <a:solidFill>
                <a:schemeClr val="tx1"/>
              </a:solidFill>
            </a:endParaRPr>
          </a:p>
          <a:p>
            <a:pPr marL="629285" lvl="1" indent="-285750">
              <a:buFont typeface="Wingdings" panose="05000000000000000000" charset="0"/>
              <a:buChar char="n"/>
            </a:pPr>
            <a:endParaRPr lang="en-US" altLang="zh-CN" b="0" i="0" dirty="0">
              <a:solidFill>
                <a:schemeClr val="tx1"/>
              </a:solidFill>
            </a:endParaRPr>
          </a:p>
          <a:p>
            <a:pPr marL="973455" lvl="2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chemeClr val="tx1"/>
                </a:solidFill>
              </a:rPr>
              <a:t>子系列启动</a:t>
            </a:r>
            <a:endParaRPr lang="zh-CN" altLang="en-US" b="0" i="0" dirty="0">
              <a:solidFill>
                <a:schemeClr val="tx1"/>
              </a:solidFill>
            </a:endParaRPr>
          </a:p>
          <a:p>
            <a:pPr marL="629285" lvl="1" indent="-285750">
              <a:buFont typeface="Wingdings" panose="05000000000000000000" charset="0"/>
              <a:buChar char="n"/>
            </a:pPr>
            <a:endParaRPr lang="en-US" altLang="zh-CN" b="0" i="0" dirty="0">
              <a:solidFill>
                <a:schemeClr val="tx1"/>
              </a:solidFill>
            </a:endParaRPr>
          </a:p>
          <a:p>
            <a:pPr marL="629285" lvl="1" indent="-285750">
              <a:buFont typeface="Wingdings" panose="05000000000000000000" charset="0"/>
              <a:buChar char="n"/>
            </a:pPr>
            <a:endParaRPr lang="zh-CN" altLang="en-US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497" b="4300"/>
          <a:stretch>
            <a:fillRect/>
          </a:stretch>
        </p:blipFill>
        <p:spPr>
          <a:xfrm>
            <a:off x="3510915" y="2068830"/>
            <a:ext cx="3307715" cy="26847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6" b="11364"/>
          <a:stretch>
            <a:fillRect/>
          </a:stretch>
        </p:blipFill>
        <p:spPr>
          <a:xfrm>
            <a:off x="1047750" y="1634490"/>
            <a:ext cx="2834640" cy="53848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25" y="3325691"/>
            <a:ext cx="1867062" cy="762066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871571" y="4087455"/>
            <a:ext cx="6104708" cy="3663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 algn="l">
              <a:lnSpc>
                <a:spcPts val="2145"/>
              </a:lnSpc>
              <a:spcBef>
                <a:spcPts val="103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并行生成</a:t>
            </a:r>
            <a:endParaRPr lang="zh-CN" altLang="en-US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3" t="26205" r="19218" b="15451"/>
          <a:stretch>
            <a:fillRect/>
          </a:stretch>
        </p:blipFill>
        <p:spPr>
          <a:xfrm>
            <a:off x="1196975" y="4453890"/>
            <a:ext cx="2021205" cy="299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9277"/>
            <a:ext cx="5920502" cy="489600"/>
          </a:xfrm>
        </p:spPr>
        <p:txBody>
          <a:bodyPr/>
          <a:lstStyle/>
          <a:p>
            <a:r>
              <a:rPr lang="zh-CN" altLang="en-US" dirty="0"/>
              <a:t>模型训练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75860" y="518877"/>
            <a:ext cx="6466115" cy="81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370"/>
              </a:spcBef>
              <a:spcAft>
                <a:spcPts val="1030"/>
              </a:spcAft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i="0" dirty="0">
                <a:solidFill>
                  <a:srgbClr val="404040"/>
                </a:solidFill>
                <a:effectLst/>
                <a:latin typeface="+mn-ea"/>
                <a:cs typeface="+mn-ea"/>
              </a:rPr>
              <a:t>完整训练目标结构：包含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+mn-ea"/>
                <a:cs typeface="+mn-ea"/>
              </a:rPr>
              <a:t>n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+mn-ea"/>
                <a:cs typeface="+mn-ea"/>
              </a:rPr>
              <a:t>+1个子序列（原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+mn-ea"/>
                <a:cs typeface="+mn-ea"/>
              </a:rPr>
              <a:t>n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+mn-ea"/>
                <a:cs typeface="+mn-ea"/>
              </a:rPr>
              <a:t>个子序列 + 终止空序列）</a:t>
            </a:r>
            <a:endParaRPr lang="zh-CN" altLang="en-US" i="0" dirty="0">
              <a:solidFill>
                <a:srgbClr val="404040"/>
              </a:solidFill>
              <a:effectLst/>
              <a:latin typeface="+mn-ea"/>
              <a:cs typeface="+mn-ea"/>
            </a:endParaRPr>
          </a:p>
          <a:p>
            <a:pPr marL="285750" indent="-285750" algn="l">
              <a:spcBef>
                <a:spcPts val="1370"/>
              </a:spcBef>
              <a:spcAft>
                <a:spcPts val="1030"/>
              </a:spcAft>
              <a:buClrTx/>
              <a:buSzTx/>
              <a:buFont typeface="Wingdings" panose="05000000000000000000" pitchFamily="2" charset="2"/>
              <a:buChar char="n"/>
            </a:pPr>
            <a:endParaRPr lang="zh-CN" altLang="en-US" i="0" dirty="0">
              <a:solidFill>
                <a:srgbClr val="404040"/>
              </a:solidFill>
              <a:effectLst/>
              <a:latin typeface="+mn-ea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996" y="763145"/>
            <a:ext cx="2164268" cy="61727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75860" y="984579"/>
            <a:ext cx="3508310" cy="817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n"/>
            </a:pPr>
            <a:endParaRPr lang="en-US" altLang="zh-CN" b="1" dirty="0">
              <a:solidFill>
                <a:srgbClr val="404040"/>
              </a:solidFill>
              <a:latin typeface="DeepSeek-CJK-patch"/>
            </a:endParaRPr>
          </a:p>
          <a:p>
            <a:pPr marL="285750" indent="-285750" algn="l">
              <a:spcBef>
                <a:spcPts val="1370"/>
              </a:spcBef>
              <a:spcAft>
                <a:spcPts val="1030"/>
              </a:spcAft>
              <a:buFont typeface="Wingdings" panose="05000000000000000000" pitchFamily="2" charset="2"/>
              <a:buChar char="n"/>
            </a:pP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损失函数定义</a:t>
            </a:r>
            <a:endParaRPr lang="zh-CN" altLang="en-US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57" y="2105359"/>
            <a:ext cx="2453853" cy="6020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" y="2646680"/>
            <a:ext cx="5381625" cy="200025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0" b="26082"/>
          <a:stretch>
            <a:fillRect/>
          </a:stretch>
        </p:blipFill>
        <p:spPr>
          <a:xfrm>
            <a:off x="1360805" y="1785620"/>
            <a:ext cx="2385695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5554" y="271735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实验设置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4056" y="685769"/>
            <a:ext cx="4446204" cy="36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数据集信息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56" y="1020889"/>
            <a:ext cx="5974598" cy="152413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4056" y="2438513"/>
            <a:ext cx="4446204" cy="36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模型配置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942392" y="2872692"/>
            <a:ext cx="3433664" cy="300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T5-Base、 T5-</a:t>
            </a:r>
            <a:r>
              <a:rPr lang="en-US" altLang="zh-CN" dirty="0">
                <a:solidFill>
                  <a:schemeClr val="tx1"/>
                </a:solidFill>
              </a:rPr>
              <a:t>Large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4056" y="3220197"/>
            <a:ext cx="4446204" cy="130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评价指标</a:t>
            </a:r>
            <a:endParaRPr lang="en-US" altLang="zh-CN" dirty="0">
              <a:solidFill>
                <a:schemeClr val="tx1"/>
              </a:solidFill>
            </a:endParaRPr>
          </a:p>
          <a:p>
            <a:pPr marL="629285" lvl="1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问答 精确匹配</a:t>
            </a:r>
            <a:r>
              <a:rPr lang="en-US" altLang="zh-CN" dirty="0">
                <a:solidFill>
                  <a:schemeClr val="tx1"/>
                </a:solidFill>
              </a:rPr>
              <a:t>F1 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EM</a:t>
            </a:r>
            <a:r>
              <a:rPr lang="zh-CN" altLang="en-US" dirty="0">
                <a:solidFill>
                  <a:schemeClr val="tx1"/>
                </a:solidFill>
              </a:rPr>
              <a:t>）、部分匹配</a:t>
            </a:r>
            <a:r>
              <a:rPr lang="en-US" altLang="zh-CN" dirty="0">
                <a:solidFill>
                  <a:schemeClr val="tx1"/>
                </a:solidFill>
              </a:rPr>
              <a:t>F1</a:t>
            </a:r>
            <a:r>
              <a:rPr lang="zh-CN" altLang="en-US" dirty="0">
                <a:solidFill>
                  <a:schemeClr val="tx1"/>
                </a:solidFill>
              </a:rPr>
              <a:t> （</a:t>
            </a:r>
            <a:r>
              <a:rPr lang="en-US" altLang="zh-CN" dirty="0">
                <a:solidFill>
                  <a:schemeClr val="tx1"/>
                </a:solidFill>
              </a:rPr>
              <a:t>PM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marL="629285" lvl="1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关键词 </a:t>
            </a:r>
            <a:r>
              <a:rPr lang="en-US" altLang="zh-CN" dirty="0">
                <a:solidFill>
                  <a:schemeClr val="tx1"/>
                </a:solidFill>
              </a:rPr>
              <a:t>F1@5 </a:t>
            </a:r>
            <a:r>
              <a:rPr lang="zh-CN" altLang="en-US" dirty="0">
                <a:solidFill>
                  <a:schemeClr val="tx1"/>
                </a:solidFill>
              </a:rPr>
              <a:t>、 </a:t>
            </a:r>
            <a:r>
              <a:rPr lang="en-US" altLang="zh-CN" dirty="0">
                <a:solidFill>
                  <a:schemeClr val="tx1"/>
                </a:solidFill>
              </a:rPr>
              <a:t>F1@M </a:t>
            </a:r>
            <a:endParaRPr lang="en-US" altLang="zh-CN" dirty="0">
              <a:solidFill>
                <a:schemeClr val="tx1"/>
              </a:solidFill>
            </a:endParaRPr>
          </a:p>
          <a:p>
            <a:pPr marL="629285" lvl="1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摘要 </a:t>
            </a:r>
            <a:r>
              <a:rPr lang="en-US" altLang="zh-CN" dirty="0">
                <a:solidFill>
                  <a:schemeClr val="tx1"/>
                </a:solidFill>
              </a:rPr>
              <a:t> Rouge-1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Rouge-2 </a:t>
            </a:r>
            <a:r>
              <a:rPr lang="zh-CN" altLang="en-US" dirty="0">
                <a:solidFill>
                  <a:schemeClr val="tx1"/>
                </a:solidFill>
              </a:rPr>
              <a:t>和 </a:t>
            </a:r>
            <a:r>
              <a:rPr lang="en-US" altLang="zh-CN" dirty="0">
                <a:solidFill>
                  <a:schemeClr val="tx1"/>
                </a:solidFill>
              </a:rPr>
              <a:t>Rouge-L 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925" y="89112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短语级结果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4056" y="578712"/>
            <a:ext cx="4446204" cy="404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MSQA</a:t>
            </a:r>
            <a:r>
              <a:rPr lang="zh-CN" altLang="en-US" dirty="0"/>
              <a:t>上实现</a:t>
            </a:r>
            <a:r>
              <a:rPr lang="en-US" altLang="zh-CN" dirty="0"/>
              <a:t>1.7</a:t>
            </a:r>
            <a:r>
              <a:rPr lang="zh-CN" altLang="en-US" dirty="0"/>
              <a:t>倍</a:t>
            </a:r>
            <a:r>
              <a:rPr lang="zh-CN" altLang="en-US" dirty="0"/>
              <a:t>加速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89" y="985719"/>
            <a:ext cx="4446204" cy="126436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4205" y="2320925"/>
            <a:ext cx="5387975" cy="404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关键词生成</a:t>
            </a:r>
            <a:r>
              <a:rPr lang="zh-CN" altLang="en-US" dirty="0"/>
              <a:t>实现最高</a:t>
            </a:r>
            <a:r>
              <a:rPr lang="en-US" altLang="zh-CN" dirty="0"/>
              <a:t>2.5</a:t>
            </a:r>
            <a:r>
              <a:rPr lang="zh-CN" altLang="en-US" dirty="0"/>
              <a:t>倍加速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89" y="2678308"/>
            <a:ext cx="4336156" cy="19889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925" y="89112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句子级结果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4205" y="578485"/>
            <a:ext cx="5617210" cy="1031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摘要任务的效果</a:t>
            </a:r>
            <a:endParaRPr lang="zh-CN" alt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在 </a:t>
            </a:r>
            <a:r>
              <a:rPr lang="en-US" altLang="zh-CN" dirty="0" err="1">
                <a:sym typeface="+mn-ea"/>
              </a:rPr>
              <a:t>WikiHowQA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和 </a:t>
            </a:r>
            <a:r>
              <a:rPr lang="en-US" altLang="zh-CN" dirty="0">
                <a:sym typeface="+mn-ea"/>
              </a:rPr>
              <a:t>PubMed </a:t>
            </a:r>
            <a:r>
              <a:rPr lang="zh-CN" altLang="en-US" dirty="0">
                <a:sym typeface="+mn-ea"/>
              </a:rPr>
              <a:t>数据集上，流水线解码器的吞吐量分别比顺序解码器高出至少 </a:t>
            </a:r>
            <a:r>
              <a:rPr lang="en-US" altLang="zh-CN" dirty="0">
                <a:sym typeface="+mn-ea"/>
              </a:rPr>
              <a:t>5.2 </a:t>
            </a:r>
            <a:r>
              <a:rPr lang="zh-CN" altLang="en-US" dirty="0">
                <a:sym typeface="+mn-ea"/>
              </a:rPr>
              <a:t>倍和 </a:t>
            </a:r>
            <a:r>
              <a:rPr lang="en-US" altLang="zh-CN" dirty="0">
                <a:sym typeface="+mn-ea"/>
              </a:rPr>
              <a:t>6.5 </a:t>
            </a:r>
            <a:r>
              <a:rPr lang="zh-CN" altLang="en-US" dirty="0">
                <a:sym typeface="+mn-ea"/>
              </a:rPr>
              <a:t>倍。</a:t>
            </a:r>
            <a:endParaRPr lang="zh-CN" altLang="en-US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3"/>
          <a:stretch>
            <a:fillRect/>
          </a:stretch>
        </p:blipFill>
        <p:spPr>
          <a:xfrm>
            <a:off x="441960" y="1687830"/>
            <a:ext cx="6164580" cy="30829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925" y="89112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答案子序列数量分析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174" y="1652033"/>
            <a:ext cx="3432175" cy="307155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2033"/>
            <a:ext cx="3432174" cy="307155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49366" y="1427368"/>
            <a:ext cx="1747181" cy="300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对推理速度的影响                                                                  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525528" y="1427368"/>
            <a:ext cx="1747181" cy="300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对生成质量的影响                                                                  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94995" y="578485"/>
            <a:ext cx="5080000" cy="718185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1360"/>
              <a:t>长文本效果更佳（子序列越多，加速潜力越大）</a:t>
            </a:r>
            <a:endParaRPr lang="zh-CN" altLang="en-US" sz="1360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1360"/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1360"/>
              <a:t>加速优化未牺牲生成质量，甚至略有提升</a:t>
            </a:r>
            <a:endParaRPr lang="zh-CN" altLang="en-US" sz="136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925" y="89112"/>
            <a:ext cx="5920502" cy="48960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延迟时间分析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329C2-3C36-4069-9E85-5BF3A0DCB5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69" y="1492166"/>
            <a:ext cx="4711973" cy="32923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1010" y="578485"/>
            <a:ext cx="6099175" cy="71818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1360"/>
              <a:t>延迟时间增大时，推理速度按预期下降。</a:t>
            </a:r>
            <a:endParaRPr lang="zh-CN" altLang="en-US" sz="1360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 sz="1360"/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1360"/>
              <a:t>生成质量在窄幅波动，表明初始</a:t>
            </a:r>
            <a:r>
              <a:rPr lang="en-US" altLang="zh-CN" sz="1360"/>
              <a:t>token</a:t>
            </a:r>
            <a:r>
              <a:rPr lang="zh-CN" altLang="en-US" sz="1360"/>
              <a:t>信息足够支撑后续生成。</a:t>
            </a:r>
            <a:endParaRPr lang="zh-CN" altLang="en-US" sz="136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1282065"/>
            <a:ext cx="6864985" cy="1292860"/>
          </a:xfrm>
        </p:spPr>
        <p:txBody>
          <a:bodyPr/>
          <a:lstStyle/>
          <a:p>
            <a:pPr algn="ctr"/>
            <a:r>
              <a:rPr lang="zh-CN" altLang="en-US" dirty="0">
                <a:sym typeface="+mn-ea"/>
              </a:rPr>
              <a:t>一种基于公式的数值推理方法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1284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1282065"/>
            <a:ext cx="6864985" cy="1292860"/>
          </a:xfrm>
        </p:spPr>
        <p:txBody>
          <a:bodyPr/>
          <a:lstStyle/>
          <a:p>
            <a:pPr algn="ctr"/>
            <a:r>
              <a:rPr lang="zh-CN" altLang="en-US" dirty="0">
                <a:sym typeface="+mn-ea"/>
              </a:rPr>
              <a:t>总结与</a:t>
            </a:r>
            <a:r>
              <a:rPr lang="zh-CN" altLang="en-US" dirty="0">
                <a:sym typeface="+mn-ea"/>
              </a:rPr>
              <a:t>展望</a:t>
            </a:r>
            <a:endParaRPr lang="zh-CN" alt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advTm="1284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2B08-3EA3-41BF-B421-FEB4AE47B4B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00355" y="265430"/>
            <a:ext cx="6296660" cy="3226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/>
              <a:t>总结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设计自适应</a:t>
            </a:r>
            <a:r>
              <a:rPr lang="zh-CN" altLang="en-US"/>
              <a:t>解码器和流水线解码器，兼顾全局语义建模与生成速度提升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在阅读理解、文本摘要、关键短语生成等任务中验证模型潜力，多任务生成能力突出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/>
              <a:t>未来方向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数学问题求解等无上下文感知任务（依赖强标记时序，需改进依赖建模）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优化子序列生成，取消固定时间间隔，按语义动态划分子序列。</a:t>
            </a:r>
            <a:endParaRPr lang="zh-CN" altLang="en-US"/>
          </a:p>
          <a:p>
            <a:pPr indent="457200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1922" y="979200"/>
            <a:ext cx="5540303" cy="37019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 Li, 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Bolin Zhu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FormulaReasoning: A Dataset for Formula-Based Numerical Reasoning[C/OL]//The 64th Annual Meeting of the Association for Computational Linguistics. 2026. https://openreview.net/forum?id=G87r1ICRPg. </a:t>
            </a: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程龚，朱博林，厉肖，一种基于公式的数值</a:t>
            </a: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推理问答实现方法、设备及介质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2026.4 </a:t>
            </a: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攻读硕士学位期间完成的学术成果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标题 4"/>
          <p:cNvSpPr>
            <a:spLocks noGrp="1"/>
          </p:cNvSpPr>
          <p:nvPr/>
        </p:nvSpPr>
        <p:spPr>
          <a:xfrm>
            <a:off x="598924" y="2696800"/>
            <a:ext cx="5920502" cy="48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5149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baseline="0">
                <a:solidFill>
                  <a:srgbClr val="63065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攻读硕士学位期间完成的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专利情况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感谢观看</a:t>
            </a:r>
            <a:endParaRPr lang="zh-CN" altLang="en-US" dirty="0"/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2708617" y="2953358"/>
            <a:ext cx="1921440" cy="6660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kumimoji="1" lang="zh-CN" altLang="en-US" dirty="0"/>
              <a:t>汇报人：</a:t>
            </a:r>
            <a:r>
              <a:rPr kumimoji="1" lang="zh-CN" altLang="en-US" dirty="0"/>
              <a:t>朱博林  </a:t>
            </a:r>
            <a:endParaRPr kumimoji="1" lang="en-US" altLang="zh-CN" dirty="0"/>
          </a:p>
          <a:p>
            <a:pPr algn="l"/>
            <a:r>
              <a:rPr kumimoji="1" lang="zh-CN" altLang="en-US" dirty="0"/>
              <a:t>学号：</a:t>
            </a:r>
            <a:r>
              <a:rPr kumimoji="1" lang="en-US" altLang="zh-CN" dirty="0"/>
              <a:t>522023330123</a:t>
            </a:r>
            <a:endParaRPr kumimoji="1" lang="en-US" altLang="zh-CN" dirty="0"/>
          </a:p>
          <a:p>
            <a:pPr algn="l"/>
            <a:r>
              <a:rPr kumimoji="1" lang="zh-CN" altLang="en-US" dirty="0"/>
              <a:t>导师：</a:t>
            </a:r>
            <a:r>
              <a:rPr kumimoji="1" lang="zh-CN" altLang="en-US" dirty="0"/>
              <a:t>程龚</a:t>
            </a:r>
            <a:endParaRPr kumimoji="1" lang="zh-CN" altLang="en-US" dirty="0"/>
          </a:p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519E-D9EB-47F0-AD65-082D85248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3E1EE8-403A-4D2D-AB26-5BF439A27F6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mFhOTViNmIzMjg3YjNiOWUyNWVkYjNjNDNiZjUwMz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2620</Words>
  <Application>WPS 演示</Application>
  <PresentationFormat>自定义</PresentationFormat>
  <Paragraphs>421</Paragraphs>
  <Slides>31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Calibri</vt:lpstr>
      <vt:lpstr>Wingdings</vt:lpstr>
      <vt:lpstr>微软雅黑</vt:lpstr>
      <vt:lpstr>黑体</vt:lpstr>
      <vt:lpstr>Arial Unicode MS</vt:lpstr>
      <vt:lpstr>等线</vt:lpstr>
      <vt:lpstr>DeepSeek-CJK-patch</vt:lpstr>
      <vt:lpstr>Segoe Print</vt:lpstr>
      <vt:lpstr>Times New Roman</vt:lpstr>
      <vt:lpstr>BatangChe</vt:lpstr>
      <vt:lpstr>Arial</vt:lpstr>
      <vt:lpstr>等线 Light</vt:lpstr>
      <vt:lpstr>DeepSeek-CJK-patch</vt:lpstr>
      <vt:lpstr>Office 主题​​</vt:lpstr>
      <vt:lpstr>自定义设计方案</vt:lpstr>
      <vt:lpstr>基于公式的数值推理方法与评测研究</vt:lpstr>
      <vt:lpstr>目录</vt:lpstr>
      <vt:lpstr>研究背景</vt:lpstr>
      <vt:lpstr>PowerPoint 演示文稿</vt:lpstr>
      <vt:lpstr>PowerPoint 演示文稿</vt:lpstr>
      <vt:lpstr>相关工作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基于公式的数值推理数据集构建</vt:lpstr>
      <vt:lpstr>自适应解码</vt:lpstr>
      <vt:lpstr>解码器概览</vt:lpstr>
      <vt:lpstr>实验设置</vt:lpstr>
      <vt:lpstr>短语级结果</vt:lpstr>
      <vt:lpstr>句子级结果</vt:lpstr>
      <vt:lpstr>基于公式的数值推理方法评测</vt:lpstr>
      <vt:lpstr>流水线解码</vt:lpstr>
      <vt:lpstr>流水线解码描述</vt:lpstr>
      <vt:lpstr>模型训练</vt:lpstr>
      <vt:lpstr>实验设置</vt:lpstr>
      <vt:lpstr>短语级结果</vt:lpstr>
      <vt:lpstr>句子级结果</vt:lpstr>
      <vt:lpstr>答案子序列数量分析</vt:lpstr>
      <vt:lpstr>延迟时间分析</vt:lpstr>
      <vt:lpstr>一种基于公式的数值推理方法</vt:lpstr>
      <vt:lpstr>总结与展望</vt:lpstr>
      <vt:lpstr>PowerPoint 演示文稿</vt:lpstr>
      <vt:lpstr>攻读硕士学位期间完成的学术成果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Yuxin</dc:creator>
  <cp:lastModifiedBy>.云雨.</cp:lastModifiedBy>
  <cp:revision>431</cp:revision>
  <dcterms:created xsi:type="dcterms:W3CDTF">2019-07-23T07:18:00Z</dcterms:created>
  <dcterms:modified xsi:type="dcterms:W3CDTF">2026-05-07T08:54:05Z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863547886DD245B3A8B43CAE48D36B34_13</vt:lpwstr>
  </property>
  <property fmtid="{D5CDD505-2E9C-101B-9397-08002B2CF9AE}" pid="3" name="KSOProductBuildVer">
    <vt:lpwstr>2052-12.1.0.25865</vt:lpwstr>
  </property>
</Properties>
</file>