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0" r:id="rId3"/>
    <p:sldId id="269" r:id="rId5"/>
    <p:sldId id="267" r:id="rId6"/>
    <p:sldId id="257" r:id="rId7"/>
    <p:sldId id="268" r:id="rId8"/>
    <p:sldId id="258" r:id="rId9"/>
    <p:sldId id="259" r:id="rId10"/>
    <p:sldId id="260" r:id="rId11"/>
    <p:sldId id="256" r:id="rId12"/>
    <p:sldId id="264" r:id="rId13"/>
    <p:sldId id="266" r:id="rId14"/>
    <p:sldId id="262"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74" userDrawn="1">
          <p15:clr>
            <a:srgbClr val="A4A3A4"/>
          </p15:clr>
        </p15:guide>
        <p15:guide id="2" pos="39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1974"/>
        <p:guide pos="390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665937-FCC7-47CE-8B46-06F747D5351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6.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image" Target="../media/image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0.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5.xml"/><Relationship Id="rId1" Type="http://schemas.openxmlformats.org/officeDocument/2006/relationships/tags" Target="../tags/tag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1743075" y="1131570"/>
            <a:ext cx="6635750" cy="1260475"/>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1360">
                <a:solidFill>
                  <a:schemeClr val="tx1"/>
                </a:solidFill>
              </a:rPr>
              <a:t>有一台电热水器，在其水箱中加入了50</a:t>
            </a:r>
            <a:r>
              <a:rPr lang="en-US" altLang="zh-CN" sz="1360">
                <a:solidFill>
                  <a:schemeClr val="tx1"/>
                </a:solidFill>
              </a:rPr>
              <a:t>kg</a:t>
            </a:r>
            <a:r>
              <a:rPr lang="zh-CN" altLang="en-US" sz="1360">
                <a:solidFill>
                  <a:schemeClr val="tx1"/>
                </a:solidFill>
              </a:rPr>
              <a:t>的水，水被电加热从20℃加热到</a:t>
            </a:r>
            <a:r>
              <a:rPr lang="zh-CN" altLang="en-US" sz="1360">
                <a:solidFill>
                  <a:schemeClr val="tx1"/>
                </a:solidFill>
                <a:highlight>
                  <a:srgbClr val="FFFF00"/>
                </a:highlight>
              </a:rPr>
              <a:t>[</a:t>
            </a:r>
            <a:r>
              <a:rPr lang="en-US" altLang="zh-CN" sz="1360">
                <a:solidFill>
                  <a:schemeClr val="tx1"/>
                </a:solidFill>
                <a:highlight>
                  <a:srgbClr val="FFFF00"/>
                </a:highlight>
              </a:rPr>
              <a:t>X]</a:t>
            </a:r>
            <a:r>
              <a:rPr lang="en-US" altLang="zh-CN" sz="1360">
                <a:solidFill>
                  <a:schemeClr val="tx1"/>
                </a:solidFill>
              </a:rPr>
              <a:t>。</a:t>
            </a:r>
            <a:r>
              <a:rPr lang="zh-CN" altLang="en-US" sz="1360">
                <a:solidFill>
                  <a:schemeClr val="tx1"/>
                </a:solidFill>
              </a:rPr>
              <a:t>已知水的比热容为 </a:t>
            </a:r>
            <a:r>
              <a:rPr lang="en-US" altLang="zh-CN" sz="1360">
                <a:solidFill>
                  <a:schemeClr val="tx1"/>
                </a:solidFill>
              </a:rPr>
              <a:t>C_</a:t>
            </a:r>
            <a:r>
              <a:rPr lang="zh-CN" altLang="en-US" sz="1360">
                <a:solidFill>
                  <a:schemeClr val="tx1"/>
                </a:solidFill>
              </a:rPr>
              <a:t>水</a:t>
            </a:r>
            <a:r>
              <a:rPr lang="en-US" altLang="zh-CN" sz="1360">
                <a:solidFill>
                  <a:schemeClr val="tx1"/>
                </a:solidFill>
              </a:rPr>
              <a:t> = 4.2×10^3 J/(kg·℃)。</a:t>
            </a:r>
            <a:r>
              <a:rPr lang="zh-CN" altLang="en-US" sz="1360">
                <a:solidFill>
                  <a:schemeClr val="tx1"/>
                </a:solidFill>
              </a:rPr>
              <a:t>如果加热过程中消耗的总电能为 1×10^7 </a:t>
            </a:r>
            <a:r>
              <a:rPr lang="en-US" altLang="zh-CN" sz="1360">
                <a:solidFill>
                  <a:schemeClr val="tx1"/>
                </a:solidFill>
              </a:rPr>
              <a:t>J，</a:t>
            </a:r>
            <a:r>
              <a:rPr lang="zh-CN" altLang="en-US" sz="1360">
                <a:solidFill>
                  <a:schemeClr val="tx1"/>
                </a:solidFill>
              </a:rPr>
              <a:t>那么水加热器的热效率是多少？</a:t>
            </a:r>
            <a:endParaRPr lang="zh-CN" altLang="en-US" sz="1360">
              <a:solidFill>
                <a:schemeClr val="tx1"/>
              </a:solidFill>
            </a:endParaRPr>
          </a:p>
          <a:p>
            <a:pPr algn="l"/>
            <a:r>
              <a:rPr lang="zh-CN" altLang="en-US" sz="1360">
                <a:solidFill>
                  <a:schemeClr val="tx1"/>
                </a:solidFill>
                <a:highlight>
                  <a:srgbClr val="FFFF00"/>
                </a:highlight>
              </a:rPr>
              <a:t>如果我们已经知道上面问题的答案是 84%，那么问题中 [</a:t>
            </a:r>
            <a:r>
              <a:rPr lang="en-US" altLang="zh-CN" sz="1360">
                <a:solidFill>
                  <a:schemeClr val="tx1"/>
                </a:solidFill>
                <a:highlight>
                  <a:srgbClr val="FFFF00"/>
                </a:highlight>
              </a:rPr>
              <a:t>X] </a:t>
            </a:r>
            <a:r>
              <a:rPr lang="zh-CN" altLang="en-US" sz="1360">
                <a:solidFill>
                  <a:schemeClr val="tx1"/>
                </a:solidFill>
                <a:highlight>
                  <a:srgbClr val="FFFF00"/>
                </a:highlight>
              </a:rPr>
              <a:t>对应的内容应该是多少？</a:t>
            </a:r>
            <a:endParaRPr lang="zh-CN" altLang="en-US" sz="1360">
              <a:solidFill>
                <a:schemeClr val="tx1"/>
              </a:solidFill>
              <a:highlight>
                <a:srgbClr val="FFFF00"/>
              </a:highlight>
            </a:endParaRPr>
          </a:p>
        </p:txBody>
      </p:sp>
      <p:sp>
        <p:nvSpPr>
          <p:cNvPr id="5" name="圆角矩形 4"/>
          <p:cNvSpPr/>
          <p:nvPr/>
        </p:nvSpPr>
        <p:spPr>
          <a:xfrm>
            <a:off x="1743075" y="3027045"/>
            <a:ext cx="3531870" cy="998855"/>
          </a:xfrm>
          <a:prstGeom prst="roundRect">
            <a:avLst/>
          </a:prstGeom>
          <a:solidFill>
            <a:schemeClr val="accent3">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360">
                <a:solidFill>
                  <a:schemeClr val="tx1"/>
                </a:solidFill>
              </a:rPr>
              <a:t>[</a:t>
            </a:r>
            <a:r>
              <a:rPr lang="zh-CN" altLang="en-US" sz="1360">
                <a:solidFill>
                  <a:schemeClr val="tx1"/>
                </a:solidFill>
              </a:rPr>
              <a:t>吸收热量</a:t>
            </a:r>
            <a:r>
              <a:rPr lang="en-US" altLang="zh-CN" sz="1360">
                <a:solidFill>
                  <a:schemeClr val="tx1"/>
                </a:solidFill>
              </a:rPr>
              <a:t>] = [</a:t>
            </a:r>
            <a:r>
              <a:rPr lang="zh-CN" altLang="en-US" sz="1360">
                <a:solidFill>
                  <a:schemeClr val="tx1"/>
                </a:solidFill>
              </a:rPr>
              <a:t>热效率</a:t>
            </a:r>
            <a:r>
              <a:rPr lang="en-US" altLang="zh-CN" sz="1360">
                <a:solidFill>
                  <a:schemeClr val="tx1"/>
                </a:solidFill>
              </a:rPr>
              <a:t>] * [</a:t>
            </a:r>
            <a:r>
              <a:rPr lang="zh-CN" altLang="en-US" sz="1360">
                <a:solidFill>
                  <a:schemeClr val="tx1"/>
                </a:solidFill>
              </a:rPr>
              <a:t>总电能</a:t>
            </a:r>
            <a:r>
              <a:rPr lang="en-US" altLang="zh-CN" sz="1360">
                <a:solidFill>
                  <a:schemeClr val="tx1"/>
                </a:solidFill>
              </a:rPr>
              <a:t>]</a:t>
            </a:r>
            <a:endParaRPr lang="en-US" altLang="zh-CN" sz="1360">
              <a:solidFill>
                <a:schemeClr val="tx1"/>
              </a:solidFill>
            </a:endParaRPr>
          </a:p>
          <a:p>
            <a:pPr algn="l"/>
            <a:r>
              <a:rPr lang="en-US" altLang="zh-CN" sz="1360">
                <a:solidFill>
                  <a:schemeClr val="tx1"/>
                </a:solidFill>
              </a:rPr>
              <a:t>[</a:t>
            </a:r>
            <a:r>
              <a:rPr lang="zh-CN" altLang="en-US" sz="1360">
                <a:solidFill>
                  <a:schemeClr val="tx1"/>
                </a:solidFill>
              </a:rPr>
              <a:t>升高温度</a:t>
            </a:r>
            <a:r>
              <a:rPr lang="en-US" altLang="zh-CN" sz="1360">
                <a:solidFill>
                  <a:schemeClr val="tx1"/>
                </a:solidFill>
              </a:rPr>
              <a:t>] = [</a:t>
            </a:r>
            <a:r>
              <a:rPr lang="zh-CN" altLang="en-US" sz="1360">
                <a:solidFill>
                  <a:schemeClr val="tx1"/>
                </a:solidFill>
              </a:rPr>
              <a:t>吸收热量</a:t>
            </a:r>
            <a:r>
              <a:rPr lang="en-US" altLang="zh-CN" sz="1360">
                <a:solidFill>
                  <a:schemeClr val="tx1"/>
                </a:solidFill>
              </a:rPr>
              <a:t>] / ([</a:t>
            </a:r>
            <a:r>
              <a:rPr lang="zh-CN" altLang="en-US" sz="1360">
                <a:solidFill>
                  <a:schemeClr val="tx1"/>
                </a:solidFill>
              </a:rPr>
              <a:t>比热容</a:t>
            </a:r>
            <a:r>
              <a:rPr lang="en-US" altLang="zh-CN" sz="1360">
                <a:solidFill>
                  <a:schemeClr val="tx1"/>
                </a:solidFill>
              </a:rPr>
              <a:t>] * [</a:t>
            </a:r>
            <a:r>
              <a:rPr lang="zh-CN" altLang="en-US" sz="1360">
                <a:solidFill>
                  <a:schemeClr val="tx1"/>
                </a:solidFill>
              </a:rPr>
              <a:t>质量</a:t>
            </a:r>
            <a:r>
              <a:rPr lang="en-US" altLang="zh-CN" sz="1360">
                <a:solidFill>
                  <a:schemeClr val="tx1"/>
                </a:solidFill>
              </a:rPr>
              <a:t>])</a:t>
            </a:r>
            <a:endParaRPr lang="en-US" altLang="zh-CN" sz="1360">
              <a:solidFill>
                <a:schemeClr val="tx1"/>
              </a:solidFill>
            </a:endParaRPr>
          </a:p>
          <a:p>
            <a:pPr algn="l"/>
            <a:r>
              <a:rPr lang="en-US" altLang="zh-CN" sz="1360">
                <a:solidFill>
                  <a:schemeClr val="tx1"/>
                </a:solidFill>
              </a:rPr>
              <a:t>[</a:t>
            </a:r>
            <a:r>
              <a:rPr lang="zh-CN" altLang="en-US" sz="1360">
                <a:solidFill>
                  <a:schemeClr val="tx1"/>
                </a:solidFill>
              </a:rPr>
              <a:t>最终温度</a:t>
            </a:r>
            <a:r>
              <a:rPr lang="en-US" altLang="zh-CN" sz="1360">
                <a:solidFill>
                  <a:schemeClr val="tx1"/>
                </a:solidFill>
              </a:rPr>
              <a:t>] = [</a:t>
            </a:r>
            <a:r>
              <a:rPr lang="zh-CN" altLang="en-US" sz="1360">
                <a:solidFill>
                  <a:schemeClr val="tx1"/>
                </a:solidFill>
              </a:rPr>
              <a:t>初始温度</a:t>
            </a:r>
            <a:r>
              <a:rPr lang="en-US" altLang="zh-CN" sz="1360">
                <a:solidFill>
                  <a:schemeClr val="tx1"/>
                </a:solidFill>
              </a:rPr>
              <a:t>] + [</a:t>
            </a:r>
            <a:r>
              <a:rPr lang="zh-CN" altLang="en-US" sz="1360">
                <a:solidFill>
                  <a:schemeClr val="tx1"/>
                </a:solidFill>
              </a:rPr>
              <a:t>升高温度</a:t>
            </a:r>
            <a:r>
              <a:rPr lang="en-US" altLang="zh-CN" sz="1360">
                <a:solidFill>
                  <a:schemeClr val="tx1"/>
                </a:solidFill>
              </a:rPr>
              <a:t>]</a:t>
            </a:r>
            <a:endParaRPr lang="en-US" altLang="zh-CN" sz="1360">
              <a:solidFill>
                <a:schemeClr val="tx1"/>
              </a:solidFill>
            </a:endParaRPr>
          </a:p>
        </p:txBody>
      </p:sp>
      <p:graphicFrame>
        <p:nvGraphicFramePr>
          <p:cNvPr id="8" name="表格 7"/>
          <p:cNvGraphicFramePr/>
          <p:nvPr>
            <p:custDataLst>
              <p:tags r:id="rId1"/>
            </p:custDataLst>
          </p:nvPr>
        </p:nvGraphicFramePr>
        <p:xfrm>
          <a:off x="5629275" y="3065780"/>
          <a:ext cx="2807335" cy="1985645"/>
        </p:xfrm>
        <a:graphic>
          <a:graphicData uri="http://schemas.openxmlformats.org/drawingml/2006/table">
            <a:tbl>
              <a:tblPr firstRow="1" bandRow="1">
                <a:tableStyleId>{5C22544A-7EE6-4342-B048-85BDC9FD1C3A}</a:tableStyleId>
              </a:tblPr>
              <a:tblGrid>
                <a:gridCol w="932815"/>
                <a:gridCol w="916305"/>
                <a:gridCol w="958215"/>
              </a:tblGrid>
              <a:tr h="334010">
                <a:tc>
                  <a:txBody>
                    <a:bodyPr/>
                    <a:p>
                      <a:pPr>
                        <a:buNone/>
                      </a:pPr>
                      <a:r>
                        <a:rPr lang="zh-CN" altLang="en-US" sz="1200">
                          <a:solidFill>
                            <a:schemeClr val="tx1"/>
                          </a:solidFill>
                          <a:latin typeface="宋体" panose="02010600030101010101" pitchFamily="2" charset="-122"/>
                          <a:ea typeface="宋体" panose="02010600030101010101" pitchFamily="2" charset="-122"/>
                        </a:rPr>
                        <a:t>名称</a:t>
                      </a:r>
                      <a:endParaRPr lang="zh-CN" altLang="en-US"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zh-CN" altLang="en-US" sz="1200">
                          <a:solidFill>
                            <a:schemeClr val="tx1"/>
                          </a:solidFill>
                          <a:latin typeface="宋体" panose="02010600030101010101" pitchFamily="2" charset="-122"/>
                          <a:ea typeface="宋体" panose="02010600030101010101" pitchFamily="2" charset="-122"/>
                        </a:rPr>
                        <a:t>数值</a:t>
                      </a:r>
                      <a:endParaRPr lang="zh-CN" altLang="en-US"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zh-CN" altLang="en-US" sz="1200">
                          <a:solidFill>
                            <a:schemeClr val="tx1"/>
                          </a:solidFill>
                          <a:latin typeface="宋体" panose="02010600030101010101" pitchFamily="2" charset="-122"/>
                          <a:ea typeface="宋体" panose="02010600030101010101" pitchFamily="2" charset="-122"/>
                        </a:rPr>
                        <a:t>单位</a:t>
                      </a:r>
                      <a:endParaRPr lang="zh-CN" altLang="en-US"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34645">
                <a:tc>
                  <a:txBody>
                    <a:bodyPr/>
                    <a:p>
                      <a:pPr>
                        <a:buNone/>
                      </a:pPr>
                      <a:r>
                        <a:rPr lang="zh-CN" altLang="en-US" sz="1200">
                          <a:solidFill>
                            <a:schemeClr val="tx1"/>
                          </a:solidFill>
                          <a:latin typeface="宋体" panose="02010600030101010101" pitchFamily="2" charset="-122"/>
                          <a:ea typeface="宋体" panose="02010600030101010101" pitchFamily="2" charset="-122"/>
                          <a:sym typeface="+mn-ea"/>
                        </a:rPr>
                        <a:t>总电能</a:t>
                      </a:r>
                      <a:endParaRPr lang="zh-CN" altLang="en-US" sz="1200">
                        <a:solidFill>
                          <a:schemeClr val="tx1"/>
                        </a:solidFill>
                        <a:latin typeface="宋体" panose="02010600030101010101" pitchFamily="2" charset="-122"/>
                        <a:ea typeface="宋体" panose="02010600030101010101" pitchFamily="2" charset="-122"/>
                        <a:sym typeface="+mn-ea"/>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rPr>
                        <a:t>1*10^7</a:t>
                      </a:r>
                      <a:endParaRPr lang="en-US" altLang="zh-CN"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rPr>
                        <a:t>J</a:t>
                      </a:r>
                      <a:endParaRPr lang="en-US" altLang="zh-CN"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34010">
                <a:tc>
                  <a:txBody>
                    <a:bodyPr/>
                    <a:p>
                      <a:pPr>
                        <a:buNone/>
                      </a:pPr>
                      <a:r>
                        <a:rPr lang="zh-CN" altLang="en-US" sz="1200">
                          <a:solidFill>
                            <a:schemeClr val="tx1"/>
                          </a:solidFill>
                          <a:latin typeface="宋体" panose="02010600030101010101" pitchFamily="2" charset="-122"/>
                          <a:ea typeface="宋体" panose="02010600030101010101" pitchFamily="2" charset="-122"/>
                          <a:sym typeface="+mn-ea"/>
                        </a:rPr>
                        <a:t>热效率</a:t>
                      </a:r>
                      <a:endParaRPr lang="zh-CN" altLang="en-US" sz="1200">
                        <a:solidFill>
                          <a:schemeClr val="tx1"/>
                        </a:solidFill>
                        <a:latin typeface="宋体" panose="02010600030101010101" pitchFamily="2" charset="-122"/>
                        <a:ea typeface="宋体" panose="02010600030101010101" pitchFamily="2" charset="-122"/>
                        <a:sym typeface="+mn-ea"/>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rPr>
                        <a:t>84%</a:t>
                      </a:r>
                      <a:endParaRPr lang="en-US" altLang="zh-CN"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rPr>
                        <a:t>-</a:t>
                      </a:r>
                      <a:endParaRPr lang="en-US" altLang="zh-CN"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34645">
                <a:tc>
                  <a:txBody>
                    <a:bodyPr/>
                    <a:p>
                      <a:pPr>
                        <a:buNone/>
                      </a:pPr>
                      <a:r>
                        <a:rPr lang="zh-CN" altLang="en-US" sz="1200">
                          <a:solidFill>
                            <a:schemeClr val="tx1"/>
                          </a:solidFill>
                          <a:latin typeface="宋体" panose="02010600030101010101" pitchFamily="2" charset="-122"/>
                          <a:ea typeface="宋体" panose="02010600030101010101" pitchFamily="2" charset="-122"/>
                          <a:sym typeface="+mn-ea"/>
                        </a:rPr>
                        <a:t>质量</a:t>
                      </a:r>
                      <a:endParaRPr lang="zh-CN" altLang="en-US" sz="1200">
                        <a:solidFill>
                          <a:schemeClr val="tx1"/>
                        </a:solidFill>
                        <a:latin typeface="宋体" panose="02010600030101010101" pitchFamily="2" charset="-122"/>
                        <a:ea typeface="宋体" panose="02010600030101010101" pitchFamily="2" charset="-122"/>
                        <a:sym typeface="+mn-ea"/>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rPr>
                        <a:t>50</a:t>
                      </a:r>
                      <a:endParaRPr lang="en-US" altLang="zh-CN"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rPr>
                        <a:t>kg</a:t>
                      </a:r>
                      <a:endParaRPr lang="en-US" altLang="zh-CN"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43535">
                <a:tc>
                  <a:txBody>
                    <a:bodyPr/>
                    <a:p>
                      <a:pPr>
                        <a:buNone/>
                      </a:pPr>
                      <a:r>
                        <a:rPr lang="zh-CN" altLang="en-US" sz="1200">
                          <a:solidFill>
                            <a:schemeClr val="tx1"/>
                          </a:solidFill>
                          <a:latin typeface="宋体" panose="02010600030101010101" pitchFamily="2" charset="-122"/>
                          <a:ea typeface="宋体" panose="02010600030101010101" pitchFamily="2" charset="-122"/>
                        </a:rPr>
                        <a:t>比热容</a:t>
                      </a:r>
                      <a:endParaRPr lang="zh-CN" altLang="en-US"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rPr>
                        <a:t>4.2*10^3</a:t>
                      </a:r>
                      <a:endParaRPr lang="en-US" altLang="zh-CN"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sym typeface="+mn-ea"/>
                        </a:rPr>
                        <a:t>J/(kg·℃)</a:t>
                      </a:r>
                      <a:endParaRPr lang="en-US" altLang="zh-CN" sz="1200">
                        <a:solidFill>
                          <a:schemeClr val="tx1"/>
                        </a:solidFill>
                        <a:latin typeface="宋体" panose="02010600030101010101" pitchFamily="2" charset="-122"/>
                        <a:ea typeface="宋体" panose="02010600030101010101" pitchFamily="2" charset="-122"/>
                        <a:sym typeface="+mn-ea"/>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86385">
                <a:tc>
                  <a:txBody>
                    <a:bodyPr/>
                    <a:p>
                      <a:pPr>
                        <a:buNone/>
                      </a:pPr>
                      <a:r>
                        <a:rPr lang="zh-CN" altLang="en-US" sz="1200">
                          <a:solidFill>
                            <a:schemeClr val="tx1"/>
                          </a:solidFill>
                          <a:latin typeface="宋体" panose="02010600030101010101" pitchFamily="2" charset="-122"/>
                          <a:ea typeface="宋体" panose="02010600030101010101" pitchFamily="2" charset="-122"/>
                        </a:rPr>
                        <a:t>初始温度</a:t>
                      </a:r>
                      <a:endParaRPr lang="zh-CN" altLang="en-US"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rPr>
                        <a:t>20</a:t>
                      </a:r>
                      <a:endParaRPr lang="en-US" altLang="zh-CN"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200">
                          <a:solidFill>
                            <a:schemeClr val="tx1"/>
                          </a:solidFill>
                          <a:latin typeface="宋体" panose="02010600030101010101" pitchFamily="2" charset="-122"/>
                          <a:ea typeface="宋体" panose="02010600030101010101" pitchFamily="2" charset="-122"/>
                        </a:rPr>
                        <a:t>℃</a:t>
                      </a:r>
                      <a:endParaRPr lang="en-US" altLang="zh-CN" sz="1200">
                        <a:solidFill>
                          <a:schemeClr val="tx1"/>
                        </a:solidFill>
                        <a:latin typeface="宋体" panose="02010600030101010101" pitchFamily="2" charset="-122"/>
                        <a:ea typeface="宋体" panose="02010600030101010101" pitchFamily="2" charset="-122"/>
                      </a:endParaRPr>
                    </a:p>
                  </a:txBody>
                  <a:tcPr marL="121814" marR="121814" marT="60907" marB="60907">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11" name="下箭头 10"/>
          <p:cNvSpPr/>
          <p:nvPr/>
        </p:nvSpPr>
        <p:spPr>
          <a:xfrm>
            <a:off x="3670703" y="2508199"/>
            <a:ext cx="273237" cy="444116"/>
          </a:xfrm>
          <a:prstGeom prst="downArrow">
            <a:avLst/>
          </a:prstGeom>
          <a:no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p>
        </p:txBody>
      </p:sp>
      <p:sp>
        <p:nvSpPr>
          <p:cNvPr id="24" name="圆角右箭头 23"/>
          <p:cNvSpPr/>
          <p:nvPr/>
        </p:nvSpPr>
        <p:spPr>
          <a:xfrm rot="10800000" flipH="1">
            <a:off x="4928870" y="4144645"/>
            <a:ext cx="593090" cy="678815"/>
          </a:xfrm>
          <a:prstGeom prst="bentArrow">
            <a:avLst>
              <a:gd name="adj1" fmla="val 25000"/>
              <a:gd name="adj2" fmla="val 25045"/>
              <a:gd name="adj3" fmla="val 25000"/>
              <a:gd name="adj4" fmla="val 43750"/>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solidFill>
                <a:schemeClr val="tx1"/>
              </a:solidFill>
            </a:endParaRPr>
          </a:p>
        </p:txBody>
      </p:sp>
      <p:pic>
        <p:nvPicPr>
          <p:cNvPr id="16" name="图片 15" descr="大模型-copy"/>
          <p:cNvPicPr>
            <a:picLocks noChangeAspect="1"/>
          </p:cNvPicPr>
          <p:nvPr/>
        </p:nvPicPr>
        <p:blipFill>
          <a:blip r:embed="rId2"/>
          <a:stretch>
            <a:fillRect/>
          </a:stretch>
        </p:blipFill>
        <p:spPr>
          <a:xfrm>
            <a:off x="3237230" y="2487930"/>
            <a:ext cx="388620" cy="388620"/>
          </a:xfrm>
          <a:prstGeom prst="rect">
            <a:avLst/>
          </a:prstGeom>
        </p:spPr>
      </p:pic>
      <p:pic>
        <p:nvPicPr>
          <p:cNvPr id="13" name="图片 12" descr="大模型-copy"/>
          <p:cNvPicPr>
            <a:picLocks noChangeAspect="1"/>
          </p:cNvPicPr>
          <p:nvPr/>
        </p:nvPicPr>
        <p:blipFill>
          <a:blip r:embed="rId2"/>
          <a:stretch>
            <a:fillRect/>
          </a:stretch>
        </p:blipFill>
        <p:spPr>
          <a:xfrm>
            <a:off x="5145405" y="4115435"/>
            <a:ext cx="368935" cy="368935"/>
          </a:xfrm>
          <a:prstGeom prst="rect">
            <a:avLst/>
          </a:prstGeom>
        </p:spPr>
      </p:pic>
      <p:sp>
        <p:nvSpPr>
          <p:cNvPr id="14" name="文本框 13"/>
          <p:cNvSpPr txBox="1"/>
          <p:nvPr/>
        </p:nvSpPr>
        <p:spPr>
          <a:xfrm>
            <a:off x="3943738" y="2550527"/>
            <a:ext cx="1372953" cy="300355"/>
          </a:xfrm>
          <a:prstGeom prst="rect">
            <a:avLst/>
          </a:prstGeom>
          <a:noFill/>
        </p:spPr>
        <p:txBody>
          <a:bodyPr wrap="square" rtlCol="0">
            <a:spAutoFit/>
          </a:bodyPr>
          <a:p>
            <a:r>
              <a:rPr lang="zh-CN" altLang="en-US" sz="1360"/>
              <a:t>公式生成</a:t>
            </a:r>
            <a:endParaRPr lang="zh-CN" altLang="en-US" sz="1360"/>
          </a:p>
        </p:txBody>
      </p:sp>
      <p:sp>
        <p:nvSpPr>
          <p:cNvPr id="15" name="文本框 14"/>
          <p:cNvSpPr txBox="1"/>
          <p:nvPr/>
        </p:nvSpPr>
        <p:spPr>
          <a:xfrm>
            <a:off x="4436110" y="4186555"/>
            <a:ext cx="647065" cy="711200"/>
          </a:xfrm>
          <a:prstGeom prst="rect">
            <a:avLst/>
          </a:prstGeom>
          <a:noFill/>
        </p:spPr>
        <p:txBody>
          <a:bodyPr wrap="square" rtlCol="0">
            <a:noAutofit/>
          </a:bodyPr>
          <a:p>
            <a:r>
              <a:rPr lang="zh-CN" altLang="en-US" sz="1360"/>
              <a:t>参数识别</a:t>
            </a:r>
            <a:endParaRPr lang="zh-CN" altLang="en-US" sz="1360"/>
          </a:p>
        </p:txBody>
      </p:sp>
      <p:sp>
        <p:nvSpPr>
          <p:cNvPr id="17" name="矩形 16"/>
          <p:cNvSpPr/>
          <p:nvPr/>
        </p:nvSpPr>
        <p:spPr>
          <a:xfrm>
            <a:off x="1809115" y="4841875"/>
            <a:ext cx="3175000" cy="927735"/>
          </a:xfrm>
          <a:prstGeom prst="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p>
          <a:p>
            <a:pPr algn="ctr"/>
            <a:endParaRPr lang="en-US" altLang="zh-CN" sz="2400"/>
          </a:p>
        </p:txBody>
      </p:sp>
      <p:pic>
        <p:nvPicPr>
          <p:cNvPr id="18" name="图片 17" descr="计算器"/>
          <p:cNvPicPr>
            <a:picLocks noChangeAspect="1"/>
          </p:cNvPicPr>
          <p:nvPr/>
        </p:nvPicPr>
        <p:blipFill>
          <a:blip r:embed="rId3"/>
          <a:stretch>
            <a:fillRect/>
          </a:stretch>
        </p:blipFill>
        <p:spPr>
          <a:xfrm flipH="1">
            <a:off x="1748155" y="4958080"/>
            <a:ext cx="563245" cy="570865"/>
          </a:xfrm>
          <a:prstGeom prst="rect">
            <a:avLst/>
          </a:prstGeom>
        </p:spPr>
      </p:pic>
      <p:sp>
        <p:nvSpPr>
          <p:cNvPr id="19" name="下箭头 18"/>
          <p:cNvSpPr/>
          <p:nvPr/>
        </p:nvSpPr>
        <p:spPr>
          <a:xfrm>
            <a:off x="2376170" y="4076700"/>
            <a:ext cx="273050" cy="715010"/>
          </a:xfrm>
          <a:prstGeom prst="downArrow">
            <a:avLst/>
          </a:prstGeom>
          <a:no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p>
        </p:txBody>
      </p:sp>
      <p:sp>
        <p:nvSpPr>
          <p:cNvPr id="21" name="圆角右箭头 20"/>
          <p:cNvSpPr/>
          <p:nvPr/>
        </p:nvSpPr>
        <p:spPr>
          <a:xfrm rot="10800000">
            <a:off x="5145405" y="5082540"/>
            <a:ext cx="1506855" cy="607695"/>
          </a:xfrm>
          <a:prstGeom prst="bentArrow">
            <a:avLst>
              <a:gd name="adj1" fmla="val 25000"/>
              <a:gd name="adj2" fmla="val 25045"/>
              <a:gd name="adj3" fmla="val 25000"/>
              <a:gd name="adj4" fmla="val 43750"/>
            </a:avLst>
          </a:prstGeom>
          <a:no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solidFill>
                <a:schemeClr val="tx1"/>
              </a:solidFill>
            </a:endParaRPr>
          </a:p>
        </p:txBody>
      </p:sp>
      <p:sp>
        <p:nvSpPr>
          <p:cNvPr id="22" name="下箭头 21"/>
          <p:cNvSpPr/>
          <p:nvPr/>
        </p:nvSpPr>
        <p:spPr>
          <a:xfrm>
            <a:off x="6203193" y="2486205"/>
            <a:ext cx="273237" cy="444116"/>
          </a:xfrm>
          <a:prstGeom prst="downArrow">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p>
        </p:txBody>
      </p:sp>
      <p:sp>
        <p:nvSpPr>
          <p:cNvPr id="23" name="文本框 22"/>
          <p:cNvSpPr txBox="1"/>
          <p:nvPr/>
        </p:nvSpPr>
        <p:spPr>
          <a:xfrm>
            <a:off x="6476654" y="2541013"/>
            <a:ext cx="1394102" cy="428043"/>
          </a:xfrm>
          <a:prstGeom prst="rect">
            <a:avLst/>
          </a:prstGeom>
          <a:noFill/>
        </p:spPr>
        <p:txBody>
          <a:bodyPr wrap="square" rtlCol="0">
            <a:noAutofit/>
          </a:bodyPr>
          <a:p>
            <a:r>
              <a:rPr lang="zh-CN" altLang="en-US" sz="1360"/>
              <a:t>参数识别</a:t>
            </a:r>
            <a:endParaRPr lang="zh-CN" altLang="en-US" sz="1360"/>
          </a:p>
        </p:txBody>
      </p:sp>
      <p:sp>
        <p:nvSpPr>
          <p:cNvPr id="25" name="文本框 24"/>
          <p:cNvSpPr txBox="1"/>
          <p:nvPr/>
        </p:nvSpPr>
        <p:spPr>
          <a:xfrm>
            <a:off x="2562225" y="4201795"/>
            <a:ext cx="650240" cy="711200"/>
          </a:xfrm>
          <a:prstGeom prst="rect">
            <a:avLst/>
          </a:prstGeom>
          <a:noFill/>
        </p:spPr>
        <p:txBody>
          <a:bodyPr wrap="square" rtlCol="0">
            <a:noAutofit/>
          </a:bodyPr>
          <a:p>
            <a:r>
              <a:rPr lang="zh-CN" altLang="en-US" sz="1360"/>
              <a:t>数值计算</a:t>
            </a:r>
            <a:endParaRPr lang="zh-CN" altLang="en-US" sz="1360"/>
          </a:p>
        </p:txBody>
      </p:sp>
      <p:sp>
        <p:nvSpPr>
          <p:cNvPr id="26" name="文本框 25"/>
          <p:cNvSpPr txBox="1"/>
          <p:nvPr/>
        </p:nvSpPr>
        <p:spPr>
          <a:xfrm>
            <a:off x="5563413" y="5147993"/>
            <a:ext cx="1531143" cy="552396"/>
          </a:xfrm>
          <a:prstGeom prst="rect">
            <a:avLst/>
          </a:prstGeom>
          <a:noFill/>
        </p:spPr>
        <p:txBody>
          <a:bodyPr wrap="square" rtlCol="0">
            <a:noAutofit/>
          </a:bodyPr>
          <a:p>
            <a:r>
              <a:rPr lang="zh-CN" altLang="en-US" sz="1360"/>
              <a:t>数值计算</a:t>
            </a:r>
            <a:endParaRPr lang="zh-CN" altLang="en-US" sz="1360"/>
          </a:p>
        </p:txBody>
      </p:sp>
      <p:sp>
        <p:nvSpPr>
          <p:cNvPr id="27" name="文本框 26"/>
          <p:cNvSpPr txBox="1"/>
          <p:nvPr/>
        </p:nvSpPr>
        <p:spPr>
          <a:xfrm>
            <a:off x="2263775" y="4942205"/>
            <a:ext cx="2919730" cy="718185"/>
          </a:xfrm>
          <a:prstGeom prst="rect">
            <a:avLst/>
          </a:prstGeom>
          <a:noFill/>
        </p:spPr>
        <p:txBody>
          <a:bodyPr wrap="square" rtlCol="0" anchor="t">
            <a:spAutoFit/>
          </a:bodyPr>
          <a:p>
            <a:pPr algn="l"/>
            <a:r>
              <a:rPr lang="en-US" altLang="zh-CN" sz="1360">
                <a:sym typeface="+mn-ea"/>
              </a:rPr>
              <a:t>[</a:t>
            </a:r>
            <a:r>
              <a:rPr lang="zh-CN" altLang="en-US" sz="1360">
                <a:sym typeface="+mn-ea"/>
              </a:rPr>
              <a:t>吸收热量</a:t>
            </a:r>
            <a:r>
              <a:rPr lang="en-US" altLang="zh-CN" sz="1360">
                <a:sym typeface="+mn-ea"/>
              </a:rPr>
              <a:t>] = ...... = 8.4*10^6 J</a:t>
            </a:r>
            <a:endParaRPr lang="en-US" altLang="zh-CN" sz="1360">
              <a:solidFill>
                <a:schemeClr val="tx1"/>
              </a:solidFill>
            </a:endParaRPr>
          </a:p>
          <a:p>
            <a:pPr algn="l"/>
            <a:r>
              <a:rPr lang="en-US" altLang="zh-CN" sz="1360">
                <a:sym typeface="+mn-ea"/>
              </a:rPr>
              <a:t>[</a:t>
            </a:r>
            <a:r>
              <a:rPr lang="zh-CN" altLang="en-US" sz="1360">
                <a:sym typeface="+mn-ea"/>
              </a:rPr>
              <a:t>升高温度</a:t>
            </a:r>
            <a:r>
              <a:rPr lang="en-US" altLang="zh-CN" sz="1360">
                <a:sym typeface="+mn-ea"/>
              </a:rPr>
              <a:t>] = ...... = 40 ℃</a:t>
            </a:r>
            <a:endParaRPr lang="en-US" altLang="zh-CN" sz="1360">
              <a:solidFill>
                <a:schemeClr val="tx1"/>
              </a:solidFill>
            </a:endParaRPr>
          </a:p>
          <a:p>
            <a:pPr algn="l"/>
            <a:r>
              <a:rPr lang="en-US" altLang="zh-CN" sz="1360">
                <a:sym typeface="+mn-ea"/>
              </a:rPr>
              <a:t>[</a:t>
            </a:r>
            <a:r>
              <a:rPr lang="zh-CN" altLang="en-US" sz="1360">
                <a:sym typeface="+mn-ea"/>
              </a:rPr>
              <a:t>最终温度</a:t>
            </a:r>
            <a:r>
              <a:rPr lang="en-US" altLang="zh-CN" sz="1360">
                <a:sym typeface="+mn-ea"/>
              </a:rPr>
              <a:t>] = 20℃ + 40℃ = 60 ℃</a:t>
            </a:r>
            <a:endParaRPr lang="en-US" altLang="zh-CN" sz="1360">
              <a:sym typeface="+mn-ea"/>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2679700" y="1025525"/>
            <a:ext cx="1401445" cy="753745"/>
          </a:xfrm>
          <a:prstGeom prst="roundRect">
            <a:avLst>
              <a:gd name="adj" fmla="val 38939"/>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流程图: 数据 7"/>
          <p:cNvSpPr/>
          <p:nvPr/>
        </p:nvSpPr>
        <p:spPr>
          <a:xfrm>
            <a:off x="2536190" y="2114550"/>
            <a:ext cx="1689100" cy="814705"/>
          </a:xfrm>
          <a:prstGeom prst="flowChartInputOutpu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流程图: 决策 9"/>
          <p:cNvSpPr/>
          <p:nvPr/>
        </p:nvSpPr>
        <p:spPr>
          <a:xfrm>
            <a:off x="5128895" y="3611245"/>
            <a:ext cx="1833245" cy="1126490"/>
          </a:xfrm>
          <a:prstGeom prst="flowChartDecision">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流程图: 过程 5"/>
          <p:cNvSpPr/>
          <p:nvPr/>
        </p:nvSpPr>
        <p:spPr>
          <a:xfrm>
            <a:off x="5215255" y="2128520"/>
            <a:ext cx="1761490" cy="958215"/>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流程图: 过程 6"/>
          <p:cNvSpPr/>
          <p:nvPr/>
        </p:nvSpPr>
        <p:spPr>
          <a:xfrm>
            <a:off x="7383145" y="2128520"/>
            <a:ext cx="1761490" cy="958215"/>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流程图: 过程 8"/>
          <p:cNvSpPr/>
          <p:nvPr/>
        </p:nvSpPr>
        <p:spPr>
          <a:xfrm>
            <a:off x="7383145" y="3779520"/>
            <a:ext cx="1761490" cy="954405"/>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流程图: 数据 10"/>
          <p:cNvSpPr/>
          <p:nvPr/>
        </p:nvSpPr>
        <p:spPr>
          <a:xfrm>
            <a:off x="2536190" y="3779520"/>
            <a:ext cx="1689100" cy="814705"/>
          </a:xfrm>
          <a:prstGeom prst="flowChartInputOutpu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2885440" y="1141095"/>
            <a:ext cx="990600" cy="460375"/>
          </a:xfrm>
          <a:prstGeom prst="rect">
            <a:avLst/>
          </a:prstGeom>
          <a:noFill/>
        </p:spPr>
        <p:txBody>
          <a:bodyPr wrap="square" rtlCol="0">
            <a:spAutoFit/>
          </a:bodyPr>
          <a:p>
            <a:r>
              <a:rPr lang="zh-CN" altLang="en-US" sz="2400"/>
              <a:t>开始</a:t>
            </a:r>
            <a:endParaRPr lang="zh-CN" altLang="en-US" sz="2400"/>
          </a:p>
        </p:txBody>
      </p:sp>
      <p:sp>
        <p:nvSpPr>
          <p:cNvPr id="18" name="文本框 17"/>
          <p:cNvSpPr txBox="1"/>
          <p:nvPr/>
        </p:nvSpPr>
        <p:spPr>
          <a:xfrm>
            <a:off x="2679700" y="2310765"/>
            <a:ext cx="1857375" cy="460375"/>
          </a:xfrm>
          <a:prstGeom prst="rect">
            <a:avLst/>
          </a:prstGeom>
          <a:noFill/>
        </p:spPr>
        <p:txBody>
          <a:bodyPr wrap="square" rtlCol="0">
            <a:spAutoFit/>
          </a:bodyPr>
          <a:p>
            <a:r>
              <a:rPr lang="zh-CN" altLang="en-US" sz="2400"/>
              <a:t>输入</a:t>
            </a:r>
            <a:r>
              <a:rPr lang="zh-CN" altLang="en-US" sz="2400"/>
              <a:t>数据</a:t>
            </a:r>
            <a:endParaRPr lang="zh-CN" altLang="en-US" sz="2400"/>
          </a:p>
        </p:txBody>
      </p:sp>
      <p:sp>
        <p:nvSpPr>
          <p:cNvPr id="19" name="文本框 18"/>
          <p:cNvSpPr txBox="1"/>
          <p:nvPr/>
        </p:nvSpPr>
        <p:spPr>
          <a:xfrm>
            <a:off x="2679700" y="3956685"/>
            <a:ext cx="1857375" cy="460375"/>
          </a:xfrm>
          <a:prstGeom prst="rect">
            <a:avLst/>
          </a:prstGeom>
          <a:noFill/>
        </p:spPr>
        <p:txBody>
          <a:bodyPr wrap="square" rtlCol="0">
            <a:spAutoFit/>
          </a:bodyPr>
          <a:p>
            <a:r>
              <a:rPr lang="zh-CN" altLang="en-US" sz="2400"/>
              <a:t>输</a:t>
            </a:r>
            <a:r>
              <a:rPr lang="zh-CN" altLang="en-US" sz="2400"/>
              <a:t>出数据</a:t>
            </a:r>
            <a:endParaRPr lang="zh-CN" altLang="en-US" sz="2400"/>
          </a:p>
        </p:txBody>
      </p:sp>
      <p:sp>
        <p:nvSpPr>
          <p:cNvPr id="20" name="文本框 19"/>
          <p:cNvSpPr txBox="1"/>
          <p:nvPr/>
        </p:nvSpPr>
        <p:spPr>
          <a:xfrm>
            <a:off x="5328920" y="2377440"/>
            <a:ext cx="1857375" cy="460375"/>
          </a:xfrm>
          <a:prstGeom prst="rect">
            <a:avLst/>
          </a:prstGeom>
          <a:noFill/>
        </p:spPr>
        <p:txBody>
          <a:bodyPr wrap="square" rtlCol="0">
            <a:spAutoFit/>
          </a:bodyPr>
          <a:p>
            <a:r>
              <a:rPr lang="zh-CN" altLang="en-US" sz="2400"/>
              <a:t>公式</a:t>
            </a:r>
            <a:r>
              <a:rPr lang="zh-CN" altLang="en-US" sz="2400"/>
              <a:t>生成</a:t>
            </a:r>
            <a:endParaRPr lang="zh-CN" altLang="en-US" sz="2400"/>
          </a:p>
        </p:txBody>
      </p:sp>
      <p:sp>
        <p:nvSpPr>
          <p:cNvPr id="22" name="文本框 21"/>
          <p:cNvSpPr txBox="1"/>
          <p:nvPr/>
        </p:nvSpPr>
        <p:spPr>
          <a:xfrm>
            <a:off x="7512685" y="2377440"/>
            <a:ext cx="1857375" cy="460375"/>
          </a:xfrm>
          <a:prstGeom prst="rect">
            <a:avLst/>
          </a:prstGeom>
          <a:noFill/>
        </p:spPr>
        <p:txBody>
          <a:bodyPr wrap="square" rtlCol="0">
            <a:spAutoFit/>
          </a:bodyPr>
          <a:p>
            <a:r>
              <a:rPr lang="zh-CN" altLang="en-US" sz="2400"/>
              <a:t>参数</a:t>
            </a:r>
            <a:r>
              <a:rPr lang="zh-CN" altLang="en-US" sz="2400"/>
              <a:t>识别</a:t>
            </a:r>
            <a:endParaRPr lang="zh-CN" altLang="en-US" sz="2400"/>
          </a:p>
        </p:txBody>
      </p:sp>
      <p:sp>
        <p:nvSpPr>
          <p:cNvPr id="23" name="文本框 22"/>
          <p:cNvSpPr txBox="1"/>
          <p:nvPr/>
        </p:nvSpPr>
        <p:spPr>
          <a:xfrm>
            <a:off x="7503160" y="4028440"/>
            <a:ext cx="1857375" cy="460375"/>
          </a:xfrm>
          <a:prstGeom prst="rect">
            <a:avLst/>
          </a:prstGeom>
          <a:noFill/>
        </p:spPr>
        <p:txBody>
          <a:bodyPr wrap="square" rtlCol="0">
            <a:spAutoFit/>
          </a:bodyPr>
          <a:p>
            <a:r>
              <a:rPr lang="zh-CN" altLang="en-US" sz="2400"/>
              <a:t>数值</a:t>
            </a:r>
            <a:r>
              <a:rPr lang="zh-CN" altLang="en-US" sz="2400"/>
              <a:t>计算</a:t>
            </a:r>
            <a:endParaRPr lang="zh-CN" altLang="en-US" sz="2400"/>
          </a:p>
        </p:txBody>
      </p:sp>
      <p:sp>
        <p:nvSpPr>
          <p:cNvPr id="29" name="文本框 28"/>
          <p:cNvSpPr txBox="1"/>
          <p:nvPr/>
        </p:nvSpPr>
        <p:spPr>
          <a:xfrm>
            <a:off x="5369560" y="3956685"/>
            <a:ext cx="1857375" cy="460375"/>
          </a:xfrm>
          <a:prstGeom prst="rect">
            <a:avLst/>
          </a:prstGeom>
          <a:noFill/>
        </p:spPr>
        <p:txBody>
          <a:bodyPr wrap="square" rtlCol="0">
            <a:spAutoFit/>
          </a:bodyPr>
          <a:p>
            <a:r>
              <a:rPr lang="zh-CN" altLang="en-US" sz="2400"/>
              <a:t>是否</a:t>
            </a:r>
            <a:r>
              <a:rPr lang="zh-CN" altLang="en-US" sz="2400"/>
              <a:t>完成</a:t>
            </a:r>
            <a:endParaRPr lang="zh-CN" altLang="en-US" sz="2400"/>
          </a:p>
        </p:txBody>
      </p:sp>
      <p:cxnSp>
        <p:nvCxnSpPr>
          <p:cNvPr id="31" name="直接箭头连接符 30"/>
          <p:cNvCxnSpPr>
            <a:stCxn id="5" idx="2"/>
            <a:endCxn id="8" idx="1"/>
          </p:cNvCxnSpPr>
          <p:nvPr/>
        </p:nvCxnSpPr>
        <p:spPr>
          <a:xfrm>
            <a:off x="3380740" y="1779270"/>
            <a:ext cx="0" cy="33528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2" name="直接箭头连接符 31"/>
          <p:cNvCxnSpPr/>
          <p:nvPr/>
        </p:nvCxnSpPr>
        <p:spPr>
          <a:xfrm>
            <a:off x="4053840" y="2581275"/>
            <a:ext cx="1179195"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p:nvPr/>
        </p:nvCxnSpPr>
        <p:spPr>
          <a:xfrm>
            <a:off x="6976745" y="2587625"/>
            <a:ext cx="433070"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4" name="直接箭头连接符 33"/>
          <p:cNvCxnSpPr>
            <a:endCxn id="9" idx="0"/>
          </p:cNvCxnSpPr>
          <p:nvPr/>
        </p:nvCxnSpPr>
        <p:spPr>
          <a:xfrm>
            <a:off x="8261350" y="3097530"/>
            <a:ext cx="2540" cy="68199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6" name="直接箭头连接符 35"/>
          <p:cNvCxnSpPr/>
          <p:nvPr/>
        </p:nvCxnSpPr>
        <p:spPr>
          <a:xfrm flipH="1">
            <a:off x="6944995" y="4186555"/>
            <a:ext cx="419735"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7" name="直接箭头连接符 36"/>
          <p:cNvCxnSpPr/>
          <p:nvPr/>
        </p:nvCxnSpPr>
        <p:spPr>
          <a:xfrm flipV="1">
            <a:off x="6038215" y="3077210"/>
            <a:ext cx="10160" cy="51943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8" name="直接箭头连接符 37"/>
          <p:cNvCxnSpPr/>
          <p:nvPr/>
        </p:nvCxnSpPr>
        <p:spPr>
          <a:xfrm flipH="1" flipV="1">
            <a:off x="4042410" y="4175125"/>
            <a:ext cx="1068070" cy="1143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9" name="文本框 38"/>
          <p:cNvSpPr txBox="1"/>
          <p:nvPr/>
        </p:nvSpPr>
        <p:spPr>
          <a:xfrm>
            <a:off x="4537075" y="3818255"/>
            <a:ext cx="469265" cy="368300"/>
          </a:xfrm>
          <a:prstGeom prst="rect">
            <a:avLst/>
          </a:prstGeom>
          <a:noFill/>
        </p:spPr>
        <p:txBody>
          <a:bodyPr wrap="square" rtlCol="0">
            <a:spAutoFit/>
          </a:bodyPr>
          <a:p>
            <a:r>
              <a:rPr lang="zh-CN" altLang="en-US"/>
              <a:t>是</a:t>
            </a:r>
            <a:endParaRPr lang="zh-CN" altLang="en-US"/>
          </a:p>
        </p:txBody>
      </p:sp>
      <p:sp>
        <p:nvSpPr>
          <p:cNvPr id="40" name="文本框 39"/>
          <p:cNvSpPr txBox="1"/>
          <p:nvPr/>
        </p:nvSpPr>
        <p:spPr>
          <a:xfrm>
            <a:off x="5568950" y="3242945"/>
            <a:ext cx="469265" cy="368300"/>
          </a:xfrm>
          <a:prstGeom prst="rect">
            <a:avLst/>
          </a:prstGeom>
          <a:noFill/>
        </p:spPr>
        <p:txBody>
          <a:bodyPr wrap="square" rtlCol="0">
            <a:spAutoFit/>
          </a:bodyPr>
          <a:p>
            <a:r>
              <a:rPr lang="zh-CN" altLang="en-US"/>
              <a:t>否</a:t>
            </a:r>
            <a:endParaRPr lang="zh-CN" altLang="en-US"/>
          </a:p>
        </p:txBody>
      </p:sp>
      <p:pic>
        <p:nvPicPr>
          <p:cNvPr id="49" name="图片 48" descr="大模型专家"/>
          <p:cNvPicPr>
            <a:picLocks noChangeAspect="1"/>
          </p:cNvPicPr>
          <p:nvPr/>
        </p:nvPicPr>
        <p:blipFill>
          <a:blip r:embed="rId1"/>
          <a:stretch>
            <a:fillRect/>
          </a:stretch>
        </p:blipFill>
        <p:spPr>
          <a:xfrm>
            <a:off x="6574790" y="2134235"/>
            <a:ext cx="408305" cy="408305"/>
          </a:xfrm>
          <a:prstGeom prst="rect">
            <a:avLst/>
          </a:prstGeom>
        </p:spPr>
      </p:pic>
      <p:pic>
        <p:nvPicPr>
          <p:cNvPr id="50" name="图片 49" descr="大模型专家"/>
          <p:cNvPicPr>
            <a:picLocks noChangeAspect="1"/>
          </p:cNvPicPr>
          <p:nvPr/>
        </p:nvPicPr>
        <p:blipFill>
          <a:blip r:embed="rId1"/>
          <a:stretch>
            <a:fillRect/>
          </a:stretch>
        </p:blipFill>
        <p:spPr>
          <a:xfrm>
            <a:off x="8736330" y="2134235"/>
            <a:ext cx="408305" cy="408305"/>
          </a:xfrm>
          <a:prstGeom prst="rect">
            <a:avLst/>
          </a:prstGeom>
        </p:spPr>
      </p:pic>
      <p:pic>
        <p:nvPicPr>
          <p:cNvPr id="51" name="图片 50" descr="计算器"/>
          <p:cNvPicPr>
            <a:picLocks noChangeAspect="1"/>
          </p:cNvPicPr>
          <p:nvPr/>
        </p:nvPicPr>
        <p:blipFill>
          <a:blip r:embed="rId2"/>
          <a:stretch>
            <a:fillRect/>
          </a:stretch>
        </p:blipFill>
        <p:spPr>
          <a:xfrm flipH="1">
            <a:off x="8736330" y="3779520"/>
            <a:ext cx="396240" cy="396240"/>
          </a:xfrm>
          <a:prstGeom prst="rect">
            <a:avLst/>
          </a:prstGeom>
        </p:spPr>
      </p:pic>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流程图: 数据 7"/>
          <p:cNvSpPr/>
          <p:nvPr/>
        </p:nvSpPr>
        <p:spPr>
          <a:xfrm>
            <a:off x="1520190" y="2503170"/>
            <a:ext cx="1689100" cy="814705"/>
          </a:xfrm>
          <a:prstGeom prst="flowChartInputOutpu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流程图: 过程 5"/>
          <p:cNvSpPr/>
          <p:nvPr/>
        </p:nvSpPr>
        <p:spPr>
          <a:xfrm>
            <a:off x="4184650" y="2527935"/>
            <a:ext cx="1761490" cy="958215"/>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流程图: 过程 6"/>
          <p:cNvSpPr/>
          <p:nvPr/>
        </p:nvSpPr>
        <p:spPr>
          <a:xfrm>
            <a:off x="6367145" y="2517140"/>
            <a:ext cx="1761490" cy="958215"/>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1663700" y="2699385"/>
            <a:ext cx="1857375" cy="460375"/>
          </a:xfrm>
          <a:prstGeom prst="rect">
            <a:avLst/>
          </a:prstGeom>
          <a:noFill/>
        </p:spPr>
        <p:txBody>
          <a:bodyPr wrap="square" rtlCol="0">
            <a:spAutoFit/>
          </a:bodyPr>
          <a:p>
            <a:r>
              <a:rPr lang="zh-CN" altLang="en-US" sz="2400">
                <a:sym typeface="+mn-ea"/>
              </a:rPr>
              <a:t>输入数据</a:t>
            </a:r>
            <a:endParaRPr lang="zh-CN" altLang="en-US" sz="2400"/>
          </a:p>
        </p:txBody>
      </p:sp>
      <p:cxnSp>
        <p:nvCxnSpPr>
          <p:cNvPr id="32" name="直接箭头连接符 31"/>
          <p:cNvCxnSpPr/>
          <p:nvPr/>
        </p:nvCxnSpPr>
        <p:spPr>
          <a:xfrm>
            <a:off x="3037840" y="2969895"/>
            <a:ext cx="1179195"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a:stCxn id="6" idx="2"/>
            <a:endCxn id="24" idx="1"/>
          </p:cNvCxnSpPr>
          <p:nvPr/>
        </p:nvCxnSpPr>
        <p:spPr>
          <a:xfrm flipH="1">
            <a:off x="5061585" y="3486150"/>
            <a:ext cx="3810" cy="7410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4" name="直接箭头连接符 33"/>
          <p:cNvCxnSpPr>
            <a:stCxn id="24" idx="5"/>
          </p:cNvCxnSpPr>
          <p:nvPr/>
        </p:nvCxnSpPr>
        <p:spPr>
          <a:xfrm flipV="1">
            <a:off x="5737225" y="2929890"/>
            <a:ext cx="640715" cy="170497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pic>
        <p:nvPicPr>
          <p:cNvPr id="49" name="图片 48" descr="大模型专家"/>
          <p:cNvPicPr>
            <a:picLocks noChangeAspect="1"/>
          </p:cNvPicPr>
          <p:nvPr/>
        </p:nvPicPr>
        <p:blipFill>
          <a:blip r:embed="rId1"/>
          <a:stretch>
            <a:fillRect/>
          </a:stretch>
        </p:blipFill>
        <p:spPr>
          <a:xfrm>
            <a:off x="5542915" y="2526030"/>
            <a:ext cx="408305" cy="408305"/>
          </a:xfrm>
          <a:prstGeom prst="rect">
            <a:avLst/>
          </a:prstGeom>
        </p:spPr>
      </p:pic>
      <p:pic>
        <p:nvPicPr>
          <p:cNvPr id="50" name="图片 49" descr="大模型专家"/>
          <p:cNvPicPr>
            <a:picLocks noChangeAspect="1"/>
          </p:cNvPicPr>
          <p:nvPr/>
        </p:nvPicPr>
        <p:blipFill>
          <a:blip r:embed="rId1"/>
          <a:stretch>
            <a:fillRect/>
          </a:stretch>
        </p:blipFill>
        <p:spPr>
          <a:xfrm>
            <a:off x="7720330" y="2522855"/>
            <a:ext cx="408305" cy="408305"/>
          </a:xfrm>
          <a:prstGeom prst="rect">
            <a:avLst/>
          </a:prstGeom>
        </p:spPr>
      </p:pic>
      <p:sp>
        <p:nvSpPr>
          <p:cNvPr id="2" name="流程图: 数据 1"/>
          <p:cNvSpPr/>
          <p:nvPr/>
        </p:nvSpPr>
        <p:spPr>
          <a:xfrm>
            <a:off x="1520190" y="930275"/>
            <a:ext cx="1689100" cy="814705"/>
          </a:xfrm>
          <a:prstGeom prst="flowChartInputOutpu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5" name="流程图: 数据 14"/>
          <p:cNvSpPr/>
          <p:nvPr/>
        </p:nvSpPr>
        <p:spPr>
          <a:xfrm>
            <a:off x="4192905" y="930275"/>
            <a:ext cx="1689100" cy="814705"/>
          </a:xfrm>
          <a:prstGeom prst="flowChartInputOutpu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7" name="流程图: 数据 16"/>
          <p:cNvSpPr/>
          <p:nvPr/>
        </p:nvSpPr>
        <p:spPr>
          <a:xfrm>
            <a:off x="6407785" y="930275"/>
            <a:ext cx="1689100" cy="814705"/>
          </a:xfrm>
          <a:prstGeom prst="flowChartInputOutpu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4" name="流程图: 数据 23"/>
          <p:cNvSpPr/>
          <p:nvPr/>
        </p:nvSpPr>
        <p:spPr>
          <a:xfrm>
            <a:off x="4217035" y="4227195"/>
            <a:ext cx="1689100" cy="814705"/>
          </a:xfrm>
          <a:prstGeom prst="flowChartInputOutpu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5" name="流程图: 数据 24"/>
          <p:cNvSpPr/>
          <p:nvPr/>
        </p:nvSpPr>
        <p:spPr>
          <a:xfrm>
            <a:off x="6393815" y="4227195"/>
            <a:ext cx="1689100" cy="814705"/>
          </a:xfrm>
          <a:prstGeom prst="flowChartInputOutpu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cxnSp>
        <p:nvCxnSpPr>
          <p:cNvPr id="26" name="直接箭头连接符 25"/>
          <p:cNvCxnSpPr>
            <a:stCxn id="7" idx="2"/>
            <a:endCxn id="25" idx="1"/>
          </p:cNvCxnSpPr>
          <p:nvPr/>
        </p:nvCxnSpPr>
        <p:spPr>
          <a:xfrm flipH="1">
            <a:off x="7238365" y="3475355"/>
            <a:ext cx="9525" cy="75184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7" name="流程图: 过程 26"/>
          <p:cNvSpPr/>
          <p:nvPr/>
        </p:nvSpPr>
        <p:spPr>
          <a:xfrm>
            <a:off x="4184650" y="5779770"/>
            <a:ext cx="1761490" cy="954405"/>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0" name="图片 29" descr="计算器"/>
          <p:cNvPicPr>
            <a:picLocks noChangeAspect="1"/>
          </p:cNvPicPr>
          <p:nvPr/>
        </p:nvPicPr>
        <p:blipFill>
          <a:blip r:embed="rId2"/>
          <a:stretch>
            <a:fillRect/>
          </a:stretch>
        </p:blipFill>
        <p:spPr>
          <a:xfrm flipH="1">
            <a:off x="5600065" y="5760085"/>
            <a:ext cx="396240" cy="396240"/>
          </a:xfrm>
          <a:prstGeom prst="rect">
            <a:avLst/>
          </a:prstGeom>
        </p:spPr>
      </p:pic>
      <p:sp>
        <p:nvSpPr>
          <p:cNvPr id="35" name="流程图: 数据 34"/>
          <p:cNvSpPr/>
          <p:nvPr/>
        </p:nvSpPr>
        <p:spPr>
          <a:xfrm>
            <a:off x="6832600" y="5839460"/>
            <a:ext cx="1689100" cy="814705"/>
          </a:xfrm>
          <a:prstGeom prst="flowChartInputOutpu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cxnSp>
        <p:nvCxnSpPr>
          <p:cNvPr id="41" name="直接箭头连接符 40"/>
          <p:cNvCxnSpPr>
            <a:stCxn id="24" idx="4"/>
            <a:endCxn id="27" idx="0"/>
          </p:cNvCxnSpPr>
          <p:nvPr/>
        </p:nvCxnSpPr>
        <p:spPr>
          <a:xfrm>
            <a:off x="5061585" y="5041900"/>
            <a:ext cx="3810" cy="73787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stCxn id="25" idx="4"/>
            <a:endCxn id="27" idx="0"/>
          </p:cNvCxnSpPr>
          <p:nvPr/>
        </p:nvCxnSpPr>
        <p:spPr>
          <a:xfrm flipH="1">
            <a:off x="5065395" y="5041900"/>
            <a:ext cx="2172970" cy="73787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stCxn id="27" idx="3"/>
            <a:endCxn id="35" idx="2"/>
          </p:cNvCxnSpPr>
          <p:nvPr/>
        </p:nvCxnSpPr>
        <p:spPr>
          <a:xfrm flipV="1">
            <a:off x="5946140" y="6247130"/>
            <a:ext cx="1055370" cy="1016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7001510" y="6016625"/>
            <a:ext cx="1857375" cy="460375"/>
          </a:xfrm>
          <a:prstGeom prst="rect">
            <a:avLst/>
          </a:prstGeom>
          <a:noFill/>
        </p:spPr>
        <p:txBody>
          <a:bodyPr wrap="square" rtlCol="0">
            <a:spAutoFit/>
          </a:bodyPr>
          <a:p>
            <a:r>
              <a:rPr lang="zh-CN" altLang="en-US" sz="2400">
                <a:sym typeface="+mn-ea"/>
              </a:rPr>
              <a:t>输</a:t>
            </a:r>
            <a:r>
              <a:rPr lang="zh-CN" altLang="en-US" sz="2400">
                <a:sym typeface="+mn-ea"/>
              </a:rPr>
              <a:t>出数据</a:t>
            </a:r>
            <a:endParaRPr lang="zh-CN" altLang="en-US" sz="2400"/>
          </a:p>
        </p:txBody>
      </p:sp>
      <p:sp>
        <p:nvSpPr>
          <p:cNvPr id="45" name="文本框 44"/>
          <p:cNvSpPr txBox="1"/>
          <p:nvPr/>
        </p:nvSpPr>
        <p:spPr>
          <a:xfrm>
            <a:off x="4192905" y="2626360"/>
            <a:ext cx="1407160" cy="829945"/>
          </a:xfrm>
          <a:prstGeom prst="rect">
            <a:avLst/>
          </a:prstGeom>
          <a:noFill/>
        </p:spPr>
        <p:txBody>
          <a:bodyPr wrap="square" rtlCol="0">
            <a:spAutoFit/>
          </a:bodyPr>
          <a:p>
            <a:pPr algn="ctr"/>
            <a:r>
              <a:rPr lang="zh-CN" altLang="en-US" sz="2400">
                <a:sym typeface="+mn-ea"/>
              </a:rPr>
              <a:t>公式生成</a:t>
            </a:r>
            <a:r>
              <a:rPr lang="zh-CN" altLang="en-US" sz="2400">
                <a:sym typeface="+mn-ea"/>
              </a:rPr>
              <a:t>模型</a:t>
            </a:r>
            <a:endParaRPr lang="zh-CN" altLang="en-US" sz="2400"/>
          </a:p>
        </p:txBody>
      </p:sp>
      <p:sp>
        <p:nvSpPr>
          <p:cNvPr id="46" name="文本框 45"/>
          <p:cNvSpPr txBox="1"/>
          <p:nvPr/>
        </p:nvSpPr>
        <p:spPr>
          <a:xfrm>
            <a:off x="6407785" y="2599690"/>
            <a:ext cx="1407160" cy="829945"/>
          </a:xfrm>
          <a:prstGeom prst="rect">
            <a:avLst/>
          </a:prstGeom>
          <a:noFill/>
        </p:spPr>
        <p:txBody>
          <a:bodyPr wrap="square" rtlCol="0">
            <a:spAutoFit/>
          </a:bodyPr>
          <a:p>
            <a:pPr algn="ctr"/>
            <a:r>
              <a:rPr lang="zh-CN" altLang="en-US" sz="2400">
                <a:sym typeface="+mn-ea"/>
              </a:rPr>
              <a:t>参数</a:t>
            </a:r>
            <a:r>
              <a:rPr lang="zh-CN" altLang="en-US" sz="2400">
                <a:sym typeface="+mn-ea"/>
              </a:rPr>
              <a:t>识别模型</a:t>
            </a:r>
            <a:endParaRPr lang="zh-CN" altLang="en-US" sz="2400"/>
          </a:p>
        </p:txBody>
      </p:sp>
      <p:sp>
        <p:nvSpPr>
          <p:cNvPr id="47" name="文本框 46"/>
          <p:cNvSpPr txBox="1"/>
          <p:nvPr/>
        </p:nvSpPr>
        <p:spPr>
          <a:xfrm>
            <a:off x="4418965" y="4227195"/>
            <a:ext cx="1407160" cy="829945"/>
          </a:xfrm>
          <a:prstGeom prst="rect">
            <a:avLst/>
          </a:prstGeom>
          <a:noFill/>
        </p:spPr>
        <p:txBody>
          <a:bodyPr wrap="square" rtlCol="0">
            <a:spAutoFit/>
          </a:bodyPr>
          <a:p>
            <a:pPr algn="ctr"/>
            <a:r>
              <a:rPr lang="zh-CN" altLang="en-US" sz="2400"/>
              <a:t>题目相关</a:t>
            </a:r>
            <a:r>
              <a:rPr lang="zh-CN" altLang="en-US" sz="2400"/>
              <a:t>公式</a:t>
            </a:r>
            <a:endParaRPr lang="zh-CN" altLang="en-US" sz="2400"/>
          </a:p>
        </p:txBody>
      </p:sp>
      <p:sp>
        <p:nvSpPr>
          <p:cNvPr id="48" name="文本框 47"/>
          <p:cNvSpPr txBox="1"/>
          <p:nvPr/>
        </p:nvSpPr>
        <p:spPr>
          <a:xfrm>
            <a:off x="6572885" y="4242435"/>
            <a:ext cx="1407160" cy="829945"/>
          </a:xfrm>
          <a:prstGeom prst="rect">
            <a:avLst/>
          </a:prstGeom>
          <a:noFill/>
        </p:spPr>
        <p:txBody>
          <a:bodyPr wrap="square" rtlCol="0">
            <a:spAutoFit/>
          </a:bodyPr>
          <a:p>
            <a:pPr algn="ctr"/>
            <a:r>
              <a:rPr lang="zh-CN" altLang="en-US" sz="2400">
                <a:sym typeface="+mn-ea"/>
              </a:rPr>
              <a:t>题目相关</a:t>
            </a:r>
            <a:r>
              <a:rPr lang="zh-CN" altLang="en-US" sz="2400">
                <a:sym typeface="+mn-ea"/>
              </a:rPr>
              <a:t>参数</a:t>
            </a:r>
            <a:endParaRPr lang="zh-CN" altLang="en-US" sz="2400"/>
          </a:p>
        </p:txBody>
      </p:sp>
      <p:sp>
        <p:nvSpPr>
          <p:cNvPr id="55" name="文本框 54"/>
          <p:cNvSpPr txBox="1"/>
          <p:nvPr/>
        </p:nvSpPr>
        <p:spPr>
          <a:xfrm>
            <a:off x="4387215" y="5828030"/>
            <a:ext cx="1212850" cy="829945"/>
          </a:xfrm>
          <a:prstGeom prst="rect">
            <a:avLst/>
          </a:prstGeom>
          <a:noFill/>
        </p:spPr>
        <p:txBody>
          <a:bodyPr wrap="square" rtlCol="0">
            <a:spAutoFit/>
          </a:bodyPr>
          <a:p>
            <a:pPr algn="ctr"/>
            <a:r>
              <a:rPr lang="zh-CN" altLang="en-US" sz="2400"/>
              <a:t>公式</a:t>
            </a:r>
            <a:endParaRPr lang="zh-CN" altLang="en-US" sz="2400"/>
          </a:p>
          <a:p>
            <a:pPr algn="ctr"/>
            <a:r>
              <a:rPr lang="zh-CN" altLang="en-US" sz="2400"/>
              <a:t>计算器</a:t>
            </a:r>
            <a:endParaRPr lang="zh-CN" altLang="en-US" sz="2400"/>
          </a:p>
        </p:txBody>
      </p:sp>
      <p:sp>
        <p:nvSpPr>
          <p:cNvPr id="56" name="文本框 55"/>
          <p:cNvSpPr txBox="1"/>
          <p:nvPr/>
        </p:nvSpPr>
        <p:spPr>
          <a:xfrm>
            <a:off x="4474845" y="3665220"/>
            <a:ext cx="946785" cy="368300"/>
          </a:xfrm>
          <a:prstGeom prst="rect">
            <a:avLst/>
          </a:prstGeom>
          <a:noFill/>
        </p:spPr>
        <p:txBody>
          <a:bodyPr wrap="square" rtlCol="0">
            <a:spAutoFit/>
          </a:bodyPr>
          <a:p>
            <a:r>
              <a:rPr lang="zh-CN" altLang="en-US"/>
              <a:t>预测</a:t>
            </a:r>
            <a:endParaRPr lang="zh-CN" altLang="en-US"/>
          </a:p>
        </p:txBody>
      </p:sp>
      <p:sp>
        <p:nvSpPr>
          <p:cNvPr id="57" name="文本框 56"/>
          <p:cNvSpPr txBox="1"/>
          <p:nvPr/>
        </p:nvSpPr>
        <p:spPr>
          <a:xfrm>
            <a:off x="6670675" y="3666490"/>
            <a:ext cx="946785" cy="368300"/>
          </a:xfrm>
          <a:prstGeom prst="rect">
            <a:avLst/>
          </a:prstGeom>
          <a:noFill/>
        </p:spPr>
        <p:txBody>
          <a:bodyPr wrap="square" rtlCol="0">
            <a:spAutoFit/>
          </a:bodyPr>
          <a:p>
            <a:r>
              <a:rPr lang="zh-CN" altLang="en-US"/>
              <a:t>预测</a:t>
            </a:r>
            <a:endParaRPr lang="zh-CN" altLang="en-US"/>
          </a:p>
        </p:txBody>
      </p:sp>
      <p:sp>
        <p:nvSpPr>
          <p:cNvPr id="58" name="文本框 57"/>
          <p:cNvSpPr txBox="1"/>
          <p:nvPr/>
        </p:nvSpPr>
        <p:spPr>
          <a:xfrm>
            <a:off x="6667500" y="1932940"/>
            <a:ext cx="946785" cy="368300"/>
          </a:xfrm>
          <a:prstGeom prst="rect">
            <a:avLst/>
          </a:prstGeom>
          <a:noFill/>
        </p:spPr>
        <p:txBody>
          <a:bodyPr wrap="square" rtlCol="0">
            <a:spAutoFit/>
          </a:bodyPr>
          <a:p>
            <a:r>
              <a:rPr lang="zh-CN" altLang="en-US"/>
              <a:t>训练</a:t>
            </a:r>
            <a:endParaRPr lang="zh-CN" altLang="en-US"/>
          </a:p>
        </p:txBody>
      </p:sp>
      <p:cxnSp>
        <p:nvCxnSpPr>
          <p:cNvPr id="59" name="肘形连接符 58"/>
          <p:cNvCxnSpPr/>
          <p:nvPr/>
        </p:nvCxnSpPr>
        <p:spPr>
          <a:xfrm rot="16200000" flipH="1">
            <a:off x="3785235" y="-321310"/>
            <a:ext cx="3175" cy="2503805"/>
          </a:xfrm>
          <a:prstGeom prst="bentConnector3">
            <a:avLst>
              <a:gd name="adj1" fmla="val -7460000"/>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61" name="肘形连接符 60"/>
          <p:cNvCxnSpPr>
            <a:stCxn id="2" idx="0"/>
            <a:endCxn id="17" idx="1"/>
          </p:cNvCxnSpPr>
          <p:nvPr/>
        </p:nvCxnSpPr>
        <p:spPr>
          <a:xfrm rot="16200000" flipH="1">
            <a:off x="4892675" y="-1428750"/>
            <a:ext cx="3175" cy="4718685"/>
          </a:xfrm>
          <a:prstGeom prst="bentConnector3">
            <a:avLst>
              <a:gd name="adj1" fmla="val -7460000"/>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1849120" y="932180"/>
            <a:ext cx="1374140" cy="829945"/>
          </a:xfrm>
          <a:prstGeom prst="rect">
            <a:avLst/>
          </a:prstGeom>
          <a:noFill/>
        </p:spPr>
        <p:txBody>
          <a:bodyPr wrap="square" rtlCol="0">
            <a:spAutoFit/>
          </a:bodyPr>
          <a:p>
            <a:r>
              <a:rPr lang="zh-CN" altLang="en-US" sz="2400">
                <a:sym typeface="+mn-ea"/>
              </a:rPr>
              <a:t>训练</a:t>
            </a:r>
            <a:r>
              <a:rPr lang="zh-CN" altLang="en-US" sz="2400">
                <a:sym typeface="+mn-ea"/>
              </a:rPr>
              <a:t>数据集</a:t>
            </a:r>
            <a:endParaRPr lang="zh-CN" altLang="en-US" sz="2400"/>
          </a:p>
        </p:txBody>
      </p:sp>
      <p:sp>
        <p:nvSpPr>
          <p:cNvPr id="63" name="文本框 62"/>
          <p:cNvSpPr txBox="1"/>
          <p:nvPr/>
        </p:nvSpPr>
        <p:spPr>
          <a:xfrm>
            <a:off x="4436110" y="932180"/>
            <a:ext cx="1374140" cy="829945"/>
          </a:xfrm>
          <a:prstGeom prst="rect">
            <a:avLst/>
          </a:prstGeom>
          <a:noFill/>
        </p:spPr>
        <p:txBody>
          <a:bodyPr wrap="square" rtlCol="0">
            <a:spAutoFit/>
          </a:bodyPr>
          <a:p>
            <a:r>
              <a:rPr lang="zh-CN" altLang="en-US" sz="2400">
                <a:sym typeface="+mn-ea"/>
              </a:rPr>
              <a:t>公式数据集</a:t>
            </a:r>
            <a:endParaRPr lang="zh-CN" altLang="en-US" sz="2400"/>
          </a:p>
        </p:txBody>
      </p:sp>
      <p:sp>
        <p:nvSpPr>
          <p:cNvPr id="64" name="文本框 63"/>
          <p:cNvSpPr txBox="1"/>
          <p:nvPr/>
        </p:nvSpPr>
        <p:spPr>
          <a:xfrm>
            <a:off x="6674485" y="932180"/>
            <a:ext cx="1374140" cy="829945"/>
          </a:xfrm>
          <a:prstGeom prst="rect">
            <a:avLst/>
          </a:prstGeom>
          <a:noFill/>
        </p:spPr>
        <p:txBody>
          <a:bodyPr wrap="square" rtlCol="0">
            <a:spAutoFit/>
          </a:bodyPr>
          <a:p>
            <a:r>
              <a:rPr lang="zh-CN" altLang="en-US" sz="2400">
                <a:sym typeface="+mn-ea"/>
              </a:rPr>
              <a:t>参数数据集</a:t>
            </a:r>
            <a:endParaRPr lang="zh-CN" altLang="en-US" sz="2400"/>
          </a:p>
        </p:txBody>
      </p:sp>
      <p:cxnSp>
        <p:nvCxnSpPr>
          <p:cNvPr id="66" name="直接箭头连接符 65"/>
          <p:cNvCxnSpPr/>
          <p:nvPr/>
        </p:nvCxnSpPr>
        <p:spPr>
          <a:xfrm>
            <a:off x="5039360" y="1790065"/>
            <a:ext cx="11430" cy="76200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67" name="直接箭头连接符 66"/>
          <p:cNvCxnSpPr/>
          <p:nvPr/>
        </p:nvCxnSpPr>
        <p:spPr>
          <a:xfrm>
            <a:off x="7253605" y="1736090"/>
            <a:ext cx="11430" cy="76200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68" name="文本框 67"/>
          <p:cNvSpPr txBox="1"/>
          <p:nvPr/>
        </p:nvSpPr>
        <p:spPr>
          <a:xfrm>
            <a:off x="4463415" y="1951990"/>
            <a:ext cx="946785" cy="368300"/>
          </a:xfrm>
          <a:prstGeom prst="rect">
            <a:avLst/>
          </a:prstGeom>
          <a:noFill/>
        </p:spPr>
        <p:txBody>
          <a:bodyPr wrap="square" rtlCol="0">
            <a:spAutoFit/>
          </a:bodyPr>
          <a:p>
            <a:r>
              <a:rPr lang="zh-CN" altLang="en-US"/>
              <a:t>训练</a:t>
            </a:r>
            <a:endParaRPr lang="zh-CN" altLang="en-US"/>
          </a:p>
        </p:txBody>
      </p:sp>
      <p:sp>
        <p:nvSpPr>
          <p:cNvPr id="69" name="文本框 68"/>
          <p:cNvSpPr txBox="1"/>
          <p:nvPr/>
        </p:nvSpPr>
        <p:spPr>
          <a:xfrm>
            <a:off x="4001770" y="247015"/>
            <a:ext cx="1807845" cy="368300"/>
          </a:xfrm>
          <a:prstGeom prst="rect">
            <a:avLst/>
          </a:prstGeom>
          <a:noFill/>
        </p:spPr>
        <p:txBody>
          <a:bodyPr wrap="square" rtlCol="0">
            <a:spAutoFit/>
          </a:bodyPr>
          <a:p>
            <a:r>
              <a:rPr lang="zh-CN" altLang="en-US"/>
              <a:t>公式知识</a:t>
            </a:r>
            <a:r>
              <a:rPr lang="zh-CN" altLang="en-US"/>
              <a:t>标注</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967990" y="1898015"/>
            <a:ext cx="2559050" cy="561340"/>
          </a:xfrm>
          <a:prstGeom prst="rect">
            <a:avLst/>
          </a:prstGeom>
          <a:noFill/>
        </p:spPr>
        <p:txBody>
          <a:bodyPr wrap="square" rtlCol="0" anchor="t">
            <a:noAutofit/>
          </a:bodyPr>
          <a:p>
            <a:r>
              <a:rPr lang="en-US" altLang="zh-CN">
                <a:sym typeface="+mn-ea"/>
              </a:rPr>
              <a:t>[</a:t>
            </a:r>
            <a:r>
              <a:rPr lang="zh-CN" altLang="en-US">
                <a:sym typeface="+mn-ea"/>
              </a:rPr>
              <a:t>体积</a:t>
            </a:r>
            <a:r>
              <a:rPr lang="en-US" altLang="zh-CN">
                <a:sym typeface="+mn-ea"/>
              </a:rPr>
              <a:t>] </a:t>
            </a:r>
            <a:r>
              <a:rPr lang="en-US" altLang="zh-CN">
                <a:solidFill>
                  <a:schemeClr val="tx1"/>
                </a:solidFill>
                <a:sym typeface="+mn-ea"/>
              </a:rPr>
              <a:t>= </a:t>
            </a:r>
            <a:r>
              <a:rPr lang="en-US" altLang="zh-CN">
                <a:sym typeface="+mn-ea"/>
              </a:rPr>
              <a:t>[</a:t>
            </a:r>
            <a:r>
              <a:rPr lang="zh-CN" altLang="en-US">
                <a:sym typeface="+mn-ea"/>
              </a:rPr>
              <a:t>质量</a:t>
            </a:r>
            <a:r>
              <a:rPr lang="en-US" altLang="zh-CN">
                <a:sym typeface="+mn-ea"/>
              </a:rPr>
              <a:t>] / </a:t>
            </a:r>
            <a:r>
              <a:rPr lang="en-US" altLang="zh-CN">
                <a:solidFill>
                  <a:schemeClr val="tx1"/>
                </a:solidFill>
                <a:sym typeface="+mn-ea"/>
              </a:rPr>
              <a:t>[</a:t>
            </a:r>
            <a:r>
              <a:rPr lang="zh-CN" altLang="en-US">
                <a:solidFill>
                  <a:schemeClr val="tx1"/>
                </a:solidFill>
                <a:sym typeface="+mn-ea"/>
              </a:rPr>
              <a:t>密度</a:t>
            </a:r>
            <a:r>
              <a:rPr lang="en-US" altLang="zh-CN">
                <a:solidFill>
                  <a:schemeClr val="tx1"/>
                </a:solidFill>
                <a:sym typeface="+mn-ea"/>
              </a:rPr>
              <a:t>]</a:t>
            </a:r>
            <a:endParaRPr lang="en-US" altLang="zh-CN">
              <a:solidFill>
                <a:schemeClr val="tx1"/>
              </a:solidFill>
              <a:sym typeface="+mn-ea"/>
            </a:endParaRPr>
          </a:p>
        </p:txBody>
      </p:sp>
      <p:sp>
        <p:nvSpPr>
          <p:cNvPr id="25" name="文本框 24"/>
          <p:cNvSpPr txBox="1"/>
          <p:nvPr/>
        </p:nvSpPr>
        <p:spPr>
          <a:xfrm>
            <a:off x="1597660" y="3242945"/>
            <a:ext cx="4044950" cy="651510"/>
          </a:xfrm>
          <a:prstGeom prst="rect">
            <a:avLst/>
          </a:prstGeom>
          <a:noFill/>
        </p:spPr>
        <p:txBody>
          <a:bodyPr wrap="square" rtlCol="0" anchor="t">
            <a:noAutofit/>
          </a:bodyPr>
          <a:p>
            <a:r>
              <a:rPr lang="en-US" altLang="zh-CN">
                <a:solidFill>
                  <a:schemeClr val="tx1"/>
                </a:solidFill>
                <a:sym typeface="+mn-ea"/>
              </a:rPr>
              <a:t>[</a:t>
            </a:r>
            <a:r>
              <a:rPr lang="zh-CN" altLang="en-US">
                <a:solidFill>
                  <a:schemeClr val="tx1"/>
                </a:solidFill>
                <a:sym typeface="+mn-ea"/>
              </a:rPr>
              <a:t>水的质量</a:t>
            </a:r>
            <a:r>
              <a:rPr lang="en-US" altLang="zh-CN">
                <a:solidFill>
                  <a:schemeClr val="tx1"/>
                </a:solidFill>
                <a:sym typeface="+mn-ea"/>
              </a:rPr>
              <a:t>] = [</a:t>
            </a:r>
            <a:r>
              <a:rPr lang="zh-CN" altLang="en-US">
                <a:solidFill>
                  <a:schemeClr val="tx1"/>
                </a:solidFill>
                <a:sym typeface="+mn-ea"/>
              </a:rPr>
              <a:t>水的密度</a:t>
            </a:r>
            <a:r>
              <a:rPr lang="en-US" altLang="zh-CN">
                <a:solidFill>
                  <a:schemeClr val="tx1"/>
                </a:solidFill>
                <a:sym typeface="+mn-ea"/>
              </a:rPr>
              <a:t>] * [</a:t>
            </a:r>
            <a:r>
              <a:rPr lang="zh-CN" altLang="en-US">
                <a:solidFill>
                  <a:schemeClr val="tx1"/>
                </a:solidFill>
                <a:sym typeface="+mn-ea"/>
              </a:rPr>
              <a:t>水</a:t>
            </a:r>
            <a:r>
              <a:rPr lang="zh-CN" altLang="en-US">
                <a:solidFill>
                  <a:schemeClr val="tx1"/>
                </a:solidFill>
                <a:sym typeface="+mn-ea"/>
              </a:rPr>
              <a:t>的体积</a:t>
            </a:r>
            <a:r>
              <a:rPr lang="en-US" altLang="zh-CN">
                <a:solidFill>
                  <a:schemeClr val="tx1"/>
                </a:solidFill>
                <a:sym typeface="+mn-ea"/>
              </a:rPr>
              <a:t>]</a:t>
            </a:r>
            <a:endParaRPr lang="en-US" altLang="zh-CN">
              <a:solidFill>
                <a:schemeClr val="tx1"/>
              </a:solidFill>
              <a:sym typeface="+mn-ea"/>
            </a:endParaRPr>
          </a:p>
        </p:txBody>
      </p:sp>
      <p:sp>
        <p:nvSpPr>
          <p:cNvPr id="27" name="文本框 26"/>
          <p:cNvSpPr txBox="1"/>
          <p:nvPr/>
        </p:nvSpPr>
        <p:spPr>
          <a:xfrm>
            <a:off x="2967990" y="2591435"/>
            <a:ext cx="2674620" cy="651510"/>
          </a:xfrm>
          <a:prstGeom prst="rect">
            <a:avLst/>
          </a:prstGeom>
          <a:noFill/>
        </p:spPr>
        <p:txBody>
          <a:bodyPr wrap="square" rtlCol="0" anchor="t">
            <a:noAutofit/>
          </a:bodyPr>
          <a:p>
            <a:r>
              <a:rPr lang="en-US" altLang="zh-CN">
                <a:solidFill>
                  <a:schemeClr val="tx1"/>
                </a:solidFill>
                <a:sym typeface="+mn-ea"/>
              </a:rPr>
              <a:t>[</a:t>
            </a:r>
            <a:r>
              <a:rPr lang="zh-CN" altLang="en-US">
                <a:solidFill>
                  <a:schemeClr val="tx1"/>
                </a:solidFill>
                <a:sym typeface="+mn-ea"/>
              </a:rPr>
              <a:t>电压</a:t>
            </a:r>
            <a:r>
              <a:rPr lang="en-US" altLang="zh-CN">
                <a:solidFill>
                  <a:schemeClr val="tx1"/>
                </a:solidFill>
                <a:sym typeface="+mn-ea"/>
              </a:rPr>
              <a:t>] = [</a:t>
            </a:r>
            <a:r>
              <a:rPr lang="zh-CN" altLang="en-US">
                <a:solidFill>
                  <a:schemeClr val="tx1"/>
                </a:solidFill>
                <a:sym typeface="+mn-ea"/>
              </a:rPr>
              <a:t>电阻</a:t>
            </a:r>
            <a:r>
              <a:rPr lang="en-US" altLang="zh-CN">
                <a:solidFill>
                  <a:schemeClr val="tx1"/>
                </a:solidFill>
                <a:sym typeface="+mn-ea"/>
              </a:rPr>
              <a:t>] * [</a:t>
            </a:r>
            <a:r>
              <a:rPr lang="zh-CN" altLang="en-US">
                <a:solidFill>
                  <a:schemeClr val="tx1"/>
                </a:solidFill>
                <a:sym typeface="+mn-ea"/>
              </a:rPr>
              <a:t>电流</a:t>
            </a:r>
            <a:r>
              <a:rPr lang="en-US" altLang="zh-CN">
                <a:solidFill>
                  <a:schemeClr val="tx1"/>
                </a:solidFill>
                <a:sym typeface="+mn-ea"/>
              </a:rPr>
              <a:t>]</a:t>
            </a:r>
            <a:endParaRPr lang="en-US" altLang="zh-CN">
              <a:solidFill>
                <a:schemeClr val="tx1"/>
              </a:solidFill>
              <a:sym typeface="+mn-ea"/>
            </a:endParaRPr>
          </a:p>
        </p:txBody>
      </p:sp>
      <p:sp>
        <p:nvSpPr>
          <p:cNvPr id="28" name="文本框 27"/>
          <p:cNvSpPr txBox="1"/>
          <p:nvPr/>
        </p:nvSpPr>
        <p:spPr>
          <a:xfrm>
            <a:off x="2549525" y="3916680"/>
            <a:ext cx="3048000" cy="651510"/>
          </a:xfrm>
          <a:prstGeom prst="rect">
            <a:avLst/>
          </a:prstGeom>
          <a:noFill/>
        </p:spPr>
        <p:txBody>
          <a:bodyPr wrap="square" rtlCol="0" anchor="t">
            <a:noAutofit/>
          </a:bodyPr>
          <a:p>
            <a:r>
              <a:rPr lang="en-US" altLang="zh-CN">
                <a:solidFill>
                  <a:schemeClr val="tx1"/>
                </a:solidFill>
                <a:sym typeface="+mn-ea"/>
              </a:rPr>
              <a:t>[</a:t>
            </a:r>
            <a:r>
              <a:rPr lang="zh-CN" altLang="en-US">
                <a:solidFill>
                  <a:schemeClr val="tx1"/>
                </a:solidFill>
                <a:sym typeface="+mn-ea"/>
              </a:rPr>
              <a:t>温度变化</a:t>
            </a:r>
            <a:r>
              <a:rPr lang="en-US" altLang="zh-CN">
                <a:solidFill>
                  <a:schemeClr val="tx1"/>
                </a:solidFill>
                <a:sym typeface="+mn-ea"/>
              </a:rPr>
              <a:t>] = [</a:t>
            </a:r>
            <a:r>
              <a:rPr lang="zh-CN" altLang="en-US">
                <a:solidFill>
                  <a:schemeClr val="tx1"/>
                </a:solidFill>
                <a:sym typeface="+mn-ea"/>
              </a:rPr>
              <a:t>末温</a:t>
            </a:r>
            <a:r>
              <a:rPr lang="en-US" altLang="zh-CN">
                <a:solidFill>
                  <a:schemeClr val="tx1"/>
                </a:solidFill>
                <a:sym typeface="+mn-ea"/>
              </a:rPr>
              <a:t>] - [</a:t>
            </a:r>
            <a:r>
              <a:rPr lang="zh-CN" altLang="en-US">
                <a:solidFill>
                  <a:schemeClr val="tx1"/>
                </a:solidFill>
                <a:sym typeface="+mn-ea"/>
              </a:rPr>
              <a:t>初温</a:t>
            </a:r>
            <a:r>
              <a:rPr lang="en-US" altLang="zh-CN">
                <a:solidFill>
                  <a:schemeClr val="tx1"/>
                </a:solidFill>
                <a:sym typeface="+mn-ea"/>
              </a:rPr>
              <a:t>]</a:t>
            </a:r>
            <a:endParaRPr lang="en-US" altLang="zh-CN">
              <a:solidFill>
                <a:schemeClr val="tx1"/>
              </a:solidFill>
              <a:sym typeface="+mn-ea"/>
            </a:endParaRPr>
          </a:p>
        </p:txBody>
      </p:sp>
      <p:sp>
        <p:nvSpPr>
          <p:cNvPr id="30" name="文本框 29"/>
          <p:cNvSpPr txBox="1"/>
          <p:nvPr/>
        </p:nvSpPr>
        <p:spPr>
          <a:xfrm>
            <a:off x="5361940" y="2002790"/>
            <a:ext cx="2559050" cy="561340"/>
          </a:xfrm>
          <a:prstGeom prst="rect">
            <a:avLst/>
          </a:prstGeom>
          <a:noFill/>
        </p:spPr>
        <p:txBody>
          <a:bodyPr wrap="square" rtlCol="0" anchor="t">
            <a:noAutofit/>
          </a:bodyPr>
          <a:p>
            <a:r>
              <a:rPr lang="en-US" altLang="zh-CN">
                <a:sym typeface="+mn-ea"/>
              </a:rPr>
              <a:t>V </a:t>
            </a:r>
            <a:r>
              <a:rPr lang="en-US" altLang="zh-CN">
                <a:solidFill>
                  <a:schemeClr val="tx1"/>
                </a:solidFill>
                <a:sym typeface="+mn-ea"/>
              </a:rPr>
              <a:t>= m </a:t>
            </a:r>
            <a:r>
              <a:rPr lang="en-US" altLang="zh-CN">
                <a:sym typeface="+mn-ea"/>
              </a:rPr>
              <a:t>/ </a:t>
            </a:r>
            <a:r>
              <a:rPr lang="en-US" altLang="zh-CN">
                <a:sym typeface="+mn-ea"/>
              </a:rPr>
              <a:t>ρ </a:t>
            </a:r>
            <a:endParaRPr lang="en-US" altLang="zh-CN">
              <a:sym typeface="+mn-ea"/>
            </a:endParaRPr>
          </a:p>
        </p:txBody>
      </p:sp>
      <p:sp>
        <p:nvSpPr>
          <p:cNvPr id="41" name="文本框 40"/>
          <p:cNvSpPr txBox="1"/>
          <p:nvPr/>
        </p:nvSpPr>
        <p:spPr>
          <a:xfrm>
            <a:off x="5361940" y="3242945"/>
            <a:ext cx="2559050" cy="561340"/>
          </a:xfrm>
          <a:prstGeom prst="rect">
            <a:avLst/>
          </a:prstGeom>
          <a:noFill/>
        </p:spPr>
        <p:txBody>
          <a:bodyPr wrap="square" rtlCol="0" anchor="t">
            <a:noAutofit/>
          </a:bodyPr>
          <a:p>
            <a:r>
              <a:rPr lang="en-US" altLang="zh-CN">
                <a:sym typeface="+mn-ea"/>
              </a:rPr>
              <a:t>m</a:t>
            </a:r>
            <a:r>
              <a:rPr lang="zh-CN" altLang="en-US" baseline="-25000">
                <a:sym typeface="+mn-ea"/>
              </a:rPr>
              <a:t>水</a:t>
            </a:r>
            <a:r>
              <a:rPr lang="en-US" altLang="zh-CN">
                <a:sym typeface="+mn-ea"/>
              </a:rPr>
              <a:t> </a:t>
            </a:r>
            <a:r>
              <a:rPr lang="en-US" altLang="zh-CN">
                <a:solidFill>
                  <a:schemeClr val="tx1"/>
                </a:solidFill>
                <a:sym typeface="+mn-ea"/>
              </a:rPr>
              <a:t>=</a:t>
            </a:r>
            <a:r>
              <a:rPr lang="en-US" altLang="zh-CN">
                <a:sym typeface="+mn-ea"/>
              </a:rPr>
              <a:t> ρ</a:t>
            </a:r>
            <a:r>
              <a:rPr lang="zh-CN" altLang="en-US" baseline="-25000">
                <a:sym typeface="+mn-ea"/>
              </a:rPr>
              <a:t>水</a:t>
            </a:r>
            <a:r>
              <a:rPr lang="en-US" altLang="zh-CN">
                <a:sym typeface="+mn-ea"/>
              </a:rPr>
              <a:t> * V</a:t>
            </a:r>
            <a:r>
              <a:rPr lang="zh-CN" altLang="en-US" baseline="-25000">
                <a:sym typeface="+mn-ea"/>
              </a:rPr>
              <a:t>水</a:t>
            </a:r>
            <a:r>
              <a:rPr lang="en-US" altLang="zh-CN">
                <a:sym typeface="+mn-ea"/>
              </a:rPr>
              <a:t> </a:t>
            </a:r>
            <a:endParaRPr lang="en-US" altLang="zh-CN">
              <a:sym typeface="+mn-ea"/>
            </a:endParaRPr>
          </a:p>
        </p:txBody>
      </p:sp>
      <p:sp>
        <p:nvSpPr>
          <p:cNvPr id="42" name="文本框 41"/>
          <p:cNvSpPr txBox="1"/>
          <p:nvPr/>
        </p:nvSpPr>
        <p:spPr>
          <a:xfrm>
            <a:off x="5361940" y="2681605"/>
            <a:ext cx="2559050" cy="561340"/>
          </a:xfrm>
          <a:prstGeom prst="rect">
            <a:avLst/>
          </a:prstGeom>
          <a:noFill/>
        </p:spPr>
        <p:txBody>
          <a:bodyPr wrap="square" rtlCol="0" anchor="t">
            <a:noAutofit/>
          </a:bodyPr>
          <a:p>
            <a:r>
              <a:rPr lang="en-US" altLang="zh-CN">
                <a:solidFill>
                  <a:schemeClr val="tx1"/>
                </a:solidFill>
                <a:sym typeface="+mn-ea"/>
              </a:rPr>
              <a:t>U =</a:t>
            </a:r>
            <a:r>
              <a:rPr lang="en-US" altLang="zh-CN">
                <a:sym typeface="+mn-ea"/>
              </a:rPr>
              <a:t> R * </a:t>
            </a:r>
            <a:r>
              <a:rPr lang="en-US" altLang="zh-CN">
                <a:sym typeface="+mn-ea"/>
              </a:rPr>
              <a:t>I </a:t>
            </a:r>
            <a:endParaRPr lang="en-US" altLang="zh-CN">
              <a:sym typeface="+mn-ea"/>
            </a:endParaRPr>
          </a:p>
        </p:txBody>
      </p:sp>
      <p:sp>
        <p:nvSpPr>
          <p:cNvPr id="43" name="文本框 42"/>
          <p:cNvSpPr txBox="1"/>
          <p:nvPr/>
        </p:nvSpPr>
        <p:spPr>
          <a:xfrm>
            <a:off x="5361940" y="3953510"/>
            <a:ext cx="2559050" cy="561340"/>
          </a:xfrm>
          <a:prstGeom prst="rect">
            <a:avLst/>
          </a:prstGeom>
          <a:noFill/>
        </p:spPr>
        <p:txBody>
          <a:bodyPr wrap="square" rtlCol="0" anchor="t">
            <a:noAutofit/>
          </a:bodyPr>
          <a:p>
            <a:r>
              <a:rPr lang="en-US" altLang="zh-CN">
                <a:solidFill>
                  <a:schemeClr val="tx1"/>
                </a:solidFill>
                <a:sym typeface="+mn-ea"/>
              </a:rPr>
              <a:t>Δt =</a:t>
            </a:r>
            <a:r>
              <a:rPr lang="en-US" altLang="zh-CN">
                <a:sym typeface="+mn-ea"/>
              </a:rPr>
              <a:t> t</a:t>
            </a:r>
            <a:r>
              <a:rPr lang="zh-CN" altLang="en-US" baseline="-25000">
                <a:sym typeface="+mn-ea"/>
              </a:rPr>
              <a:t>末</a:t>
            </a:r>
            <a:r>
              <a:rPr lang="en-US" altLang="zh-CN">
                <a:sym typeface="+mn-ea"/>
              </a:rPr>
              <a:t> - t</a:t>
            </a:r>
            <a:r>
              <a:rPr lang="zh-CN" altLang="en-US" baseline="-25000">
                <a:sym typeface="+mn-ea"/>
              </a:rPr>
              <a:t>初</a:t>
            </a:r>
            <a:endParaRPr lang="zh-CN" altLang="en-US" baseline="-25000">
              <a:sym typeface="+mn-ea"/>
            </a:endParaRPr>
          </a:p>
        </p:txBody>
      </p:sp>
      <p:sp>
        <p:nvSpPr>
          <p:cNvPr id="62" name="圆角矩形 61"/>
          <p:cNvSpPr/>
          <p:nvPr/>
        </p:nvSpPr>
        <p:spPr>
          <a:xfrm>
            <a:off x="1501775" y="1110615"/>
            <a:ext cx="5568950" cy="3705860"/>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2" name="直接连接符 71"/>
          <p:cNvCxnSpPr/>
          <p:nvPr/>
        </p:nvCxnSpPr>
        <p:spPr>
          <a:xfrm>
            <a:off x="1509395" y="1871345"/>
            <a:ext cx="5556250" cy="0"/>
          </a:xfrm>
          <a:prstGeom prst="line">
            <a:avLst/>
          </a:prstGeom>
        </p:spPr>
        <p:style>
          <a:lnRef idx="2">
            <a:schemeClr val="accent1"/>
          </a:lnRef>
          <a:fillRef idx="0">
            <a:srgbClr val="FFFFFF"/>
          </a:fillRef>
          <a:effectRef idx="0">
            <a:srgbClr val="FFFFFF"/>
          </a:effectRef>
          <a:fontRef idx="minor">
            <a:schemeClr val="tx1"/>
          </a:fontRef>
        </p:style>
      </p:cxnSp>
      <p:cxnSp>
        <p:nvCxnSpPr>
          <p:cNvPr id="75" name="直接连接符 74"/>
          <p:cNvCxnSpPr/>
          <p:nvPr/>
        </p:nvCxnSpPr>
        <p:spPr>
          <a:xfrm>
            <a:off x="5364480" y="1111250"/>
            <a:ext cx="0" cy="3696970"/>
          </a:xfrm>
          <a:prstGeom prst="line">
            <a:avLst/>
          </a:prstGeom>
        </p:spPr>
        <p:style>
          <a:lnRef idx="2">
            <a:schemeClr val="accent1"/>
          </a:lnRef>
          <a:fillRef idx="0">
            <a:srgbClr val="FFFFFF"/>
          </a:fillRef>
          <a:effectRef idx="0">
            <a:srgbClr val="FFFFFF"/>
          </a:effectRef>
          <a:fontRef idx="minor">
            <a:schemeClr val="tx1"/>
          </a:fontRef>
        </p:style>
      </p:cxnSp>
      <p:sp>
        <p:nvSpPr>
          <p:cNvPr id="78" name="文本框 77"/>
          <p:cNvSpPr txBox="1"/>
          <p:nvPr/>
        </p:nvSpPr>
        <p:spPr>
          <a:xfrm>
            <a:off x="2967990" y="1307465"/>
            <a:ext cx="1876425" cy="368300"/>
          </a:xfrm>
          <a:prstGeom prst="rect">
            <a:avLst/>
          </a:prstGeom>
          <a:noFill/>
        </p:spPr>
        <p:txBody>
          <a:bodyPr wrap="square" rtlCol="0">
            <a:spAutoFit/>
          </a:bodyPr>
          <a:p>
            <a:r>
              <a:rPr lang="zh-CN" altLang="en-US"/>
              <a:t>文本表示的</a:t>
            </a:r>
            <a:r>
              <a:rPr lang="zh-CN" altLang="en-US"/>
              <a:t>公式</a:t>
            </a:r>
            <a:endParaRPr lang="zh-CN" altLang="en-US"/>
          </a:p>
        </p:txBody>
      </p:sp>
      <p:sp>
        <p:nvSpPr>
          <p:cNvPr id="79" name="文本框 78"/>
          <p:cNvSpPr txBox="1"/>
          <p:nvPr/>
        </p:nvSpPr>
        <p:spPr>
          <a:xfrm>
            <a:off x="5597525" y="1307465"/>
            <a:ext cx="821690" cy="368300"/>
          </a:xfrm>
          <a:prstGeom prst="rect">
            <a:avLst/>
          </a:prstGeom>
          <a:noFill/>
        </p:spPr>
        <p:txBody>
          <a:bodyPr wrap="square" rtlCol="0">
            <a:spAutoFit/>
          </a:bodyPr>
          <a:p>
            <a:r>
              <a:rPr lang="zh-CN" altLang="en-US"/>
              <a:t>符号</a:t>
            </a:r>
            <a:endParaRPr lang="zh-CN" altLang="en-US"/>
          </a:p>
        </p:txBody>
      </p:sp>
      <p:sp>
        <p:nvSpPr>
          <p:cNvPr id="83" name="文本框 82"/>
          <p:cNvSpPr txBox="1"/>
          <p:nvPr/>
        </p:nvSpPr>
        <p:spPr>
          <a:xfrm>
            <a:off x="4826635" y="4335145"/>
            <a:ext cx="662305" cy="368300"/>
          </a:xfrm>
          <a:prstGeom prst="rect">
            <a:avLst/>
          </a:prstGeom>
          <a:noFill/>
        </p:spPr>
        <p:txBody>
          <a:bodyPr wrap="square" rtlCol="0">
            <a:spAutoFit/>
          </a:bodyPr>
          <a:p>
            <a:r>
              <a:rPr lang="en-US" altLang="zh-CN"/>
              <a:t>......</a:t>
            </a:r>
            <a:endParaRPr lang="en-US" altLang="zh-CN"/>
          </a:p>
        </p:txBody>
      </p:sp>
      <p:sp>
        <p:nvSpPr>
          <p:cNvPr id="84" name="文本框 83"/>
          <p:cNvSpPr txBox="1"/>
          <p:nvPr/>
        </p:nvSpPr>
        <p:spPr>
          <a:xfrm>
            <a:off x="5363845" y="4321175"/>
            <a:ext cx="1047750" cy="368300"/>
          </a:xfrm>
          <a:prstGeom prst="rect">
            <a:avLst/>
          </a:prstGeom>
          <a:noFill/>
        </p:spPr>
        <p:txBody>
          <a:bodyPr wrap="square" rtlCol="0">
            <a:spAutoFit/>
          </a:bodyPr>
          <a:p>
            <a:r>
              <a:rPr lang="en-US" altLang="zh-CN"/>
              <a:t>......</a:t>
            </a:r>
            <a:endParaRPr lang="en-US" altLang="zh-CN"/>
          </a:p>
        </p:txBody>
      </p:sp>
      <p:cxnSp>
        <p:nvCxnSpPr>
          <p:cNvPr id="88" name="直接连接符 87"/>
          <p:cNvCxnSpPr/>
          <p:nvPr/>
        </p:nvCxnSpPr>
        <p:spPr>
          <a:xfrm>
            <a:off x="7156450" y="2222500"/>
            <a:ext cx="1349375" cy="226695"/>
          </a:xfrm>
          <a:prstGeom prst="line">
            <a:avLst/>
          </a:prstGeom>
        </p:spPr>
        <p:style>
          <a:lnRef idx="2">
            <a:schemeClr val="accent1"/>
          </a:lnRef>
          <a:fillRef idx="0">
            <a:srgbClr val="FFFFFF"/>
          </a:fillRef>
          <a:effectRef idx="0">
            <a:srgbClr val="FFFFFF"/>
          </a:effectRef>
          <a:fontRef idx="minor">
            <a:schemeClr val="tx1"/>
          </a:fontRef>
        </p:style>
      </p:cxnSp>
      <p:cxnSp>
        <p:nvCxnSpPr>
          <p:cNvPr id="89" name="直接连接符 88"/>
          <p:cNvCxnSpPr/>
          <p:nvPr/>
        </p:nvCxnSpPr>
        <p:spPr>
          <a:xfrm flipV="1">
            <a:off x="7099935" y="2460625"/>
            <a:ext cx="1417320" cy="419735"/>
          </a:xfrm>
          <a:prstGeom prst="line">
            <a:avLst/>
          </a:prstGeom>
        </p:spPr>
        <p:style>
          <a:lnRef idx="2">
            <a:schemeClr val="accent1"/>
          </a:lnRef>
          <a:fillRef idx="0">
            <a:srgbClr val="FFFFFF"/>
          </a:fillRef>
          <a:effectRef idx="0">
            <a:srgbClr val="FFFFFF"/>
          </a:effectRef>
          <a:fontRef idx="minor">
            <a:schemeClr val="tx1"/>
          </a:fontRef>
        </p:style>
      </p:cxnSp>
      <p:cxnSp>
        <p:nvCxnSpPr>
          <p:cNvPr id="90" name="直接连接符 89"/>
          <p:cNvCxnSpPr/>
          <p:nvPr/>
        </p:nvCxnSpPr>
        <p:spPr>
          <a:xfrm>
            <a:off x="7122160" y="2222500"/>
            <a:ext cx="1349375" cy="816610"/>
          </a:xfrm>
          <a:prstGeom prst="line">
            <a:avLst/>
          </a:prstGeom>
        </p:spPr>
        <p:style>
          <a:lnRef idx="2">
            <a:schemeClr val="accent1"/>
          </a:lnRef>
          <a:fillRef idx="0">
            <a:srgbClr val="FFFFFF"/>
          </a:fillRef>
          <a:effectRef idx="0">
            <a:srgbClr val="FFFFFF"/>
          </a:effectRef>
          <a:fontRef idx="minor">
            <a:schemeClr val="tx1"/>
          </a:fontRef>
        </p:style>
      </p:cxnSp>
      <p:cxnSp>
        <p:nvCxnSpPr>
          <p:cNvPr id="91" name="直接连接符 90"/>
          <p:cNvCxnSpPr/>
          <p:nvPr/>
        </p:nvCxnSpPr>
        <p:spPr>
          <a:xfrm flipV="1">
            <a:off x="7110730" y="3050540"/>
            <a:ext cx="1395095" cy="453390"/>
          </a:xfrm>
          <a:prstGeom prst="line">
            <a:avLst/>
          </a:prstGeom>
        </p:spPr>
        <p:style>
          <a:lnRef idx="2">
            <a:schemeClr val="accent1"/>
          </a:lnRef>
          <a:fillRef idx="0">
            <a:srgbClr val="FFFFFF"/>
          </a:fillRef>
          <a:effectRef idx="0">
            <a:srgbClr val="FFFFFF"/>
          </a:effectRef>
          <a:fontRef idx="minor">
            <a:schemeClr val="tx1"/>
          </a:fontRef>
        </p:style>
      </p:cxnSp>
      <p:cxnSp>
        <p:nvCxnSpPr>
          <p:cNvPr id="92" name="直接连接符 91"/>
          <p:cNvCxnSpPr/>
          <p:nvPr/>
        </p:nvCxnSpPr>
        <p:spPr>
          <a:xfrm>
            <a:off x="7122160" y="2211070"/>
            <a:ext cx="1406525" cy="1553845"/>
          </a:xfrm>
          <a:prstGeom prst="line">
            <a:avLst/>
          </a:prstGeom>
        </p:spPr>
        <p:style>
          <a:lnRef idx="2">
            <a:schemeClr val="accent1"/>
          </a:lnRef>
          <a:fillRef idx="0">
            <a:srgbClr val="FFFFFF"/>
          </a:fillRef>
          <a:effectRef idx="0">
            <a:srgbClr val="FFFFFF"/>
          </a:effectRef>
          <a:fontRef idx="minor">
            <a:schemeClr val="tx1"/>
          </a:fontRef>
        </p:style>
      </p:cxnSp>
      <p:cxnSp>
        <p:nvCxnSpPr>
          <p:cNvPr id="93" name="直接连接符 92"/>
          <p:cNvCxnSpPr/>
          <p:nvPr/>
        </p:nvCxnSpPr>
        <p:spPr>
          <a:xfrm flipV="1">
            <a:off x="7099935" y="3787140"/>
            <a:ext cx="1428750" cy="408305"/>
          </a:xfrm>
          <a:prstGeom prst="line">
            <a:avLst/>
          </a:prstGeom>
        </p:spPr>
        <p:style>
          <a:lnRef idx="2">
            <a:schemeClr val="accent1"/>
          </a:lnRef>
          <a:fillRef idx="0">
            <a:srgbClr val="FFFFFF"/>
          </a:fillRef>
          <a:effectRef idx="0">
            <a:srgbClr val="FFFFFF"/>
          </a:effectRef>
          <a:fontRef idx="minor">
            <a:schemeClr val="tx1"/>
          </a:fontRef>
        </p:style>
      </p:cxnSp>
      <p:sp>
        <p:nvSpPr>
          <p:cNvPr id="94" name="文本框 93"/>
          <p:cNvSpPr txBox="1"/>
          <p:nvPr/>
        </p:nvSpPr>
        <p:spPr>
          <a:xfrm>
            <a:off x="8591550" y="2216150"/>
            <a:ext cx="2374265" cy="368300"/>
          </a:xfrm>
          <a:prstGeom prst="rect">
            <a:avLst/>
          </a:prstGeom>
          <a:noFill/>
        </p:spPr>
        <p:txBody>
          <a:bodyPr wrap="square" rtlCol="0">
            <a:spAutoFit/>
          </a:bodyPr>
          <a:p>
            <a:r>
              <a:rPr lang="zh-CN" altLang="en-US"/>
              <a:t>符号</a:t>
            </a:r>
            <a:r>
              <a:rPr lang="zh-CN" altLang="en-US"/>
              <a:t>不符</a:t>
            </a:r>
            <a:endParaRPr lang="zh-CN" altLang="en-US"/>
          </a:p>
        </p:txBody>
      </p:sp>
      <p:sp>
        <p:nvSpPr>
          <p:cNvPr id="95" name="文本框 94"/>
          <p:cNvSpPr txBox="1"/>
          <p:nvPr/>
        </p:nvSpPr>
        <p:spPr>
          <a:xfrm>
            <a:off x="8580120" y="3585210"/>
            <a:ext cx="2374265" cy="368300"/>
          </a:xfrm>
          <a:prstGeom prst="rect">
            <a:avLst/>
          </a:prstGeom>
          <a:noFill/>
        </p:spPr>
        <p:txBody>
          <a:bodyPr wrap="square" rtlCol="0">
            <a:spAutoFit/>
          </a:bodyPr>
          <a:p>
            <a:r>
              <a:rPr lang="zh-CN" altLang="en-US"/>
              <a:t>结构不</a:t>
            </a:r>
            <a:r>
              <a:rPr lang="zh-CN" altLang="en-US"/>
              <a:t>符</a:t>
            </a:r>
            <a:endParaRPr lang="zh-CN" altLang="en-US"/>
          </a:p>
        </p:txBody>
      </p:sp>
      <p:sp>
        <p:nvSpPr>
          <p:cNvPr id="96" name="文本框 95"/>
          <p:cNvSpPr txBox="1"/>
          <p:nvPr/>
        </p:nvSpPr>
        <p:spPr>
          <a:xfrm>
            <a:off x="8580120" y="2890520"/>
            <a:ext cx="2374265" cy="368300"/>
          </a:xfrm>
          <a:prstGeom prst="rect">
            <a:avLst/>
          </a:prstGeom>
          <a:noFill/>
        </p:spPr>
        <p:txBody>
          <a:bodyPr wrap="square" rtlCol="0">
            <a:spAutoFit/>
          </a:bodyPr>
          <a:p>
            <a:r>
              <a:rPr lang="zh-CN" altLang="en-US"/>
              <a:t>合并</a:t>
            </a:r>
            <a:r>
              <a:rPr lang="zh-CN" altLang="en-US"/>
              <a:t>公式</a:t>
            </a: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5693410" y="371475"/>
            <a:ext cx="6114415" cy="726440"/>
          </a:xfrm>
          <a:prstGeom prst="rect">
            <a:avLst/>
          </a:prstGeom>
          <a:noFill/>
        </p:spPr>
        <p:txBody>
          <a:bodyPr wrap="square" rtlCol="0" anchor="t">
            <a:noAutofit/>
          </a:bodyPr>
          <a:p>
            <a:r>
              <a:rPr lang="zh-CN" altLang="en-US" sz="2000">
                <a:sym typeface="+mn-ea"/>
              </a:rPr>
              <a:t>检查能否与</a:t>
            </a:r>
            <a:r>
              <a:rPr lang="en-US" altLang="zh-CN" sz="2000">
                <a:sym typeface="+mn-ea"/>
              </a:rPr>
              <a:t> f0 </a:t>
            </a:r>
            <a:r>
              <a:rPr lang="zh-CN" altLang="en-US" sz="2000">
                <a:sym typeface="+mn-ea"/>
              </a:rPr>
              <a:t>公式合并：①公式结构</a:t>
            </a:r>
            <a:r>
              <a:rPr lang="en-US" altLang="zh-CN" sz="2000">
                <a:sym typeface="+mn-ea"/>
              </a:rPr>
              <a:t>  </a:t>
            </a:r>
            <a:r>
              <a:rPr lang="zh-CN" altLang="en-US" sz="2000">
                <a:sym typeface="+mn-ea"/>
              </a:rPr>
              <a:t>②公式符号</a:t>
            </a:r>
            <a:endParaRPr lang="zh-CN" altLang="en-US" sz="2000">
              <a:sym typeface="+mn-ea"/>
            </a:endParaRPr>
          </a:p>
        </p:txBody>
      </p:sp>
      <p:sp>
        <p:nvSpPr>
          <p:cNvPr id="25" name="文本框 24"/>
          <p:cNvSpPr txBox="1"/>
          <p:nvPr/>
        </p:nvSpPr>
        <p:spPr>
          <a:xfrm>
            <a:off x="210820" y="5269865"/>
            <a:ext cx="5107940" cy="1378585"/>
          </a:xfrm>
          <a:prstGeom prst="rect">
            <a:avLst/>
          </a:prstGeom>
          <a:noFill/>
        </p:spPr>
        <p:txBody>
          <a:bodyPr wrap="square" rtlCol="0" anchor="t">
            <a:noAutofit/>
          </a:bodyPr>
          <a:p>
            <a:r>
              <a:rPr lang="zh-CN" altLang="en-US" sz="2000">
                <a:sym typeface="+mn-ea"/>
              </a:rPr>
              <a:t>公式</a:t>
            </a:r>
            <a:r>
              <a:rPr lang="en-US" altLang="zh-CN" sz="2000">
                <a:sym typeface="+mn-ea"/>
              </a:rPr>
              <a:t> f3 </a:t>
            </a:r>
            <a:r>
              <a:rPr lang="zh-CN" altLang="en-US" sz="2000">
                <a:sym typeface="+mn-ea"/>
              </a:rPr>
              <a:t>文本表示：</a:t>
            </a:r>
            <a:r>
              <a:rPr lang="en-US" altLang="zh-CN" sz="2000">
                <a:solidFill>
                  <a:schemeClr val="tx1"/>
                </a:solidFill>
                <a:sym typeface="+mn-ea"/>
              </a:rPr>
              <a:t>[</a:t>
            </a:r>
            <a:r>
              <a:rPr lang="zh-CN" altLang="en-US" sz="2000">
                <a:solidFill>
                  <a:schemeClr val="tx1"/>
                </a:solidFill>
                <a:sym typeface="+mn-ea"/>
              </a:rPr>
              <a:t>水的质量</a:t>
            </a:r>
            <a:r>
              <a:rPr lang="en-US" altLang="zh-CN" sz="2000">
                <a:solidFill>
                  <a:schemeClr val="tx1"/>
                </a:solidFill>
                <a:sym typeface="+mn-ea"/>
              </a:rPr>
              <a:t>] = [</a:t>
            </a:r>
            <a:r>
              <a:rPr lang="zh-CN" altLang="en-US" sz="2000">
                <a:solidFill>
                  <a:schemeClr val="tx1"/>
                </a:solidFill>
                <a:sym typeface="+mn-ea"/>
              </a:rPr>
              <a:t>水的密度</a:t>
            </a:r>
            <a:r>
              <a:rPr lang="en-US" altLang="zh-CN" sz="2000">
                <a:solidFill>
                  <a:schemeClr val="tx1"/>
                </a:solidFill>
                <a:sym typeface="+mn-ea"/>
              </a:rPr>
              <a:t>] * 		    [</a:t>
            </a:r>
            <a:r>
              <a:rPr lang="zh-CN" altLang="en-US" sz="2000">
                <a:solidFill>
                  <a:schemeClr val="tx1"/>
                </a:solidFill>
                <a:sym typeface="+mn-ea"/>
              </a:rPr>
              <a:t>水的体积</a:t>
            </a:r>
            <a:r>
              <a:rPr lang="en-US" altLang="zh-CN" sz="2000">
                <a:solidFill>
                  <a:schemeClr val="tx1"/>
                </a:solidFill>
                <a:sym typeface="+mn-ea"/>
              </a:rPr>
              <a:t>]</a:t>
            </a:r>
            <a:endParaRPr lang="en-US" altLang="zh-CN" sz="2000">
              <a:solidFill>
                <a:schemeClr val="tx1"/>
              </a:solidFill>
              <a:sym typeface="+mn-ea"/>
            </a:endParaRPr>
          </a:p>
          <a:p>
            <a:endParaRPr lang="en-US" altLang="zh-CN" sz="2000">
              <a:solidFill>
                <a:schemeClr val="tx1"/>
              </a:solidFill>
              <a:sym typeface="+mn-ea"/>
            </a:endParaRPr>
          </a:p>
          <a:p>
            <a:r>
              <a:rPr lang="zh-CN" altLang="en-US" sz="2000">
                <a:sym typeface="+mn-ea"/>
              </a:rPr>
              <a:t>公式</a:t>
            </a:r>
            <a:r>
              <a:rPr lang="en-US" altLang="zh-CN" sz="2000">
                <a:sym typeface="+mn-ea"/>
              </a:rPr>
              <a:t> f3 </a:t>
            </a:r>
            <a:r>
              <a:rPr lang="zh-CN" altLang="en-US" sz="2000">
                <a:sym typeface="+mn-ea"/>
              </a:rPr>
              <a:t>符号表示：</a:t>
            </a:r>
            <a:r>
              <a:rPr lang="en-US" altLang="zh-CN" sz="2000">
                <a:sym typeface="+mn-ea"/>
              </a:rPr>
              <a:t>m</a:t>
            </a:r>
            <a:r>
              <a:rPr lang="zh-CN" altLang="en-US" sz="2000" baseline="-25000">
                <a:sym typeface="+mn-ea"/>
              </a:rPr>
              <a:t>水</a:t>
            </a:r>
            <a:r>
              <a:rPr lang="en-US" altLang="zh-CN" sz="2000">
                <a:sym typeface="+mn-ea"/>
              </a:rPr>
              <a:t> = ρ</a:t>
            </a:r>
            <a:r>
              <a:rPr lang="zh-CN" altLang="en-US" sz="2000" baseline="-25000">
                <a:sym typeface="+mn-ea"/>
              </a:rPr>
              <a:t>水</a:t>
            </a:r>
            <a:r>
              <a:rPr lang="en-US" altLang="zh-CN" sz="2000">
                <a:sym typeface="+mn-ea"/>
              </a:rPr>
              <a:t> * V</a:t>
            </a:r>
            <a:r>
              <a:rPr lang="zh-CN" altLang="en-US" sz="2000" baseline="-25000">
                <a:sym typeface="+mn-ea"/>
              </a:rPr>
              <a:t>水</a:t>
            </a:r>
            <a:r>
              <a:rPr lang="en-US" altLang="zh-CN" sz="2000">
                <a:sym typeface="+mn-ea"/>
              </a:rPr>
              <a:t> </a:t>
            </a:r>
            <a:endParaRPr lang="en-US" altLang="zh-CN" sz="2000">
              <a:sym typeface="+mn-ea"/>
            </a:endParaRPr>
          </a:p>
          <a:p>
            <a:endParaRPr lang="en-US" altLang="zh-CN" sz="2000">
              <a:solidFill>
                <a:schemeClr val="tx1"/>
              </a:solidFill>
              <a:sym typeface="+mn-ea"/>
            </a:endParaRPr>
          </a:p>
        </p:txBody>
      </p:sp>
      <p:sp>
        <p:nvSpPr>
          <p:cNvPr id="27" name="文本框 26"/>
          <p:cNvSpPr txBox="1"/>
          <p:nvPr/>
        </p:nvSpPr>
        <p:spPr>
          <a:xfrm>
            <a:off x="222250" y="3413760"/>
            <a:ext cx="5026025" cy="1213485"/>
          </a:xfrm>
          <a:prstGeom prst="rect">
            <a:avLst/>
          </a:prstGeom>
          <a:noFill/>
        </p:spPr>
        <p:txBody>
          <a:bodyPr wrap="square" rtlCol="0" anchor="t">
            <a:noAutofit/>
          </a:bodyPr>
          <a:p>
            <a:r>
              <a:rPr lang="zh-CN" altLang="en-US" sz="2000">
                <a:sym typeface="+mn-ea"/>
              </a:rPr>
              <a:t>公式</a:t>
            </a:r>
            <a:r>
              <a:rPr lang="en-US" altLang="zh-CN" sz="2000">
                <a:sym typeface="+mn-ea"/>
              </a:rPr>
              <a:t> f2 </a:t>
            </a:r>
            <a:r>
              <a:rPr lang="zh-CN" altLang="en-US" sz="2000">
                <a:sym typeface="+mn-ea"/>
              </a:rPr>
              <a:t>文本表示：</a:t>
            </a:r>
            <a:r>
              <a:rPr lang="en-US" altLang="zh-CN" sz="2000">
                <a:solidFill>
                  <a:schemeClr val="tx1"/>
                </a:solidFill>
                <a:sym typeface="+mn-ea"/>
              </a:rPr>
              <a:t>[</a:t>
            </a:r>
            <a:r>
              <a:rPr lang="zh-CN" altLang="en-US" sz="2000">
                <a:solidFill>
                  <a:schemeClr val="tx1"/>
                </a:solidFill>
                <a:sym typeface="+mn-ea"/>
              </a:rPr>
              <a:t>电压</a:t>
            </a:r>
            <a:r>
              <a:rPr lang="en-US" altLang="zh-CN" sz="2000">
                <a:solidFill>
                  <a:schemeClr val="tx1"/>
                </a:solidFill>
                <a:sym typeface="+mn-ea"/>
              </a:rPr>
              <a:t>] = [</a:t>
            </a:r>
            <a:r>
              <a:rPr lang="zh-CN" altLang="en-US" sz="2000">
                <a:solidFill>
                  <a:schemeClr val="tx1"/>
                </a:solidFill>
                <a:sym typeface="+mn-ea"/>
              </a:rPr>
              <a:t>电阻</a:t>
            </a:r>
            <a:r>
              <a:rPr lang="en-US" altLang="zh-CN" sz="2000">
                <a:solidFill>
                  <a:schemeClr val="tx1"/>
                </a:solidFill>
                <a:sym typeface="+mn-ea"/>
              </a:rPr>
              <a:t>] * [</a:t>
            </a:r>
            <a:r>
              <a:rPr lang="zh-CN" altLang="en-US" sz="2000">
                <a:solidFill>
                  <a:schemeClr val="tx1"/>
                </a:solidFill>
                <a:sym typeface="+mn-ea"/>
              </a:rPr>
              <a:t>电流</a:t>
            </a:r>
            <a:r>
              <a:rPr lang="en-US" altLang="zh-CN" sz="2000">
                <a:solidFill>
                  <a:schemeClr val="tx1"/>
                </a:solidFill>
                <a:sym typeface="+mn-ea"/>
              </a:rPr>
              <a:t>]</a:t>
            </a:r>
            <a:endParaRPr lang="en-US" altLang="zh-CN" sz="2000">
              <a:solidFill>
                <a:schemeClr val="tx1"/>
              </a:solidFill>
              <a:sym typeface="+mn-ea"/>
            </a:endParaRPr>
          </a:p>
          <a:p>
            <a:endParaRPr lang="en-US" altLang="zh-CN" sz="2000">
              <a:solidFill>
                <a:schemeClr val="tx1"/>
              </a:solidFill>
              <a:sym typeface="+mn-ea"/>
            </a:endParaRPr>
          </a:p>
          <a:p>
            <a:r>
              <a:rPr lang="zh-CN" altLang="en-US" sz="2000">
                <a:sym typeface="+mn-ea"/>
              </a:rPr>
              <a:t>公式</a:t>
            </a:r>
            <a:r>
              <a:rPr lang="en-US" altLang="zh-CN" sz="2000">
                <a:sym typeface="+mn-ea"/>
              </a:rPr>
              <a:t> f2 </a:t>
            </a:r>
            <a:r>
              <a:rPr lang="zh-CN" altLang="en-US" sz="2000">
                <a:sym typeface="+mn-ea"/>
              </a:rPr>
              <a:t>符号表示：</a:t>
            </a:r>
            <a:r>
              <a:rPr lang="en-US" altLang="zh-CN" sz="2000">
                <a:sym typeface="+mn-ea"/>
              </a:rPr>
              <a:t>U = R * I </a:t>
            </a:r>
            <a:endParaRPr lang="en-US" altLang="zh-CN" sz="2000">
              <a:sym typeface="+mn-ea"/>
            </a:endParaRPr>
          </a:p>
          <a:p>
            <a:endParaRPr lang="en-US" altLang="zh-CN" sz="2000">
              <a:solidFill>
                <a:schemeClr val="tx1"/>
              </a:solidFill>
              <a:sym typeface="+mn-ea"/>
            </a:endParaRPr>
          </a:p>
        </p:txBody>
      </p:sp>
      <p:sp>
        <p:nvSpPr>
          <p:cNvPr id="28" name="文本框 27"/>
          <p:cNvSpPr txBox="1"/>
          <p:nvPr/>
        </p:nvSpPr>
        <p:spPr>
          <a:xfrm>
            <a:off x="222250" y="1618615"/>
            <a:ext cx="5402580" cy="1226185"/>
          </a:xfrm>
          <a:prstGeom prst="rect">
            <a:avLst/>
          </a:prstGeom>
          <a:noFill/>
        </p:spPr>
        <p:txBody>
          <a:bodyPr wrap="square" rtlCol="0" anchor="t">
            <a:noAutofit/>
          </a:bodyPr>
          <a:p>
            <a:r>
              <a:rPr lang="zh-CN" altLang="en-US" sz="2000">
                <a:sym typeface="+mn-ea"/>
              </a:rPr>
              <a:t>公式</a:t>
            </a:r>
            <a:r>
              <a:rPr lang="en-US" altLang="zh-CN" sz="2000">
                <a:sym typeface="+mn-ea"/>
              </a:rPr>
              <a:t> f1 </a:t>
            </a:r>
            <a:r>
              <a:rPr lang="zh-CN" altLang="en-US" sz="2000">
                <a:sym typeface="+mn-ea"/>
              </a:rPr>
              <a:t>文本表示：</a:t>
            </a:r>
            <a:r>
              <a:rPr lang="en-US" altLang="zh-CN" sz="2000">
                <a:solidFill>
                  <a:schemeClr val="tx1"/>
                </a:solidFill>
                <a:sym typeface="+mn-ea"/>
              </a:rPr>
              <a:t>[</a:t>
            </a:r>
            <a:r>
              <a:rPr lang="zh-CN" altLang="en-US" sz="2000">
                <a:solidFill>
                  <a:schemeClr val="tx1"/>
                </a:solidFill>
                <a:sym typeface="+mn-ea"/>
              </a:rPr>
              <a:t>温度变化</a:t>
            </a:r>
            <a:r>
              <a:rPr lang="en-US" altLang="zh-CN" sz="2000">
                <a:solidFill>
                  <a:schemeClr val="tx1"/>
                </a:solidFill>
                <a:sym typeface="+mn-ea"/>
              </a:rPr>
              <a:t>]=[</a:t>
            </a:r>
            <a:r>
              <a:rPr lang="zh-CN" altLang="en-US" sz="2000">
                <a:solidFill>
                  <a:schemeClr val="tx1"/>
                </a:solidFill>
                <a:sym typeface="+mn-ea"/>
              </a:rPr>
              <a:t>末温</a:t>
            </a:r>
            <a:r>
              <a:rPr lang="en-US" altLang="zh-CN" sz="2000">
                <a:solidFill>
                  <a:schemeClr val="tx1"/>
                </a:solidFill>
                <a:sym typeface="+mn-ea"/>
              </a:rPr>
              <a:t>] - [</a:t>
            </a:r>
            <a:r>
              <a:rPr lang="zh-CN" altLang="en-US" sz="2000">
                <a:solidFill>
                  <a:schemeClr val="tx1"/>
                </a:solidFill>
                <a:sym typeface="+mn-ea"/>
              </a:rPr>
              <a:t>初温</a:t>
            </a:r>
            <a:r>
              <a:rPr lang="en-US" altLang="zh-CN" sz="2000">
                <a:solidFill>
                  <a:schemeClr val="tx1"/>
                </a:solidFill>
                <a:sym typeface="+mn-ea"/>
              </a:rPr>
              <a:t>]</a:t>
            </a:r>
            <a:endParaRPr lang="en-US" altLang="zh-CN" sz="2000">
              <a:solidFill>
                <a:schemeClr val="tx1"/>
              </a:solidFill>
              <a:sym typeface="+mn-ea"/>
            </a:endParaRPr>
          </a:p>
          <a:p>
            <a:endParaRPr lang="en-US" altLang="zh-CN" sz="2000">
              <a:solidFill>
                <a:schemeClr val="tx1"/>
              </a:solidFill>
              <a:sym typeface="+mn-ea"/>
            </a:endParaRPr>
          </a:p>
          <a:p>
            <a:r>
              <a:rPr lang="zh-CN" altLang="en-US" sz="2000">
                <a:sym typeface="+mn-ea"/>
              </a:rPr>
              <a:t>公式</a:t>
            </a:r>
            <a:r>
              <a:rPr lang="en-US" altLang="zh-CN" sz="2000">
                <a:sym typeface="+mn-ea"/>
              </a:rPr>
              <a:t> f1 </a:t>
            </a:r>
            <a:r>
              <a:rPr lang="zh-CN" altLang="en-US" sz="2000">
                <a:sym typeface="+mn-ea"/>
              </a:rPr>
              <a:t>符号表示：</a:t>
            </a:r>
            <a:r>
              <a:rPr lang="en-US" altLang="zh-CN" sz="2000">
                <a:sym typeface="+mn-ea"/>
              </a:rPr>
              <a:t>Δt = t</a:t>
            </a:r>
            <a:r>
              <a:rPr lang="zh-CN" altLang="en-US" sz="2000" baseline="-25000">
                <a:sym typeface="+mn-ea"/>
              </a:rPr>
              <a:t>末</a:t>
            </a:r>
            <a:r>
              <a:rPr lang="en-US" altLang="zh-CN" sz="2000">
                <a:sym typeface="+mn-ea"/>
              </a:rPr>
              <a:t> - t</a:t>
            </a:r>
            <a:r>
              <a:rPr lang="zh-CN" altLang="en-US" sz="2000" baseline="-25000">
                <a:sym typeface="+mn-ea"/>
              </a:rPr>
              <a:t>初</a:t>
            </a:r>
            <a:endParaRPr lang="zh-CN" altLang="en-US" sz="2000" baseline="-25000">
              <a:sym typeface="+mn-ea"/>
            </a:endParaRPr>
          </a:p>
          <a:p>
            <a:endParaRPr lang="en-US" altLang="zh-CN" sz="2000">
              <a:solidFill>
                <a:schemeClr val="tx1"/>
              </a:solidFill>
              <a:sym typeface="+mn-ea"/>
            </a:endParaRPr>
          </a:p>
        </p:txBody>
      </p:sp>
      <p:sp>
        <p:nvSpPr>
          <p:cNvPr id="30" name="文本框 29"/>
          <p:cNvSpPr txBox="1"/>
          <p:nvPr/>
        </p:nvSpPr>
        <p:spPr>
          <a:xfrm>
            <a:off x="5635625" y="3249930"/>
            <a:ext cx="2559050" cy="1691005"/>
          </a:xfrm>
          <a:prstGeom prst="rect">
            <a:avLst/>
          </a:prstGeom>
          <a:noFill/>
        </p:spPr>
        <p:txBody>
          <a:bodyPr wrap="square" rtlCol="0" anchor="t">
            <a:noAutofit/>
          </a:bodyPr>
          <a:p>
            <a:r>
              <a:rPr lang="en-US" altLang="zh-CN" sz="2000">
                <a:sym typeface="+mn-ea"/>
              </a:rPr>
              <a:t>f0 </a:t>
            </a:r>
            <a:r>
              <a:rPr lang="zh-CN" altLang="en-US" sz="2000">
                <a:sym typeface="+mn-ea"/>
              </a:rPr>
              <a:t>结构：</a:t>
            </a:r>
            <a:r>
              <a:rPr lang="en-US" altLang="zh-CN" sz="2000">
                <a:sym typeface="+mn-ea"/>
              </a:rPr>
              <a:t>a = b / c </a:t>
            </a:r>
            <a:endParaRPr lang="en-US" altLang="zh-CN" sz="2000"/>
          </a:p>
          <a:p>
            <a:r>
              <a:rPr lang="en-US" altLang="zh-CN" sz="2000">
                <a:sym typeface="+mn-ea"/>
              </a:rPr>
              <a:t>f2 </a:t>
            </a:r>
            <a:r>
              <a:rPr lang="zh-CN" altLang="en-US" sz="2000">
                <a:sym typeface="+mn-ea"/>
              </a:rPr>
              <a:t>结构：</a:t>
            </a:r>
            <a:r>
              <a:rPr lang="en-US" altLang="zh-CN" sz="2000">
                <a:sym typeface="+mn-ea"/>
              </a:rPr>
              <a:t>x = y * z</a:t>
            </a:r>
            <a:endParaRPr lang="en-US" altLang="zh-CN" sz="2000"/>
          </a:p>
          <a:p>
            <a:endParaRPr lang="en-US" altLang="zh-CN" sz="2000"/>
          </a:p>
          <a:p>
            <a:endParaRPr lang="en-US" altLang="zh-CN" sz="2000"/>
          </a:p>
          <a:p>
            <a:r>
              <a:rPr lang="en-US" altLang="zh-CN" sz="2000">
                <a:sym typeface="+mn-ea"/>
              </a:rPr>
              <a:t>   </a:t>
            </a:r>
            <a:r>
              <a:rPr lang="zh-CN" altLang="en-US" sz="2000">
                <a:sym typeface="+mn-ea"/>
              </a:rPr>
              <a:t>结构可以转化</a:t>
            </a:r>
            <a:r>
              <a:rPr lang="en-US" altLang="zh-CN" sz="2000">
                <a:sym typeface="+mn-ea"/>
              </a:rPr>
              <a:t> </a:t>
            </a:r>
            <a:endParaRPr lang="en-US" altLang="zh-CN" sz="2000">
              <a:sym typeface="+mn-ea"/>
            </a:endParaRPr>
          </a:p>
        </p:txBody>
      </p:sp>
      <p:sp>
        <p:nvSpPr>
          <p:cNvPr id="7" name="文本框 6"/>
          <p:cNvSpPr txBox="1"/>
          <p:nvPr/>
        </p:nvSpPr>
        <p:spPr>
          <a:xfrm>
            <a:off x="5638800" y="1470660"/>
            <a:ext cx="2406015" cy="1630045"/>
          </a:xfrm>
          <a:prstGeom prst="rect">
            <a:avLst/>
          </a:prstGeom>
          <a:noFill/>
        </p:spPr>
        <p:txBody>
          <a:bodyPr wrap="square" rtlCol="0">
            <a:spAutoFit/>
          </a:bodyPr>
          <a:p>
            <a:r>
              <a:rPr lang="en-US" altLang="zh-CN" sz="2000"/>
              <a:t>f0 </a:t>
            </a:r>
            <a:r>
              <a:rPr lang="zh-CN" altLang="en-US" sz="2000"/>
              <a:t>结构：</a:t>
            </a:r>
            <a:r>
              <a:rPr lang="en-US" altLang="zh-CN" sz="2000"/>
              <a:t>a = b / c </a:t>
            </a:r>
            <a:endParaRPr lang="en-US" altLang="zh-CN" sz="2000"/>
          </a:p>
          <a:p>
            <a:r>
              <a:rPr lang="en-US" altLang="zh-CN" sz="2000"/>
              <a:t>f1 </a:t>
            </a:r>
            <a:r>
              <a:rPr lang="zh-CN" altLang="en-US" sz="2000"/>
              <a:t>结构：</a:t>
            </a:r>
            <a:r>
              <a:rPr lang="en-US" altLang="zh-CN" sz="2000"/>
              <a:t>x = y - </a:t>
            </a:r>
            <a:r>
              <a:rPr lang="en-US" altLang="zh-CN" sz="2000"/>
              <a:t>z</a:t>
            </a:r>
            <a:endParaRPr lang="en-US" altLang="zh-CN" sz="2000"/>
          </a:p>
          <a:p>
            <a:endParaRPr lang="en-US" altLang="zh-CN" sz="2000"/>
          </a:p>
          <a:p>
            <a:endParaRPr lang="en-US" altLang="zh-CN" sz="2000"/>
          </a:p>
          <a:p>
            <a:r>
              <a:rPr lang="zh-CN" altLang="en-US" sz="2000"/>
              <a:t>结构不同无法转化</a:t>
            </a:r>
            <a:r>
              <a:rPr lang="en-US" altLang="zh-CN" sz="2000"/>
              <a:t> </a:t>
            </a:r>
            <a:endParaRPr lang="zh-CN" altLang="en-US" sz="2000"/>
          </a:p>
        </p:txBody>
      </p:sp>
      <p:cxnSp>
        <p:nvCxnSpPr>
          <p:cNvPr id="9" name="直接连接符 8"/>
          <p:cNvCxnSpPr/>
          <p:nvPr/>
        </p:nvCxnSpPr>
        <p:spPr>
          <a:xfrm>
            <a:off x="-121285" y="1334770"/>
            <a:ext cx="12676505"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222250" y="184150"/>
            <a:ext cx="4975225" cy="1014730"/>
          </a:xfrm>
          <a:prstGeom prst="rect">
            <a:avLst/>
          </a:prstGeom>
          <a:noFill/>
        </p:spPr>
        <p:txBody>
          <a:bodyPr wrap="square" rtlCol="0" anchor="t">
            <a:spAutoFit/>
          </a:bodyPr>
          <a:p>
            <a:r>
              <a:rPr lang="zh-CN" altLang="en-US" sz="2000">
                <a:sym typeface="+mn-ea"/>
              </a:rPr>
              <a:t>公式</a:t>
            </a:r>
            <a:r>
              <a:rPr lang="en-US" altLang="zh-CN" sz="2000">
                <a:sym typeface="+mn-ea"/>
              </a:rPr>
              <a:t> f0 </a:t>
            </a:r>
            <a:r>
              <a:rPr lang="zh-CN" altLang="en-US" sz="2000">
                <a:sym typeface="+mn-ea"/>
              </a:rPr>
              <a:t>文本表示：</a:t>
            </a:r>
            <a:r>
              <a:rPr lang="en-US" altLang="zh-CN" sz="2000">
                <a:sym typeface="+mn-ea"/>
              </a:rPr>
              <a:t>[</a:t>
            </a:r>
            <a:r>
              <a:rPr lang="zh-CN" altLang="en-US" sz="2000">
                <a:sym typeface="+mn-ea"/>
              </a:rPr>
              <a:t>体积</a:t>
            </a:r>
            <a:r>
              <a:rPr lang="en-US" altLang="zh-CN" sz="2000">
                <a:sym typeface="+mn-ea"/>
              </a:rPr>
              <a:t>] = [</a:t>
            </a:r>
            <a:r>
              <a:rPr lang="zh-CN" altLang="en-US" sz="2000">
                <a:sym typeface="+mn-ea"/>
              </a:rPr>
              <a:t>质量</a:t>
            </a:r>
            <a:r>
              <a:rPr lang="en-US" altLang="zh-CN" sz="2000">
                <a:sym typeface="+mn-ea"/>
              </a:rPr>
              <a:t>] / [</a:t>
            </a:r>
            <a:r>
              <a:rPr lang="zh-CN" altLang="en-US" sz="2000">
                <a:sym typeface="+mn-ea"/>
              </a:rPr>
              <a:t>密度</a:t>
            </a:r>
            <a:r>
              <a:rPr lang="en-US" altLang="zh-CN" sz="2000">
                <a:sym typeface="+mn-ea"/>
              </a:rPr>
              <a:t>]</a:t>
            </a:r>
            <a:endParaRPr lang="en-US" altLang="zh-CN" sz="2000">
              <a:sym typeface="+mn-ea"/>
            </a:endParaRPr>
          </a:p>
          <a:p>
            <a:endParaRPr lang="zh-CN" altLang="en-US" sz="2000">
              <a:sym typeface="+mn-ea"/>
            </a:endParaRPr>
          </a:p>
          <a:p>
            <a:r>
              <a:rPr lang="zh-CN" altLang="en-US" sz="2000">
                <a:sym typeface="+mn-ea"/>
              </a:rPr>
              <a:t>公式</a:t>
            </a:r>
            <a:r>
              <a:rPr lang="en-US" altLang="zh-CN" sz="2000">
                <a:sym typeface="+mn-ea"/>
              </a:rPr>
              <a:t> f0 </a:t>
            </a:r>
            <a:r>
              <a:rPr lang="zh-CN" altLang="en-US" sz="2000">
                <a:sym typeface="+mn-ea"/>
              </a:rPr>
              <a:t>符号表示：</a:t>
            </a:r>
            <a:r>
              <a:rPr lang="en-US" altLang="zh-CN" sz="2000">
                <a:sym typeface="+mn-ea"/>
              </a:rPr>
              <a:t>V = m / ρ </a:t>
            </a:r>
            <a:endParaRPr lang="en-US" altLang="zh-CN" sz="2000">
              <a:sym typeface="+mn-ea"/>
            </a:endParaRPr>
          </a:p>
        </p:txBody>
      </p:sp>
      <p:cxnSp>
        <p:nvCxnSpPr>
          <p:cNvPr id="12" name="直接连接符 11"/>
          <p:cNvCxnSpPr/>
          <p:nvPr/>
        </p:nvCxnSpPr>
        <p:spPr>
          <a:xfrm>
            <a:off x="5398135" y="21590"/>
            <a:ext cx="0" cy="706564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a:off x="-283210" y="3134360"/>
            <a:ext cx="1286129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直接连接符 13"/>
          <p:cNvCxnSpPr/>
          <p:nvPr/>
        </p:nvCxnSpPr>
        <p:spPr>
          <a:xfrm>
            <a:off x="-248920" y="4902835"/>
            <a:ext cx="12919075" cy="1143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6" name="乘号 15"/>
          <p:cNvSpPr/>
          <p:nvPr/>
        </p:nvSpPr>
        <p:spPr>
          <a:xfrm>
            <a:off x="10895965" y="3720465"/>
            <a:ext cx="911860" cy="808355"/>
          </a:xfrm>
          <a:prstGeom prst="mathMultiply">
            <a:avLst>
              <a:gd name="adj1" fmla="val 1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8085455" y="3255645"/>
            <a:ext cx="2559050" cy="1725930"/>
          </a:xfrm>
          <a:prstGeom prst="rect">
            <a:avLst/>
          </a:prstGeom>
          <a:noFill/>
        </p:spPr>
        <p:txBody>
          <a:bodyPr wrap="square" rtlCol="0" anchor="t">
            <a:noAutofit/>
          </a:bodyPr>
          <a:p>
            <a:r>
              <a:rPr lang="en-US" altLang="zh-CN" sz="2000">
                <a:sym typeface="+mn-ea"/>
              </a:rPr>
              <a:t>f0 </a:t>
            </a:r>
            <a:r>
              <a:rPr lang="zh-CN" altLang="en-US" sz="2000">
                <a:sym typeface="+mn-ea"/>
              </a:rPr>
              <a:t>符号：</a:t>
            </a:r>
            <a:r>
              <a:rPr lang="en-US" altLang="zh-CN" sz="2000">
                <a:sym typeface="+mn-ea"/>
              </a:rPr>
              <a:t>V = m / ρ</a:t>
            </a:r>
            <a:endParaRPr lang="en-US" altLang="zh-CN" sz="2000">
              <a:sym typeface="+mn-ea"/>
            </a:endParaRPr>
          </a:p>
          <a:p>
            <a:r>
              <a:rPr lang="en-US" altLang="zh-CN" sz="2000"/>
              <a:t>f2 </a:t>
            </a:r>
            <a:r>
              <a:rPr lang="zh-CN" altLang="en-US" sz="2000"/>
              <a:t>符号：</a:t>
            </a:r>
            <a:r>
              <a:rPr lang="en-US" altLang="zh-CN" sz="2000"/>
              <a:t>R = U / I</a:t>
            </a:r>
            <a:endParaRPr lang="en-US" altLang="zh-CN" sz="2000"/>
          </a:p>
          <a:p>
            <a:endParaRPr lang="en-US" altLang="zh-CN" sz="2000">
              <a:sym typeface="+mn-ea"/>
            </a:endParaRPr>
          </a:p>
          <a:p>
            <a:endParaRPr lang="en-US" altLang="zh-CN" sz="2000">
              <a:sym typeface="+mn-ea"/>
            </a:endParaRPr>
          </a:p>
          <a:p>
            <a:r>
              <a:rPr lang="en-US" altLang="zh-CN" sz="2000">
                <a:sym typeface="+mn-ea"/>
              </a:rPr>
              <a:t>    </a:t>
            </a:r>
            <a:r>
              <a:rPr lang="zh-CN" altLang="en-US" sz="2000">
                <a:sym typeface="+mn-ea"/>
              </a:rPr>
              <a:t>符号不一致</a:t>
            </a:r>
            <a:endParaRPr lang="en-US" altLang="zh-CN" sz="2000">
              <a:sym typeface="+mn-ea"/>
            </a:endParaRPr>
          </a:p>
          <a:p>
            <a:endParaRPr lang="en-US" altLang="zh-CN" sz="2000">
              <a:sym typeface="+mn-ea"/>
            </a:endParaRPr>
          </a:p>
        </p:txBody>
      </p:sp>
      <p:sp>
        <p:nvSpPr>
          <p:cNvPr id="21" name="文本框 20"/>
          <p:cNvSpPr txBox="1"/>
          <p:nvPr/>
        </p:nvSpPr>
        <p:spPr>
          <a:xfrm>
            <a:off x="5612765" y="5114290"/>
            <a:ext cx="2559050" cy="1754505"/>
          </a:xfrm>
          <a:prstGeom prst="rect">
            <a:avLst/>
          </a:prstGeom>
          <a:noFill/>
        </p:spPr>
        <p:txBody>
          <a:bodyPr wrap="square" rtlCol="0" anchor="t">
            <a:noAutofit/>
          </a:bodyPr>
          <a:p>
            <a:r>
              <a:rPr lang="en-US" altLang="zh-CN" sz="2000">
                <a:sym typeface="+mn-ea"/>
              </a:rPr>
              <a:t>f0 </a:t>
            </a:r>
            <a:r>
              <a:rPr lang="zh-CN" altLang="en-US" sz="2000">
                <a:sym typeface="+mn-ea"/>
              </a:rPr>
              <a:t>结构：</a:t>
            </a:r>
            <a:r>
              <a:rPr lang="en-US" altLang="zh-CN" sz="2000">
                <a:sym typeface="+mn-ea"/>
              </a:rPr>
              <a:t>a = b / c </a:t>
            </a:r>
            <a:endParaRPr lang="en-US" altLang="zh-CN" sz="2000"/>
          </a:p>
          <a:p>
            <a:r>
              <a:rPr lang="en-US" altLang="zh-CN" sz="2000">
                <a:sym typeface="+mn-ea"/>
              </a:rPr>
              <a:t>f3 </a:t>
            </a:r>
            <a:r>
              <a:rPr lang="zh-CN" altLang="en-US" sz="2000">
                <a:sym typeface="+mn-ea"/>
              </a:rPr>
              <a:t>结构：</a:t>
            </a:r>
            <a:r>
              <a:rPr lang="en-US" altLang="zh-CN" sz="2000">
                <a:sym typeface="+mn-ea"/>
              </a:rPr>
              <a:t>x = y * z</a:t>
            </a:r>
            <a:endParaRPr lang="en-US" altLang="zh-CN" sz="2000"/>
          </a:p>
          <a:p>
            <a:endParaRPr lang="en-US" altLang="zh-CN" sz="2000"/>
          </a:p>
          <a:p>
            <a:endParaRPr lang="en-US" altLang="zh-CN" sz="2000"/>
          </a:p>
          <a:p>
            <a:r>
              <a:rPr lang="en-US" altLang="zh-CN" sz="2000">
                <a:sym typeface="+mn-ea"/>
              </a:rPr>
              <a:t>   </a:t>
            </a:r>
            <a:r>
              <a:rPr lang="zh-CN" altLang="en-US" sz="2000">
                <a:sym typeface="+mn-ea"/>
              </a:rPr>
              <a:t>结构可以转化</a:t>
            </a:r>
            <a:r>
              <a:rPr lang="en-US" altLang="zh-CN" sz="2000">
                <a:sym typeface="+mn-ea"/>
              </a:rPr>
              <a:t> </a:t>
            </a:r>
            <a:endParaRPr lang="en-US" altLang="zh-CN" sz="2000">
              <a:sym typeface="+mn-ea"/>
            </a:endParaRPr>
          </a:p>
        </p:txBody>
      </p:sp>
      <p:sp>
        <p:nvSpPr>
          <p:cNvPr id="22" name="文本框 21"/>
          <p:cNvSpPr txBox="1"/>
          <p:nvPr/>
        </p:nvSpPr>
        <p:spPr>
          <a:xfrm>
            <a:off x="8076565" y="5125085"/>
            <a:ext cx="2974975" cy="1715770"/>
          </a:xfrm>
          <a:prstGeom prst="rect">
            <a:avLst/>
          </a:prstGeom>
          <a:noFill/>
        </p:spPr>
        <p:txBody>
          <a:bodyPr wrap="square" rtlCol="0" anchor="t">
            <a:noAutofit/>
          </a:bodyPr>
          <a:p>
            <a:r>
              <a:rPr lang="en-US" altLang="zh-CN" sz="2000">
                <a:sym typeface="+mn-ea"/>
              </a:rPr>
              <a:t>f0 </a:t>
            </a:r>
            <a:r>
              <a:rPr lang="zh-CN" altLang="en-US" sz="2000">
                <a:sym typeface="+mn-ea"/>
              </a:rPr>
              <a:t>符号：</a:t>
            </a:r>
            <a:r>
              <a:rPr lang="en-US" altLang="zh-CN" sz="2000">
                <a:sym typeface="+mn-ea"/>
              </a:rPr>
              <a:t>V = m / </a:t>
            </a:r>
            <a:r>
              <a:rPr lang="en-US" altLang="zh-CN" sz="2000">
                <a:sym typeface="+mn-ea"/>
              </a:rPr>
              <a:t>ρ</a:t>
            </a:r>
            <a:endParaRPr lang="en-US" altLang="zh-CN" sz="2000">
              <a:sym typeface="+mn-ea"/>
            </a:endParaRPr>
          </a:p>
          <a:p>
            <a:r>
              <a:rPr lang="en-US" altLang="zh-CN" sz="2000"/>
              <a:t>f3 </a:t>
            </a:r>
            <a:r>
              <a:rPr lang="zh-CN" altLang="en-US" sz="2000"/>
              <a:t>符号：</a:t>
            </a:r>
            <a:r>
              <a:rPr lang="en-US" altLang="zh-CN" sz="2000"/>
              <a:t>V</a:t>
            </a:r>
            <a:r>
              <a:rPr lang="zh-CN" altLang="en-US" sz="2000" baseline="-25000">
                <a:sym typeface="+mn-ea"/>
              </a:rPr>
              <a:t>水</a:t>
            </a:r>
            <a:r>
              <a:rPr lang="en-US" altLang="zh-CN" sz="2000">
                <a:sym typeface="+mn-ea"/>
              </a:rPr>
              <a:t> = m</a:t>
            </a:r>
            <a:r>
              <a:rPr lang="zh-CN" altLang="en-US" sz="2000" baseline="-25000">
                <a:sym typeface="+mn-ea"/>
              </a:rPr>
              <a:t>水</a:t>
            </a:r>
            <a:r>
              <a:rPr lang="en-US" altLang="zh-CN" sz="2000">
                <a:sym typeface="+mn-ea"/>
              </a:rPr>
              <a:t> / ρ</a:t>
            </a:r>
            <a:r>
              <a:rPr lang="zh-CN" altLang="en-US" sz="2000" baseline="-25000">
                <a:sym typeface="+mn-ea"/>
              </a:rPr>
              <a:t>水</a:t>
            </a:r>
            <a:endParaRPr lang="en-US" altLang="zh-CN" sz="2000">
              <a:sym typeface="+mn-ea"/>
            </a:endParaRPr>
          </a:p>
          <a:p>
            <a:endParaRPr lang="zh-CN" altLang="en-US" sz="2000">
              <a:sym typeface="+mn-ea"/>
            </a:endParaRPr>
          </a:p>
          <a:p>
            <a:endParaRPr lang="zh-CN" altLang="en-US" sz="2000">
              <a:sym typeface="+mn-ea"/>
            </a:endParaRPr>
          </a:p>
          <a:p>
            <a:r>
              <a:rPr lang="en-US" altLang="zh-CN" sz="2000">
                <a:sym typeface="+mn-ea"/>
              </a:rPr>
              <a:t>    </a:t>
            </a:r>
            <a:r>
              <a:rPr lang="zh-CN" altLang="en-US" sz="2000">
                <a:sym typeface="+mn-ea"/>
              </a:rPr>
              <a:t>符号一致</a:t>
            </a:r>
            <a:endParaRPr lang="en-US" altLang="zh-CN" sz="2000">
              <a:sym typeface="+mn-ea"/>
            </a:endParaRPr>
          </a:p>
          <a:p>
            <a:endParaRPr lang="en-US" altLang="zh-CN" sz="2000">
              <a:sym typeface="+mn-ea"/>
            </a:endParaRPr>
          </a:p>
        </p:txBody>
      </p:sp>
      <p:sp>
        <p:nvSpPr>
          <p:cNvPr id="23" name="圆角矩形 22"/>
          <p:cNvSpPr/>
          <p:nvPr/>
        </p:nvSpPr>
        <p:spPr>
          <a:xfrm>
            <a:off x="212725" y="102870"/>
            <a:ext cx="4711700" cy="1165860"/>
          </a:xfrm>
          <a:prstGeom prst="roundRect">
            <a:avLst/>
          </a:prstGeom>
          <a:noFill/>
          <a:ln w="317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圆角矩形 28"/>
          <p:cNvSpPr/>
          <p:nvPr/>
        </p:nvSpPr>
        <p:spPr>
          <a:xfrm>
            <a:off x="212725" y="1570990"/>
            <a:ext cx="5105400" cy="1165860"/>
          </a:xfrm>
          <a:prstGeom prst="roundRect">
            <a:avLst/>
          </a:prstGeom>
          <a:noFill/>
          <a:ln w="317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圆角矩形 30"/>
          <p:cNvSpPr/>
          <p:nvPr/>
        </p:nvSpPr>
        <p:spPr>
          <a:xfrm>
            <a:off x="222250" y="3362960"/>
            <a:ext cx="4788535" cy="1165860"/>
          </a:xfrm>
          <a:prstGeom prst="roundRect">
            <a:avLst/>
          </a:prstGeom>
          <a:noFill/>
          <a:ln w="317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圆角矩形 31"/>
          <p:cNvSpPr/>
          <p:nvPr/>
        </p:nvSpPr>
        <p:spPr>
          <a:xfrm>
            <a:off x="212725" y="5212715"/>
            <a:ext cx="5035550" cy="1419860"/>
          </a:xfrm>
          <a:prstGeom prst="roundRect">
            <a:avLst/>
          </a:prstGeom>
          <a:noFill/>
          <a:ln w="317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3" name="直接连接符 32"/>
          <p:cNvCxnSpPr>
            <a:stCxn id="23" idx="1"/>
            <a:endCxn id="23" idx="3"/>
          </p:cNvCxnSpPr>
          <p:nvPr/>
        </p:nvCxnSpPr>
        <p:spPr>
          <a:xfrm>
            <a:off x="212725" y="685800"/>
            <a:ext cx="4711700" cy="0"/>
          </a:xfrm>
          <a:prstGeom prst="line">
            <a:avLst/>
          </a:prstGeom>
          <a:ln w="12700" cmpd="sng">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34" name="直接连接符 33"/>
          <p:cNvCxnSpPr/>
          <p:nvPr/>
        </p:nvCxnSpPr>
        <p:spPr>
          <a:xfrm>
            <a:off x="200025" y="2181225"/>
            <a:ext cx="5137785" cy="0"/>
          </a:xfrm>
          <a:prstGeom prst="line">
            <a:avLst/>
          </a:prstGeom>
          <a:ln w="12700" cmpd="sng">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222250" y="3945890"/>
            <a:ext cx="4711700" cy="0"/>
          </a:xfrm>
          <a:prstGeom prst="line">
            <a:avLst/>
          </a:prstGeom>
          <a:ln w="12700" cmpd="sng">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36" name="直接连接符 35"/>
          <p:cNvCxnSpPr/>
          <p:nvPr/>
        </p:nvCxnSpPr>
        <p:spPr>
          <a:xfrm>
            <a:off x="200025" y="6043295"/>
            <a:ext cx="4999990" cy="17145"/>
          </a:xfrm>
          <a:prstGeom prst="line">
            <a:avLst/>
          </a:prstGeom>
          <a:ln w="12700" cmpd="sng">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37" name="直接连接符 36"/>
          <p:cNvCxnSpPr/>
          <p:nvPr/>
        </p:nvCxnSpPr>
        <p:spPr>
          <a:xfrm>
            <a:off x="10963275" y="5955030"/>
            <a:ext cx="300355" cy="423545"/>
          </a:xfrm>
          <a:prstGeom prst="line">
            <a:avLst/>
          </a:prstGeom>
          <a:ln w="190500" cmpd="sng">
            <a:solidFill>
              <a:schemeClr val="accent1"/>
            </a:solidFill>
            <a:prstDash val="solid"/>
          </a:ln>
        </p:spPr>
        <p:style>
          <a:lnRef idx="2">
            <a:schemeClr val="accent1"/>
          </a:lnRef>
          <a:fillRef idx="0">
            <a:srgbClr val="FFFFFF"/>
          </a:fillRef>
          <a:effectRef idx="0">
            <a:srgbClr val="FFFFFF"/>
          </a:effectRef>
          <a:fontRef idx="minor">
            <a:schemeClr val="tx1"/>
          </a:fontRef>
        </p:style>
      </p:cxnSp>
      <p:cxnSp>
        <p:nvCxnSpPr>
          <p:cNvPr id="38" name="直接连接符 37"/>
          <p:cNvCxnSpPr/>
          <p:nvPr/>
        </p:nvCxnSpPr>
        <p:spPr>
          <a:xfrm flipV="1">
            <a:off x="11165205" y="5791835"/>
            <a:ext cx="846455" cy="577850"/>
          </a:xfrm>
          <a:prstGeom prst="line">
            <a:avLst/>
          </a:prstGeom>
          <a:ln w="152400"/>
        </p:spPr>
        <p:style>
          <a:lnRef idx="2">
            <a:schemeClr val="accent1"/>
          </a:lnRef>
          <a:fillRef idx="0">
            <a:srgbClr val="FFFFFF"/>
          </a:fillRef>
          <a:effectRef idx="0">
            <a:srgbClr val="FFFFFF"/>
          </a:effectRef>
          <a:fontRef idx="minor">
            <a:schemeClr val="tx1"/>
          </a:fontRef>
        </p:style>
      </p:cxnSp>
      <p:sp>
        <p:nvSpPr>
          <p:cNvPr id="39" name="乘号 38"/>
          <p:cNvSpPr/>
          <p:nvPr/>
        </p:nvSpPr>
        <p:spPr>
          <a:xfrm>
            <a:off x="8058150" y="1739900"/>
            <a:ext cx="911860" cy="808355"/>
          </a:xfrm>
          <a:prstGeom prst="mathMultiply">
            <a:avLst>
              <a:gd name="adj1" fmla="val 1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5" name="直接箭头连接符 44"/>
          <p:cNvCxnSpPr/>
          <p:nvPr/>
        </p:nvCxnSpPr>
        <p:spPr>
          <a:xfrm flipH="1">
            <a:off x="9043035" y="4060825"/>
            <a:ext cx="3175" cy="362585"/>
          </a:xfrm>
          <a:prstGeom prst="straightConnector1">
            <a:avLst/>
          </a:prstGeom>
          <a:ln w="63500">
            <a:solidFill>
              <a:schemeClr val="accent1"/>
            </a:solidFill>
            <a:miter lim="800000"/>
            <a:tailEnd type="triangle" w="med" len="med"/>
          </a:ln>
        </p:spPr>
        <p:style>
          <a:lnRef idx="2">
            <a:schemeClr val="accent1"/>
          </a:lnRef>
          <a:fillRef idx="0">
            <a:srgbClr val="FFFFFF"/>
          </a:fillRef>
          <a:effectRef idx="0">
            <a:srgbClr val="FFFFFF"/>
          </a:effectRef>
          <a:fontRef idx="minor">
            <a:schemeClr val="tx1"/>
          </a:fontRef>
        </p:style>
      </p:cxnSp>
      <p:cxnSp>
        <p:nvCxnSpPr>
          <p:cNvPr id="47" name="直接箭头连接符 46"/>
          <p:cNvCxnSpPr/>
          <p:nvPr/>
        </p:nvCxnSpPr>
        <p:spPr>
          <a:xfrm flipH="1">
            <a:off x="6723380" y="3990975"/>
            <a:ext cx="3175" cy="362585"/>
          </a:xfrm>
          <a:prstGeom prst="straightConnector1">
            <a:avLst/>
          </a:prstGeom>
          <a:ln w="63500">
            <a:solidFill>
              <a:schemeClr val="accent1"/>
            </a:solidFill>
            <a:miter lim="800000"/>
            <a:tailEnd type="triangle" w="med" len="med"/>
          </a:ln>
        </p:spPr>
        <p:style>
          <a:lnRef idx="2">
            <a:schemeClr val="accent1"/>
          </a:lnRef>
          <a:fillRef idx="0">
            <a:srgbClr val="FFFFFF"/>
          </a:fillRef>
          <a:effectRef idx="0">
            <a:srgbClr val="FFFFFF"/>
          </a:effectRef>
          <a:fontRef idx="minor">
            <a:schemeClr val="tx1"/>
          </a:fontRef>
        </p:style>
      </p:cxnSp>
      <p:cxnSp>
        <p:nvCxnSpPr>
          <p:cNvPr id="48" name="直接箭头连接符 47"/>
          <p:cNvCxnSpPr/>
          <p:nvPr/>
        </p:nvCxnSpPr>
        <p:spPr>
          <a:xfrm flipH="1">
            <a:off x="6726555" y="2270760"/>
            <a:ext cx="3175" cy="362585"/>
          </a:xfrm>
          <a:prstGeom prst="straightConnector1">
            <a:avLst/>
          </a:prstGeom>
          <a:ln w="63500">
            <a:solidFill>
              <a:schemeClr val="accent1"/>
            </a:solidFill>
            <a:miter lim="800000"/>
            <a:tailEnd type="triangle" w="med" len="med"/>
          </a:ln>
        </p:spPr>
        <p:style>
          <a:lnRef idx="2">
            <a:schemeClr val="accent1"/>
          </a:lnRef>
          <a:fillRef idx="0">
            <a:srgbClr val="FFFFFF"/>
          </a:fillRef>
          <a:effectRef idx="0">
            <a:srgbClr val="FFFFFF"/>
          </a:effectRef>
          <a:fontRef idx="minor">
            <a:schemeClr val="tx1"/>
          </a:fontRef>
        </p:style>
      </p:cxnSp>
      <p:cxnSp>
        <p:nvCxnSpPr>
          <p:cNvPr id="49" name="直接箭头连接符 48"/>
          <p:cNvCxnSpPr/>
          <p:nvPr/>
        </p:nvCxnSpPr>
        <p:spPr>
          <a:xfrm flipH="1">
            <a:off x="9046210" y="5949950"/>
            <a:ext cx="3175" cy="362585"/>
          </a:xfrm>
          <a:prstGeom prst="straightConnector1">
            <a:avLst/>
          </a:prstGeom>
          <a:ln w="63500">
            <a:solidFill>
              <a:schemeClr val="accent1"/>
            </a:solidFill>
            <a:miter lim="800000"/>
            <a:tailEnd type="triangle" w="med" len="med"/>
          </a:ln>
        </p:spPr>
        <p:style>
          <a:lnRef idx="2">
            <a:schemeClr val="accent1"/>
          </a:lnRef>
          <a:fillRef idx="0">
            <a:srgbClr val="FFFFFF"/>
          </a:fillRef>
          <a:effectRef idx="0">
            <a:srgbClr val="FFFFFF"/>
          </a:effectRef>
          <a:fontRef idx="minor">
            <a:schemeClr val="tx1"/>
          </a:fontRef>
        </p:style>
      </p:cxnSp>
      <p:cxnSp>
        <p:nvCxnSpPr>
          <p:cNvPr id="50" name="直接箭头连接符 49"/>
          <p:cNvCxnSpPr/>
          <p:nvPr/>
        </p:nvCxnSpPr>
        <p:spPr>
          <a:xfrm flipH="1">
            <a:off x="6723380" y="5961380"/>
            <a:ext cx="3175" cy="362585"/>
          </a:xfrm>
          <a:prstGeom prst="straightConnector1">
            <a:avLst/>
          </a:prstGeom>
          <a:ln w="63500">
            <a:solidFill>
              <a:schemeClr val="accent1"/>
            </a:solidFill>
            <a:miter lim="800000"/>
            <a:tailEnd type="triangle" w="med" len="med"/>
          </a:ln>
        </p:spPr>
        <p:style>
          <a:lnRef idx="2">
            <a:schemeClr val="accent1"/>
          </a:lnRef>
          <a:fillRef idx="0">
            <a:srgbClr val="FFFFFF"/>
          </a:fillRef>
          <a:effectRef idx="0">
            <a:srgbClr val="FFFFFF"/>
          </a:effectRef>
          <a:fontRef idx="minor">
            <a:schemeClr val="tx1"/>
          </a:fontRef>
        </p:style>
      </p:cxnSp>
      <p:cxnSp>
        <p:nvCxnSpPr>
          <p:cNvPr id="52" name="直接连接符 51"/>
          <p:cNvCxnSpPr/>
          <p:nvPr/>
        </p:nvCxnSpPr>
        <p:spPr>
          <a:xfrm>
            <a:off x="-224790" y="6847205"/>
            <a:ext cx="12919075" cy="1143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5" name="矩形 54"/>
          <p:cNvSpPr/>
          <p:nvPr/>
        </p:nvSpPr>
        <p:spPr>
          <a:xfrm>
            <a:off x="5640070" y="1463040"/>
            <a:ext cx="2320290" cy="1604645"/>
          </a:xfrm>
          <a:prstGeom prst="rect">
            <a:avLst/>
          </a:prstGeom>
          <a:noFill/>
          <a:ln w="28575" cmpd="sng">
            <a:solidFill>
              <a:schemeClr val="tx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6" name="矩形 55"/>
          <p:cNvSpPr/>
          <p:nvPr/>
        </p:nvSpPr>
        <p:spPr>
          <a:xfrm>
            <a:off x="5628640" y="3246120"/>
            <a:ext cx="2320290" cy="1604645"/>
          </a:xfrm>
          <a:prstGeom prst="rect">
            <a:avLst/>
          </a:prstGeom>
          <a:noFill/>
          <a:ln w="28575" cmpd="sng">
            <a:solidFill>
              <a:schemeClr val="tx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矩形 56"/>
          <p:cNvSpPr/>
          <p:nvPr/>
        </p:nvSpPr>
        <p:spPr>
          <a:xfrm>
            <a:off x="8099425" y="3252470"/>
            <a:ext cx="2192655" cy="1604645"/>
          </a:xfrm>
          <a:prstGeom prst="rect">
            <a:avLst/>
          </a:prstGeom>
          <a:noFill/>
          <a:ln w="28575" cmpd="sng">
            <a:solidFill>
              <a:schemeClr val="tx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矩形 57"/>
          <p:cNvSpPr/>
          <p:nvPr/>
        </p:nvSpPr>
        <p:spPr>
          <a:xfrm>
            <a:off x="5617210" y="5125085"/>
            <a:ext cx="2320290" cy="1604645"/>
          </a:xfrm>
          <a:prstGeom prst="rect">
            <a:avLst/>
          </a:prstGeom>
          <a:noFill/>
          <a:ln w="28575" cmpd="sng">
            <a:solidFill>
              <a:schemeClr val="tx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矩形 58"/>
          <p:cNvSpPr/>
          <p:nvPr/>
        </p:nvSpPr>
        <p:spPr>
          <a:xfrm>
            <a:off x="8075930" y="5121275"/>
            <a:ext cx="2653030" cy="1604645"/>
          </a:xfrm>
          <a:prstGeom prst="rect">
            <a:avLst/>
          </a:prstGeom>
          <a:noFill/>
          <a:ln w="28575" cmpd="sng">
            <a:solidFill>
              <a:schemeClr val="tx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0" name="直接连接符 59"/>
          <p:cNvCxnSpPr/>
          <p:nvPr/>
        </p:nvCxnSpPr>
        <p:spPr>
          <a:xfrm>
            <a:off x="-248920" y="25400"/>
            <a:ext cx="12919075" cy="1143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42"/>
          <p:cNvSpPr txBox="1"/>
          <p:nvPr/>
        </p:nvSpPr>
        <p:spPr>
          <a:xfrm>
            <a:off x="2308225" y="765810"/>
            <a:ext cx="5310505" cy="922020"/>
          </a:xfrm>
          <a:prstGeom prst="rect">
            <a:avLst/>
          </a:prstGeom>
          <a:noFill/>
        </p:spPr>
        <p:txBody>
          <a:bodyPr wrap="square" rtlCol="0">
            <a:spAutoFit/>
          </a:bodyPr>
          <a:p>
            <a:r>
              <a:rPr lang="zh-CN" altLang="en-US"/>
              <a:t>一块质量为</a:t>
            </a:r>
            <a:r>
              <a:rPr lang="en-US" altLang="zh-CN"/>
              <a:t> 50 </a:t>
            </a:r>
            <a:r>
              <a:rPr lang="zh-CN" altLang="en-US"/>
              <a:t>克的铝块释放了</a:t>
            </a:r>
            <a:r>
              <a:rPr lang="en-US" altLang="zh-CN"/>
              <a:t> 880 </a:t>
            </a:r>
            <a:r>
              <a:rPr lang="zh-CN" altLang="en-US"/>
              <a:t>焦耳的热量，温度下降至</a:t>
            </a:r>
            <a:r>
              <a:rPr lang="en-US" altLang="zh-CN"/>
              <a:t> 12℃</a:t>
            </a:r>
            <a:r>
              <a:rPr lang="zh-CN" altLang="en-US"/>
              <a:t>。铝块的原始温度是多少？</a:t>
            </a:r>
            <a:r>
              <a:rPr lang="en-US" altLang="zh-CN"/>
              <a:t>[C</a:t>
            </a:r>
            <a:r>
              <a:rPr lang="zh-CN" altLang="en-US" baseline="-25000"/>
              <a:t>铝</a:t>
            </a:r>
            <a:r>
              <a:rPr lang="en-US" altLang="zh-CN"/>
              <a:t> = 0.88 * 10^3 J/(kg·</a:t>
            </a:r>
            <a:r>
              <a:rPr lang="en-US" altLang="zh-CN">
                <a:sym typeface="+mn-ea"/>
              </a:rPr>
              <a:t>℃</a:t>
            </a:r>
            <a:r>
              <a:rPr lang="en-US" altLang="zh-CN"/>
              <a:t>)]</a:t>
            </a:r>
            <a:endParaRPr lang="en-US" altLang="zh-CN"/>
          </a:p>
        </p:txBody>
      </p:sp>
      <p:sp>
        <p:nvSpPr>
          <p:cNvPr id="53" name="椭圆 52"/>
          <p:cNvSpPr/>
          <p:nvPr/>
        </p:nvSpPr>
        <p:spPr>
          <a:xfrm>
            <a:off x="4866005" y="4688840"/>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文本框 54"/>
          <p:cNvSpPr txBox="1"/>
          <p:nvPr/>
        </p:nvSpPr>
        <p:spPr>
          <a:xfrm>
            <a:off x="4866005" y="4919980"/>
            <a:ext cx="912495" cy="368300"/>
          </a:xfrm>
          <a:prstGeom prst="rect">
            <a:avLst/>
          </a:prstGeom>
          <a:noFill/>
        </p:spPr>
        <p:txBody>
          <a:bodyPr wrap="square" rtlCol="0">
            <a:spAutoFit/>
          </a:bodyPr>
          <a:p>
            <a:r>
              <a:rPr lang="zh-CN" altLang="en-US"/>
              <a:t>比热容</a:t>
            </a:r>
            <a:endParaRPr lang="zh-CN" altLang="en-US"/>
          </a:p>
        </p:txBody>
      </p:sp>
      <p:sp>
        <p:nvSpPr>
          <p:cNvPr id="56" name="椭圆 55"/>
          <p:cNvSpPr/>
          <p:nvPr/>
        </p:nvSpPr>
        <p:spPr>
          <a:xfrm>
            <a:off x="4345940" y="2017395"/>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文本框 56"/>
          <p:cNvSpPr txBox="1"/>
          <p:nvPr/>
        </p:nvSpPr>
        <p:spPr>
          <a:xfrm>
            <a:off x="4483100" y="2120900"/>
            <a:ext cx="754380" cy="645160"/>
          </a:xfrm>
          <a:prstGeom prst="rect">
            <a:avLst/>
          </a:prstGeom>
          <a:noFill/>
        </p:spPr>
        <p:txBody>
          <a:bodyPr wrap="square" rtlCol="0">
            <a:spAutoFit/>
          </a:bodyPr>
          <a:p>
            <a:r>
              <a:rPr lang="zh-CN" altLang="en-US"/>
              <a:t>初始</a:t>
            </a:r>
            <a:endParaRPr lang="zh-CN" altLang="en-US"/>
          </a:p>
          <a:p>
            <a:r>
              <a:rPr lang="zh-CN" altLang="en-US"/>
              <a:t>温度</a:t>
            </a:r>
            <a:endParaRPr lang="zh-CN" altLang="en-US"/>
          </a:p>
        </p:txBody>
      </p:sp>
      <p:sp>
        <p:nvSpPr>
          <p:cNvPr id="58" name="椭圆 57"/>
          <p:cNvSpPr/>
          <p:nvPr/>
        </p:nvSpPr>
        <p:spPr>
          <a:xfrm>
            <a:off x="4995545" y="3199130"/>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文本框 58"/>
          <p:cNvSpPr txBox="1"/>
          <p:nvPr/>
        </p:nvSpPr>
        <p:spPr>
          <a:xfrm>
            <a:off x="5064125" y="3318510"/>
            <a:ext cx="754380" cy="645160"/>
          </a:xfrm>
          <a:prstGeom prst="rect">
            <a:avLst/>
          </a:prstGeom>
          <a:noFill/>
        </p:spPr>
        <p:txBody>
          <a:bodyPr wrap="square" rtlCol="0">
            <a:spAutoFit/>
          </a:bodyPr>
          <a:p>
            <a:r>
              <a:rPr lang="zh-CN" altLang="en-US"/>
              <a:t>最终</a:t>
            </a:r>
            <a:endParaRPr lang="zh-CN" altLang="en-US"/>
          </a:p>
          <a:p>
            <a:r>
              <a:rPr lang="zh-CN" altLang="en-US"/>
              <a:t>温度</a:t>
            </a:r>
            <a:endParaRPr lang="zh-CN" altLang="en-US"/>
          </a:p>
        </p:txBody>
      </p:sp>
      <p:sp>
        <p:nvSpPr>
          <p:cNvPr id="60" name="椭圆 59"/>
          <p:cNvSpPr/>
          <p:nvPr/>
        </p:nvSpPr>
        <p:spPr>
          <a:xfrm>
            <a:off x="3421380" y="3215005"/>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文本框 60"/>
          <p:cNvSpPr txBox="1"/>
          <p:nvPr/>
        </p:nvSpPr>
        <p:spPr>
          <a:xfrm>
            <a:off x="3554730" y="3324225"/>
            <a:ext cx="754380" cy="645160"/>
          </a:xfrm>
          <a:prstGeom prst="rect">
            <a:avLst/>
          </a:prstGeom>
          <a:noFill/>
        </p:spPr>
        <p:txBody>
          <a:bodyPr wrap="square" rtlCol="0">
            <a:spAutoFit/>
          </a:bodyPr>
          <a:p>
            <a:r>
              <a:rPr lang="zh-CN" altLang="en-US"/>
              <a:t>温度</a:t>
            </a:r>
            <a:r>
              <a:rPr lang="zh-CN" altLang="en-US"/>
              <a:t>差值</a:t>
            </a:r>
            <a:endParaRPr lang="zh-CN" altLang="en-US"/>
          </a:p>
        </p:txBody>
      </p:sp>
      <p:sp>
        <p:nvSpPr>
          <p:cNvPr id="62" name="椭圆 61"/>
          <p:cNvSpPr/>
          <p:nvPr/>
        </p:nvSpPr>
        <p:spPr>
          <a:xfrm>
            <a:off x="2308225" y="4688840"/>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3" name="文本框 62"/>
          <p:cNvSpPr txBox="1"/>
          <p:nvPr/>
        </p:nvSpPr>
        <p:spPr>
          <a:xfrm>
            <a:off x="2437765" y="4919980"/>
            <a:ext cx="732155" cy="368300"/>
          </a:xfrm>
          <a:prstGeom prst="rect">
            <a:avLst/>
          </a:prstGeom>
          <a:noFill/>
        </p:spPr>
        <p:txBody>
          <a:bodyPr wrap="square" rtlCol="0">
            <a:spAutoFit/>
          </a:bodyPr>
          <a:p>
            <a:r>
              <a:rPr lang="zh-CN" altLang="en-US"/>
              <a:t>质量</a:t>
            </a:r>
            <a:endParaRPr lang="zh-CN" altLang="en-US"/>
          </a:p>
        </p:txBody>
      </p:sp>
      <p:sp>
        <p:nvSpPr>
          <p:cNvPr id="64" name="椭圆 63"/>
          <p:cNvSpPr/>
          <p:nvPr/>
        </p:nvSpPr>
        <p:spPr>
          <a:xfrm>
            <a:off x="3569970" y="4699635"/>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5" name="文本框 64"/>
          <p:cNvSpPr txBox="1"/>
          <p:nvPr/>
        </p:nvSpPr>
        <p:spPr>
          <a:xfrm>
            <a:off x="3699510" y="4930775"/>
            <a:ext cx="732155" cy="368300"/>
          </a:xfrm>
          <a:prstGeom prst="rect">
            <a:avLst/>
          </a:prstGeom>
          <a:noFill/>
        </p:spPr>
        <p:txBody>
          <a:bodyPr wrap="square" rtlCol="0">
            <a:spAutoFit/>
          </a:bodyPr>
          <a:p>
            <a:r>
              <a:rPr lang="zh-CN" altLang="en-US"/>
              <a:t>热量</a:t>
            </a:r>
            <a:endParaRPr lang="zh-CN" altLang="en-US"/>
          </a:p>
        </p:txBody>
      </p:sp>
      <p:cxnSp>
        <p:nvCxnSpPr>
          <p:cNvPr id="66" name="直接连接符 65"/>
          <p:cNvCxnSpPr>
            <a:stCxn id="62" idx="0"/>
            <a:endCxn id="60" idx="3"/>
          </p:cNvCxnSpPr>
          <p:nvPr/>
        </p:nvCxnSpPr>
        <p:spPr>
          <a:xfrm flipV="1">
            <a:off x="2764790" y="3969385"/>
            <a:ext cx="789940" cy="719455"/>
          </a:xfrm>
          <a:prstGeom prst="line">
            <a:avLst/>
          </a:prstGeom>
        </p:spPr>
        <p:style>
          <a:lnRef idx="2">
            <a:schemeClr val="accent1"/>
          </a:lnRef>
          <a:fillRef idx="0">
            <a:srgbClr val="FFFFFF"/>
          </a:fillRef>
          <a:effectRef idx="0">
            <a:srgbClr val="FFFFFF"/>
          </a:effectRef>
          <a:fontRef idx="minor">
            <a:schemeClr val="tx1"/>
          </a:fontRef>
        </p:style>
      </p:cxnSp>
      <p:cxnSp>
        <p:nvCxnSpPr>
          <p:cNvPr id="67" name="直接连接符 66"/>
          <p:cNvCxnSpPr>
            <a:stCxn id="64" idx="0"/>
            <a:endCxn id="60" idx="4"/>
          </p:cNvCxnSpPr>
          <p:nvPr/>
        </p:nvCxnSpPr>
        <p:spPr>
          <a:xfrm flipH="1" flipV="1">
            <a:off x="3877945" y="4098925"/>
            <a:ext cx="148590" cy="600710"/>
          </a:xfrm>
          <a:prstGeom prst="line">
            <a:avLst/>
          </a:prstGeom>
        </p:spPr>
        <p:style>
          <a:lnRef idx="2">
            <a:schemeClr val="accent1"/>
          </a:lnRef>
          <a:fillRef idx="0">
            <a:srgbClr val="FFFFFF"/>
          </a:fillRef>
          <a:effectRef idx="0">
            <a:srgbClr val="FFFFFF"/>
          </a:effectRef>
          <a:fontRef idx="minor">
            <a:schemeClr val="tx1"/>
          </a:fontRef>
        </p:style>
      </p:cxnSp>
      <p:cxnSp>
        <p:nvCxnSpPr>
          <p:cNvPr id="68" name="直接连接符 67"/>
          <p:cNvCxnSpPr>
            <a:stCxn id="53" idx="1"/>
            <a:endCxn id="60" idx="5"/>
          </p:cNvCxnSpPr>
          <p:nvPr/>
        </p:nvCxnSpPr>
        <p:spPr>
          <a:xfrm flipH="1" flipV="1">
            <a:off x="4200525" y="3969385"/>
            <a:ext cx="798830" cy="848995"/>
          </a:xfrm>
          <a:prstGeom prst="line">
            <a:avLst/>
          </a:prstGeom>
        </p:spPr>
        <p:style>
          <a:lnRef idx="2">
            <a:schemeClr val="accent1"/>
          </a:lnRef>
          <a:fillRef idx="0">
            <a:srgbClr val="FFFFFF"/>
          </a:fillRef>
          <a:effectRef idx="0">
            <a:srgbClr val="FFFFFF"/>
          </a:effectRef>
          <a:fontRef idx="minor">
            <a:schemeClr val="tx1"/>
          </a:fontRef>
        </p:style>
      </p:cxnSp>
      <p:cxnSp>
        <p:nvCxnSpPr>
          <p:cNvPr id="69" name="直接连接符 68"/>
          <p:cNvCxnSpPr>
            <a:stCxn id="60" idx="7"/>
          </p:cNvCxnSpPr>
          <p:nvPr/>
        </p:nvCxnSpPr>
        <p:spPr>
          <a:xfrm flipV="1">
            <a:off x="4200525" y="2770505"/>
            <a:ext cx="310515" cy="574040"/>
          </a:xfrm>
          <a:prstGeom prst="line">
            <a:avLst/>
          </a:prstGeom>
        </p:spPr>
        <p:style>
          <a:lnRef idx="2">
            <a:schemeClr val="accent1"/>
          </a:lnRef>
          <a:fillRef idx="0">
            <a:srgbClr val="FFFFFF"/>
          </a:fillRef>
          <a:effectRef idx="0">
            <a:srgbClr val="FFFFFF"/>
          </a:effectRef>
          <a:fontRef idx="minor">
            <a:schemeClr val="tx1"/>
          </a:fontRef>
        </p:style>
      </p:cxnSp>
      <p:cxnSp>
        <p:nvCxnSpPr>
          <p:cNvPr id="70" name="直接连接符 69"/>
          <p:cNvCxnSpPr/>
          <p:nvPr/>
        </p:nvCxnSpPr>
        <p:spPr>
          <a:xfrm flipH="1" flipV="1">
            <a:off x="5089525" y="2793365"/>
            <a:ext cx="130810" cy="464820"/>
          </a:xfrm>
          <a:prstGeom prst="line">
            <a:avLst/>
          </a:prstGeom>
        </p:spPr>
        <p:style>
          <a:lnRef idx="2">
            <a:schemeClr val="accent1"/>
          </a:lnRef>
          <a:fillRef idx="0">
            <a:srgbClr val="FFFFFF"/>
          </a:fillRef>
          <a:effectRef idx="0">
            <a:srgbClr val="FFFFFF"/>
          </a:effectRef>
          <a:fontRef idx="minor">
            <a:schemeClr val="tx1"/>
          </a:fontRef>
        </p:style>
      </p:cxnSp>
      <p:sp>
        <p:nvSpPr>
          <p:cNvPr id="71" name="椭圆 70"/>
          <p:cNvSpPr/>
          <p:nvPr/>
        </p:nvSpPr>
        <p:spPr>
          <a:xfrm>
            <a:off x="8660130" y="4688840"/>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2" name="文本框 71"/>
          <p:cNvSpPr txBox="1"/>
          <p:nvPr/>
        </p:nvSpPr>
        <p:spPr>
          <a:xfrm>
            <a:off x="8883650" y="4930775"/>
            <a:ext cx="594995" cy="546735"/>
          </a:xfrm>
          <a:prstGeom prst="rect">
            <a:avLst/>
          </a:prstGeom>
          <a:noFill/>
        </p:spPr>
        <p:txBody>
          <a:bodyPr wrap="square" rtlCol="0">
            <a:noAutofit/>
          </a:bodyPr>
          <a:p>
            <a:r>
              <a:rPr lang="en-US" altLang="zh-CN" sz="2400">
                <a:sym typeface="+mn-ea"/>
              </a:rPr>
              <a:t>P</a:t>
            </a:r>
            <a:endParaRPr lang="en-US" altLang="zh-CN" sz="2400"/>
          </a:p>
          <a:p>
            <a:endParaRPr lang="zh-CN" altLang="en-US" sz="2400"/>
          </a:p>
        </p:txBody>
      </p:sp>
      <p:sp>
        <p:nvSpPr>
          <p:cNvPr id="73" name="椭圆 72"/>
          <p:cNvSpPr/>
          <p:nvPr/>
        </p:nvSpPr>
        <p:spPr>
          <a:xfrm>
            <a:off x="8140065" y="2017395"/>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5" name="椭圆 74"/>
          <p:cNvSpPr/>
          <p:nvPr/>
        </p:nvSpPr>
        <p:spPr>
          <a:xfrm>
            <a:off x="8983980" y="3199130"/>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7" name="椭圆 76"/>
          <p:cNvSpPr/>
          <p:nvPr/>
        </p:nvSpPr>
        <p:spPr>
          <a:xfrm>
            <a:off x="7215505" y="3215005"/>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9" name="椭圆 78"/>
          <p:cNvSpPr/>
          <p:nvPr/>
        </p:nvSpPr>
        <p:spPr>
          <a:xfrm>
            <a:off x="6285865" y="4688840"/>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1" name="椭圆 80"/>
          <p:cNvSpPr/>
          <p:nvPr/>
        </p:nvSpPr>
        <p:spPr>
          <a:xfrm>
            <a:off x="7364095" y="4699635"/>
            <a:ext cx="912495" cy="88392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3" name="直接连接符 82"/>
          <p:cNvCxnSpPr>
            <a:stCxn id="79" idx="0"/>
            <a:endCxn id="77" idx="3"/>
          </p:cNvCxnSpPr>
          <p:nvPr/>
        </p:nvCxnSpPr>
        <p:spPr>
          <a:xfrm flipV="1">
            <a:off x="6742430" y="3969385"/>
            <a:ext cx="606425" cy="719455"/>
          </a:xfrm>
          <a:prstGeom prst="line">
            <a:avLst/>
          </a:prstGeom>
        </p:spPr>
        <p:style>
          <a:lnRef idx="2">
            <a:schemeClr val="accent1"/>
          </a:lnRef>
          <a:fillRef idx="0">
            <a:srgbClr val="FFFFFF"/>
          </a:fillRef>
          <a:effectRef idx="0">
            <a:srgbClr val="FFFFFF"/>
          </a:effectRef>
          <a:fontRef idx="minor">
            <a:schemeClr val="tx1"/>
          </a:fontRef>
        </p:style>
      </p:cxnSp>
      <p:cxnSp>
        <p:nvCxnSpPr>
          <p:cNvPr id="84" name="直接连接符 83"/>
          <p:cNvCxnSpPr>
            <a:stCxn id="81" idx="0"/>
            <a:endCxn id="77" idx="4"/>
          </p:cNvCxnSpPr>
          <p:nvPr/>
        </p:nvCxnSpPr>
        <p:spPr>
          <a:xfrm flipH="1" flipV="1">
            <a:off x="7672070" y="4098925"/>
            <a:ext cx="148590" cy="600710"/>
          </a:xfrm>
          <a:prstGeom prst="line">
            <a:avLst/>
          </a:prstGeom>
        </p:spPr>
        <p:style>
          <a:lnRef idx="2">
            <a:schemeClr val="accent1"/>
          </a:lnRef>
          <a:fillRef idx="0">
            <a:srgbClr val="FFFFFF"/>
          </a:fillRef>
          <a:effectRef idx="0">
            <a:srgbClr val="FFFFFF"/>
          </a:effectRef>
          <a:fontRef idx="minor">
            <a:schemeClr val="tx1"/>
          </a:fontRef>
        </p:style>
      </p:cxnSp>
      <p:cxnSp>
        <p:nvCxnSpPr>
          <p:cNvPr id="85" name="直接连接符 84"/>
          <p:cNvCxnSpPr>
            <a:stCxn id="71" idx="1"/>
            <a:endCxn id="77" idx="5"/>
          </p:cNvCxnSpPr>
          <p:nvPr/>
        </p:nvCxnSpPr>
        <p:spPr>
          <a:xfrm flipH="1" flipV="1">
            <a:off x="7994650" y="3969385"/>
            <a:ext cx="798830" cy="848995"/>
          </a:xfrm>
          <a:prstGeom prst="line">
            <a:avLst/>
          </a:prstGeom>
        </p:spPr>
        <p:style>
          <a:lnRef idx="2">
            <a:schemeClr val="accent1"/>
          </a:lnRef>
          <a:fillRef idx="0">
            <a:srgbClr val="FFFFFF"/>
          </a:fillRef>
          <a:effectRef idx="0">
            <a:srgbClr val="FFFFFF"/>
          </a:effectRef>
          <a:fontRef idx="minor">
            <a:schemeClr val="tx1"/>
          </a:fontRef>
        </p:style>
      </p:cxnSp>
      <p:cxnSp>
        <p:nvCxnSpPr>
          <p:cNvPr id="86" name="直接连接符 85"/>
          <p:cNvCxnSpPr>
            <a:stCxn id="77" idx="7"/>
          </p:cNvCxnSpPr>
          <p:nvPr/>
        </p:nvCxnSpPr>
        <p:spPr>
          <a:xfrm flipV="1">
            <a:off x="7994650" y="2770505"/>
            <a:ext cx="310515" cy="574040"/>
          </a:xfrm>
          <a:prstGeom prst="line">
            <a:avLst/>
          </a:prstGeom>
        </p:spPr>
        <p:style>
          <a:lnRef idx="2">
            <a:schemeClr val="accent1"/>
          </a:lnRef>
          <a:fillRef idx="0">
            <a:srgbClr val="FFFFFF"/>
          </a:fillRef>
          <a:effectRef idx="0">
            <a:srgbClr val="FFFFFF"/>
          </a:effectRef>
          <a:fontRef idx="minor">
            <a:schemeClr val="tx1"/>
          </a:fontRef>
        </p:style>
      </p:cxnSp>
      <p:cxnSp>
        <p:nvCxnSpPr>
          <p:cNvPr id="87" name="直接连接符 86"/>
          <p:cNvCxnSpPr/>
          <p:nvPr/>
        </p:nvCxnSpPr>
        <p:spPr>
          <a:xfrm flipH="1" flipV="1">
            <a:off x="8883650" y="2793365"/>
            <a:ext cx="249555" cy="498475"/>
          </a:xfrm>
          <a:prstGeom prst="line">
            <a:avLst/>
          </a:prstGeom>
        </p:spPr>
        <p:style>
          <a:lnRef idx="2">
            <a:schemeClr val="accent1"/>
          </a:lnRef>
          <a:fillRef idx="0">
            <a:srgbClr val="FFFFFF"/>
          </a:fillRef>
          <a:effectRef idx="0">
            <a:srgbClr val="FFFFFF"/>
          </a:effectRef>
          <a:fontRef idx="minor">
            <a:schemeClr val="tx1"/>
          </a:fontRef>
        </p:style>
      </p:cxnSp>
      <p:sp>
        <p:nvSpPr>
          <p:cNvPr id="88" name="文本框 87"/>
          <p:cNvSpPr txBox="1"/>
          <p:nvPr/>
        </p:nvSpPr>
        <p:spPr>
          <a:xfrm>
            <a:off x="7539990" y="4919980"/>
            <a:ext cx="594995" cy="546735"/>
          </a:xfrm>
          <a:prstGeom prst="rect">
            <a:avLst/>
          </a:prstGeom>
          <a:noFill/>
        </p:spPr>
        <p:txBody>
          <a:bodyPr wrap="square" rtlCol="0">
            <a:noAutofit/>
          </a:bodyPr>
          <a:p>
            <a:r>
              <a:rPr lang="en-US" altLang="zh-CN" sz="2400">
                <a:sym typeface="+mn-ea"/>
              </a:rPr>
              <a:t>P</a:t>
            </a:r>
            <a:endParaRPr lang="en-US" altLang="zh-CN" sz="2400"/>
          </a:p>
          <a:p>
            <a:endParaRPr lang="zh-CN" altLang="en-US" sz="2400"/>
          </a:p>
        </p:txBody>
      </p:sp>
      <p:sp>
        <p:nvSpPr>
          <p:cNvPr id="89" name="文本框 88"/>
          <p:cNvSpPr txBox="1"/>
          <p:nvPr/>
        </p:nvSpPr>
        <p:spPr>
          <a:xfrm>
            <a:off x="6438900" y="4919980"/>
            <a:ext cx="594995" cy="546735"/>
          </a:xfrm>
          <a:prstGeom prst="rect">
            <a:avLst/>
          </a:prstGeom>
          <a:noFill/>
        </p:spPr>
        <p:txBody>
          <a:bodyPr wrap="square" rtlCol="0">
            <a:noAutofit/>
          </a:bodyPr>
          <a:p>
            <a:r>
              <a:rPr lang="en-US" altLang="zh-CN" sz="2400">
                <a:sym typeface="+mn-ea"/>
              </a:rPr>
              <a:t>P</a:t>
            </a:r>
            <a:endParaRPr lang="en-US" altLang="zh-CN" sz="2400"/>
          </a:p>
          <a:p>
            <a:endParaRPr lang="zh-CN" altLang="en-US" sz="2400"/>
          </a:p>
        </p:txBody>
      </p:sp>
      <p:sp>
        <p:nvSpPr>
          <p:cNvPr id="90" name="文本框 89"/>
          <p:cNvSpPr txBox="1"/>
          <p:nvPr/>
        </p:nvSpPr>
        <p:spPr>
          <a:xfrm>
            <a:off x="8413115" y="2219960"/>
            <a:ext cx="594995" cy="546735"/>
          </a:xfrm>
          <a:prstGeom prst="rect">
            <a:avLst/>
          </a:prstGeom>
          <a:noFill/>
        </p:spPr>
        <p:txBody>
          <a:bodyPr wrap="square" rtlCol="0">
            <a:noAutofit/>
          </a:bodyPr>
          <a:p>
            <a:r>
              <a:rPr lang="en-US" altLang="zh-CN" sz="2400"/>
              <a:t>T</a:t>
            </a:r>
            <a:endParaRPr lang="zh-CN" altLang="en-US" sz="2400"/>
          </a:p>
        </p:txBody>
      </p:sp>
      <p:sp>
        <p:nvSpPr>
          <p:cNvPr id="91" name="文本框 90"/>
          <p:cNvSpPr txBox="1"/>
          <p:nvPr/>
        </p:nvSpPr>
        <p:spPr>
          <a:xfrm>
            <a:off x="9241155" y="3409315"/>
            <a:ext cx="594995" cy="546735"/>
          </a:xfrm>
          <a:prstGeom prst="rect">
            <a:avLst/>
          </a:prstGeom>
          <a:noFill/>
        </p:spPr>
        <p:txBody>
          <a:bodyPr wrap="square" rtlCol="0">
            <a:noAutofit/>
          </a:bodyPr>
          <a:p>
            <a:r>
              <a:rPr lang="en-US" altLang="zh-CN" sz="2400">
                <a:sym typeface="+mn-ea"/>
              </a:rPr>
              <a:t>P</a:t>
            </a:r>
            <a:endParaRPr lang="en-US" altLang="zh-CN" sz="2400"/>
          </a:p>
          <a:p>
            <a:endParaRPr lang="zh-CN" altLang="en-US" sz="2400"/>
          </a:p>
        </p:txBody>
      </p:sp>
      <p:sp>
        <p:nvSpPr>
          <p:cNvPr id="93" name="文本框 92"/>
          <p:cNvSpPr txBox="1"/>
          <p:nvPr/>
        </p:nvSpPr>
        <p:spPr>
          <a:xfrm>
            <a:off x="7428865" y="3432810"/>
            <a:ext cx="594995" cy="546735"/>
          </a:xfrm>
          <a:prstGeom prst="rect">
            <a:avLst/>
          </a:prstGeom>
          <a:noFill/>
        </p:spPr>
        <p:txBody>
          <a:bodyPr wrap="square" rtlCol="0">
            <a:noAutofit/>
          </a:bodyPr>
          <a:p>
            <a:r>
              <a:rPr lang="en-US" altLang="zh-CN" sz="2400"/>
              <a:t>M</a:t>
            </a:r>
            <a:endParaRPr lang="zh-CN" altLang="en-US" sz="2400"/>
          </a:p>
        </p:txBody>
      </p:sp>
      <p:sp>
        <p:nvSpPr>
          <p:cNvPr id="94" name="文本框 93"/>
          <p:cNvSpPr txBox="1"/>
          <p:nvPr/>
        </p:nvSpPr>
        <p:spPr>
          <a:xfrm>
            <a:off x="7994650" y="695325"/>
            <a:ext cx="2010410" cy="922020"/>
          </a:xfrm>
          <a:prstGeom prst="rect">
            <a:avLst/>
          </a:prstGeom>
          <a:noFill/>
        </p:spPr>
        <p:txBody>
          <a:bodyPr wrap="square" rtlCol="0">
            <a:spAutoFit/>
          </a:bodyPr>
          <a:p>
            <a:r>
              <a:rPr lang="en-US" altLang="zh-CN"/>
              <a:t>T - </a:t>
            </a:r>
            <a:r>
              <a:rPr lang="zh-CN" altLang="en-US"/>
              <a:t>目标</a:t>
            </a:r>
            <a:r>
              <a:rPr lang="zh-CN" altLang="en-US"/>
              <a:t>参数</a:t>
            </a:r>
            <a:endParaRPr lang="zh-CN" altLang="en-US"/>
          </a:p>
          <a:p>
            <a:r>
              <a:rPr lang="en-US" altLang="zh-CN"/>
              <a:t>M - </a:t>
            </a:r>
            <a:r>
              <a:rPr lang="zh-CN" altLang="en-US"/>
              <a:t>中间</a:t>
            </a:r>
            <a:r>
              <a:rPr lang="zh-CN" altLang="en-US"/>
              <a:t>参数</a:t>
            </a:r>
            <a:endParaRPr lang="zh-CN" altLang="en-US"/>
          </a:p>
          <a:p>
            <a:r>
              <a:rPr lang="en-US" altLang="zh-CN"/>
              <a:t>P - </a:t>
            </a:r>
            <a:r>
              <a:rPr lang="zh-CN" altLang="en-US"/>
              <a:t>已知</a:t>
            </a:r>
            <a:r>
              <a:rPr lang="zh-CN" altLang="en-US"/>
              <a:t>参数</a:t>
            </a:r>
            <a:endParaRPr lang="zh-CN" altLang="en-US"/>
          </a:p>
        </p:txBody>
      </p:sp>
      <p:sp>
        <p:nvSpPr>
          <p:cNvPr id="95" name="圆角矩形 94"/>
          <p:cNvSpPr/>
          <p:nvPr/>
        </p:nvSpPr>
        <p:spPr>
          <a:xfrm>
            <a:off x="2045335" y="570865"/>
            <a:ext cx="5771515" cy="1224280"/>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6" name="圆角矩形 95"/>
          <p:cNvSpPr/>
          <p:nvPr/>
        </p:nvSpPr>
        <p:spPr>
          <a:xfrm>
            <a:off x="2033905" y="1874520"/>
            <a:ext cx="7971790" cy="3877945"/>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7" name="圆角矩形 96"/>
          <p:cNvSpPr/>
          <p:nvPr/>
        </p:nvSpPr>
        <p:spPr>
          <a:xfrm>
            <a:off x="7907655" y="561340"/>
            <a:ext cx="2098040" cy="1213485"/>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8" name="直接连接符 97"/>
          <p:cNvCxnSpPr>
            <a:stCxn id="96" idx="0"/>
            <a:endCxn id="96" idx="2"/>
          </p:cNvCxnSpPr>
          <p:nvPr/>
        </p:nvCxnSpPr>
        <p:spPr>
          <a:xfrm>
            <a:off x="6019800" y="1874520"/>
            <a:ext cx="0" cy="3877945"/>
          </a:xfrm>
          <a:prstGeom prst="line">
            <a:avLst/>
          </a:prstGeom>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5" name="椭圆 94"/>
          <p:cNvSpPr/>
          <p:nvPr/>
        </p:nvSpPr>
        <p:spPr>
          <a:xfrm>
            <a:off x="2444115" y="435610"/>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T</a:t>
            </a:r>
            <a:endParaRPr lang="en-US" altLang="zh-CN">
              <a:solidFill>
                <a:schemeClr val="tx1"/>
              </a:solidFill>
            </a:endParaRPr>
          </a:p>
        </p:txBody>
      </p:sp>
      <p:sp useBgFill="1">
        <p:nvSpPr>
          <p:cNvPr id="96" name="椭圆 95"/>
          <p:cNvSpPr/>
          <p:nvPr/>
        </p:nvSpPr>
        <p:spPr>
          <a:xfrm>
            <a:off x="2954020" y="1004570"/>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useBgFill="1">
        <p:nvSpPr>
          <p:cNvPr id="97" name="椭圆 96"/>
          <p:cNvSpPr/>
          <p:nvPr/>
        </p:nvSpPr>
        <p:spPr>
          <a:xfrm>
            <a:off x="1934210" y="1004570"/>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useBgFill="1">
        <p:nvSpPr>
          <p:cNvPr id="98" name="椭圆 97"/>
          <p:cNvSpPr/>
          <p:nvPr/>
        </p:nvSpPr>
        <p:spPr>
          <a:xfrm>
            <a:off x="1362075" y="1798955"/>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sp useBgFill="1">
        <p:nvSpPr>
          <p:cNvPr id="99" name="椭圆 98"/>
          <p:cNvSpPr/>
          <p:nvPr/>
        </p:nvSpPr>
        <p:spPr>
          <a:xfrm>
            <a:off x="2322195" y="1798955"/>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useBgFill="1">
        <p:nvSpPr>
          <p:cNvPr id="100" name="椭圆 99"/>
          <p:cNvSpPr/>
          <p:nvPr/>
        </p:nvSpPr>
        <p:spPr>
          <a:xfrm>
            <a:off x="1879600" y="2472690"/>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sp useBgFill="1">
        <p:nvSpPr>
          <p:cNvPr id="101" name="椭圆 100"/>
          <p:cNvSpPr/>
          <p:nvPr/>
        </p:nvSpPr>
        <p:spPr>
          <a:xfrm>
            <a:off x="2752725" y="2472690"/>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cxnSp>
        <p:nvCxnSpPr>
          <p:cNvPr id="102" name="直接连接符 101"/>
          <p:cNvCxnSpPr>
            <a:stCxn id="95" idx="3"/>
            <a:endCxn id="97" idx="7"/>
          </p:cNvCxnSpPr>
          <p:nvPr/>
        </p:nvCxnSpPr>
        <p:spPr>
          <a:xfrm flipH="1">
            <a:off x="2369185" y="85217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03" name="直接连接符 102"/>
          <p:cNvCxnSpPr>
            <a:stCxn id="95" idx="5"/>
            <a:endCxn id="96" idx="1"/>
          </p:cNvCxnSpPr>
          <p:nvPr/>
        </p:nvCxnSpPr>
        <p:spPr>
          <a:xfrm>
            <a:off x="2879090" y="85217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04" name="直接连接符 103"/>
          <p:cNvCxnSpPr>
            <a:stCxn id="97" idx="3"/>
            <a:endCxn id="98" idx="7"/>
          </p:cNvCxnSpPr>
          <p:nvPr/>
        </p:nvCxnSpPr>
        <p:spPr>
          <a:xfrm flipH="1">
            <a:off x="1797050" y="1421130"/>
            <a:ext cx="212090" cy="448945"/>
          </a:xfrm>
          <a:prstGeom prst="line">
            <a:avLst/>
          </a:prstGeom>
        </p:spPr>
        <p:style>
          <a:lnRef idx="2">
            <a:schemeClr val="accent1"/>
          </a:lnRef>
          <a:fillRef idx="0">
            <a:srgbClr val="FFFFFF"/>
          </a:fillRef>
          <a:effectRef idx="0">
            <a:srgbClr val="FFFFFF"/>
          </a:effectRef>
          <a:fontRef idx="minor">
            <a:schemeClr val="tx1"/>
          </a:fontRef>
        </p:style>
      </p:cxnSp>
      <p:cxnSp>
        <p:nvCxnSpPr>
          <p:cNvPr id="105" name="直接连接符 104"/>
          <p:cNvCxnSpPr>
            <a:stCxn id="97" idx="5"/>
            <a:endCxn id="99" idx="0"/>
          </p:cNvCxnSpPr>
          <p:nvPr/>
        </p:nvCxnSpPr>
        <p:spPr>
          <a:xfrm>
            <a:off x="2369185" y="1421130"/>
            <a:ext cx="208280" cy="377825"/>
          </a:xfrm>
          <a:prstGeom prst="line">
            <a:avLst/>
          </a:prstGeom>
        </p:spPr>
        <p:style>
          <a:lnRef idx="2">
            <a:schemeClr val="accent1"/>
          </a:lnRef>
          <a:fillRef idx="0">
            <a:srgbClr val="FFFFFF"/>
          </a:fillRef>
          <a:effectRef idx="0">
            <a:srgbClr val="FFFFFF"/>
          </a:effectRef>
          <a:fontRef idx="minor">
            <a:schemeClr val="tx1"/>
          </a:fontRef>
        </p:style>
      </p:cxnSp>
      <p:cxnSp>
        <p:nvCxnSpPr>
          <p:cNvPr id="106" name="直接连接符 105"/>
          <p:cNvCxnSpPr>
            <a:stCxn id="99" idx="3"/>
            <a:endCxn id="100" idx="0"/>
          </p:cNvCxnSpPr>
          <p:nvPr/>
        </p:nvCxnSpPr>
        <p:spPr>
          <a:xfrm flipH="1">
            <a:off x="2134870" y="2215515"/>
            <a:ext cx="262255" cy="257175"/>
          </a:xfrm>
          <a:prstGeom prst="line">
            <a:avLst/>
          </a:prstGeom>
        </p:spPr>
        <p:style>
          <a:lnRef idx="2">
            <a:schemeClr val="accent1"/>
          </a:lnRef>
          <a:fillRef idx="0">
            <a:srgbClr val="FFFFFF"/>
          </a:fillRef>
          <a:effectRef idx="0">
            <a:srgbClr val="FFFFFF"/>
          </a:effectRef>
          <a:fontRef idx="minor">
            <a:schemeClr val="tx1"/>
          </a:fontRef>
        </p:style>
      </p:cxnSp>
      <p:cxnSp>
        <p:nvCxnSpPr>
          <p:cNvPr id="107" name="直接连接符 106"/>
          <p:cNvCxnSpPr>
            <a:stCxn id="99" idx="5"/>
            <a:endCxn id="101" idx="0"/>
          </p:cNvCxnSpPr>
          <p:nvPr/>
        </p:nvCxnSpPr>
        <p:spPr>
          <a:xfrm>
            <a:off x="2757170" y="2215515"/>
            <a:ext cx="250825" cy="257175"/>
          </a:xfrm>
          <a:prstGeom prst="line">
            <a:avLst/>
          </a:prstGeom>
        </p:spPr>
        <p:style>
          <a:lnRef idx="2">
            <a:schemeClr val="accent1"/>
          </a:lnRef>
          <a:fillRef idx="0">
            <a:srgbClr val="FFFFFF"/>
          </a:fillRef>
          <a:effectRef idx="0">
            <a:srgbClr val="FFFFFF"/>
          </a:effectRef>
          <a:fontRef idx="minor">
            <a:schemeClr val="tx1"/>
          </a:fontRef>
        </p:style>
      </p:cxnSp>
      <p:sp>
        <p:nvSpPr>
          <p:cNvPr id="108" name="椭圆 107"/>
          <p:cNvSpPr/>
          <p:nvPr/>
        </p:nvSpPr>
        <p:spPr>
          <a:xfrm>
            <a:off x="5734050" y="433070"/>
            <a:ext cx="509905" cy="48768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useBgFill="1">
        <p:nvSpPr>
          <p:cNvPr id="109" name="椭圆 108"/>
          <p:cNvSpPr/>
          <p:nvPr/>
        </p:nvSpPr>
        <p:spPr>
          <a:xfrm>
            <a:off x="6243955" y="1002030"/>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useBgFill="1">
        <p:nvSpPr>
          <p:cNvPr id="110" name="椭圆 109"/>
          <p:cNvSpPr/>
          <p:nvPr/>
        </p:nvSpPr>
        <p:spPr>
          <a:xfrm>
            <a:off x="5224145" y="1002030"/>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useBgFill="1">
        <p:nvSpPr>
          <p:cNvPr id="111" name="椭圆 110"/>
          <p:cNvSpPr/>
          <p:nvPr/>
        </p:nvSpPr>
        <p:spPr>
          <a:xfrm>
            <a:off x="4652010" y="1796415"/>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T</a:t>
            </a:r>
            <a:endParaRPr lang="en-US" altLang="zh-CN">
              <a:solidFill>
                <a:schemeClr val="tx1"/>
              </a:solidFill>
            </a:endParaRPr>
          </a:p>
        </p:txBody>
      </p:sp>
      <p:sp useBgFill="1">
        <p:nvSpPr>
          <p:cNvPr id="112" name="椭圆 111"/>
          <p:cNvSpPr/>
          <p:nvPr/>
        </p:nvSpPr>
        <p:spPr>
          <a:xfrm>
            <a:off x="5612130" y="1796415"/>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useBgFill="1">
        <p:nvSpPr>
          <p:cNvPr id="113" name="椭圆 112"/>
          <p:cNvSpPr/>
          <p:nvPr/>
        </p:nvSpPr>
        <p:spPr>
          <a:xfrm>
            <a:off x="5169535" y="2470150"/>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sp useBgFill="1">
        <p:nvSpPr>
          <p:cNvPr id="114" name="椭圆 113"/>
          <p:cNvSpPr/>
          <p:nvPr/>
        </p:nvSpPr>
        <p:spPr>
          <a:xfrm>
            <a:off x="6042660" y="2470150"/>
            <a:ext cx="509905" cy="487680"/>
          </a:xfrm>
          <a:prstGeom prst="ellipse">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cxnSp>
        <p:nvCxnSpPr>
          <p:cNvPr id="115" name="直接连接符 114"/>
          <p:cNvCxnSpPr>
            <a:stCxn id="108" idx="3"/>
            <a:endCxn id="110" idx="7"/>
          </p:cNvCxnSpPr>
          <p:nvPr/>
        </p:nvCxnSpPr>
        <p:spPr>
          <a:xfrm flipH="1">
            <a:off x="5659120" y="84963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16" name="直接连接符 115"/>
          <p:cNvCxnSpPr>
            <a:stCxn id="108" idx="5"/>
            <a:endCxn id="109" idx="1"/>
          </p:cNvCxnSpPr>
          <p:nvPr/>
        </p:nvCxnSpPr>
        <p:spPr>
          <a:xfrm>
            <a:off x="6169025" y="84963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17" name="直接连接符 116"/>
          <p:cNvCxnSpPr>
            <a:stCxn id="110" idx="3"/>
            <a:endCxn id="111" idx="7"/>
          </p:cNvCxnSpPr>
          <p:nvPr/>
        </p:nvCxnSpPr>
        <p:spPr>
          <a:xfrm flipH="1">
            <a:off x="5086985" y="1418590"/>
            <a:ext cx="212090" cy="448945"/>
          </a:xfrm>
          <a:prstGeom prst="line">
            <a:avLst/>
          </a:prstGeom>
        </p:spPr>
        <p:style>
          <a:lnRef idx="2">
            <a:schemeClr val="accent1"/>
          </a:lnRef>
          <a:fillRef idx="0">
            <a:srgbClr val="FFFFFF"/>
          </a:fillRef>
          <a:effectRef idx="0">
            <a:srgbClr val="FFFFFF"/>
          </a:effectRef>
          <a:fontRef idx="minor">
            <a:schemeClr val="tx1"/>
          </a:fontRef>
        </p:style>
      </p:cxnSp>
      <p:cxnSp>
        <p:nvCxnSpPr>
          <p:cNvPr id="118" name="直接连接符 117"/>
          <p:cNvCxnSpPr>
            <a:stCxn id="110" idx="5"/>
            <a:endCxn id="112" idx="0"/>
          </p:cNvCxnSpPr>
          <p:nvPr/>
        </p:nvCxnSpPr>
        <p:spPr>
          <a:xfrm>
            <a:off x="5659120" y="1418590"/>
            <a:ext cx="208280" cy="377825"/>
          </a:xfrm>
          <a:prstGeom prst="line">
            <a:avLst/>
          </a:prstGeom>
        </p:spPr>
        <p:style>
          <a:lnRef idx="2">
            <a:schemeClr val="accent1"/>
          </a:lnRef>
          <a:fillRef idx="0">
            <a:srgbClr val="FFFFFF"/>
          </a:fillRef>
          <a:effectRef idx="0">
            <a:srgbClr val="FFFFFF"/>
          </a:effectRef>
          <a:fontRef idx="minor">
            <a:schemeClr val="tx1"/>
          </a:fontRef>
        </p:style>
      </p:cxnSp>
      <p:cxnSp>
        <p:nvCxnSpPr>
          <p:cNvPr id="119" name="直接连接符 118"/>
          <p:cNvCxnSpPr>
            <a:stCxn id="112" idx="3"/>
            <a:endCxn id="113" idx="0"/>
          </p:cNvCxnSpPr>
          <p:nvPr/>
        </p:nvCxnSpPr>
        <p:spPr>
          <a:xfrm flipH="1">
            <a:off x="5424805" y="2212975"/>
            <a:ext cx="262255" cy="257175"/>
          </a:xfrm>
          <a:prstGeom prst="line">
            <a:avLst/>
          </a:prstGeom>
        </p:spPr>
        <p:style>
          <a:lnRef idx="2">
            <a:schemeClr val="accent1"/>
          </a:lnRef>
          <a:fillRef idx="0">
            <a:srgbClr val="FFFFFF"/>
          </a:fillRef>
          <a:effectRef idx="0">
            <a:srgbClr val="FFFFFF"/>
          </a:effectRef>
          <a:fontRef idx="minor">
            <a:schemeClr val="tx1"/>
          </a:fontRef>
        </p:style>
      </p:cxnSp>
      <p:cxnSp>
        <p:nvCxnSpPr>
          <p:cNvPr id="120" name="直接连接符 119"/>
          <p:cNvCxnSpPr>
            <a:stCxn id="112" idx="5"/>
            <a:endCxn id="114" idx="0"/>
          </p:cNvCxnSpPr>
          <p:nvPr/>
        </p:nvCxnSpPr>
        <p:spPr>
          <a:xfrm>
            <a:off x="6047105" y="2212975"/>
            <a:ext cx="250825" cy="257175"/>
          </a:xfrm>
          <a:prstGeom prst="line">
            <a:avLst/>
          </a:prstGeom>
        </p:spPr>
        <p:style>
          <a:lnRef idx="2">
            <a:schemeClr val="accent1"/>
          </a:lnRef>
          <a:fillRef idx="0">
            <a:srgbClr val="FFFFFF"/>
          </a:fillRef>
          <a:effectRef idx="0">
            <a:srgbClr val="FFFFFF"/>
          </a:effectRef>
          <a:fontRef idx="minor">
            <a:schemeClr val="tx1"/>
          </a:fontRef>
        </p:style>
      </p:cxnSp>
      <p:sp>
        <p:nvSpPr>
          <p:cNvPr id="147" name="椭圆 146"/>
          <p:cNvSpPr/>
          <p:nvPr/>
        </p:nvSpPr>
        <p:spPr>
          <a:xfrm>
            <a:off x="2942590" y="326644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p:nvSpPr>
          <p:cNvPr id="148" name="椭圆 147"/>
          <p:cNvSpPr/>
          <p:nvPr/>
        </p:nvSpPr>
        <p:spPr>
          <a:xfrm>
            <a:off x="3452495" y="383540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p:nvSpPr>
          <p:cNvPr id="149" name="椭圆 148"/>
          <p:cNvSpPr/>
          <p:nvPr/>
        </p:nvSpPr>
        <p:spPr>
          <a:xfrm>
            <a:off x="2432685" y="3835400"/>
            <a:ext cx="509905" cy="487680"/>
          </a:xfrm>
          <a:prstGeom prst="ellipse">
            <a:avLst/>
          </a:prstGeom>
          <a:pattFill prst="dkDnDiag">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p:nvSpPr>
          <p:cNvPr id="150" name="椭圆 149"/>
          <p:cNvSpPr/>
          <p:nvPr/>
        </p:nvSpPr>
        <p:spPr>
          <a:xfrm>
            <a:off x="1860550" y="4629785"/>
            <a:ext cx="509905" cy="487680"/>
          </a:xfrm>
          <a:prstGeom prst="ellipse">
            <a:avLst/>
          </a:prstGeom>
          <a:pattFill prst="dkDnDiag">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T</a:t>
            </a:r>
            <a:endParaRPr lang="en-US" altLang="zh-CN">
              <a:solidFill>
                <a:schemeClr val="tx1"/>
              </a:solidFill>
            </a:endParaRPr>
          </a:p>
        </p:txBody>
      </p:sp>
      <p:sp>
        <p:nvSpPr>
          <p:cNvPr id="151" name="椭圆 150"/>
          <p:cNvSpPr/>
          <p:nvPr/>
        </p:nvSpPr>
        <p:spPr>
          <a:xfrm>
            <a:off x="2820670" y="4629785"/>
            <a:ext cx="509905" cy="487680"/>
          </a:xfrm>
          <a:prstGeom prst="ellipse">
            <a:avLst/>
          </a:prstGeom>
          <a:pattFill prst="dkDnDiag">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p:nvSpPr>
          <p:cNvPr id="152" name="椭圆 151"/>
          <p:cNvSpPr/>
          <p:nvPr/>
        </p:nvSpPr>
        <p:spPr>
          <a:xfrm>
            <a:off x="2378075" y="530352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sp>
        <p:nvSpPr>
          <p:cNvPr id="153" name="椭圆 152"/>
          <p:cNvSpPr/>
          <p:nvPr/>
        </p:nvSpPr>
        <p:spPr>
          <a:xfrm>
            <a:off x="3251200" y="530352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cxnSp>
        <p:nvCxnSpPr>
          <p:cNvPr id="154" name="直接连接符 153"/>
          <p:cNvCxnSpPr>
            <a:stCxn id="147" idx="3"/>
            <a:endCxn id="149" idx="7"/>
          </p:cNvCxnSpPr>
          <p:nvPr/>
        </p:nvCxnSpPr>
        <p:spPr>
          <a:xfrm flipH="1">
            <a:off x="2867660" y="368300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55" name="直接连接符 154"/>
          <p:cNvCxnSpPr>
            <a:stCxn id="147" idx="5"/>
            <a:endCxn id="148" idx="1"/>
          </p:cNvCxnSpPr>
          <p:nvPr/>
        </p:nvCxnSpPr>
        <p:spPr>
          <a:xfrm>
            <a:off x="3377565" y="368300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56" name="直接连接符 155"/>
          <p:cNvCxnSpPr>
            <a:stCxn id="149" idx="3"/>
            <a:endCxn id="150" idx="7"/>
          </p:cNvCxnSpPr>
          <p:nvPr/>
        </p:nvCxnSpPr>
        <p:spPr>
          <a:xfrm flipH="1">
            <a:off x="2295525" y="4251960"/>
            <a:ext cx="212090" cy="448945"/>
          </a:xfrm>
          <a:prstGeom prst="line">
            <a:avLst/>
          </a:prstGeom>
        </p:spPr>
        <p:style>
          <a:lnRef idx="2">
            <a:schemeClr val="accent1"/>
          </a:lnRef>
          <a:fillRef idx="0">
            <a:srgbClr val="FFFFFF"/>
          </a:fillRef>
          <a:effectRef idx="0">
            <a:srgbClr val="FFFFFF"/>
          </a:effectRef>
          <a:fontRef idx="minor">
            <a:schemeClr val="tx1"/>
          </a:fontRef>
        </p:style>
      </p:cxnSp>
      <p:cxnSp>
        <p:nvCxnSpPr>
          <p:cNvPr id="157" name="直接连接符 156"/>
          <p:cNvCxnSpPr>
            <a:stCxn id="149" idx="5"/>
            <a:endCxn id="151" idx="0"/>
          </p:cNvCxnSpPr>
          <p:nvPr/>
        </p:nvCxnSpPr>
        <p:spPr>
          <a:xfrm>
            <a:off x="2867660" y="4251960"/>
            <a:ext cx="208280" cy="377825"/>
          </a:xfrm>
          <a:prstGeom prst="line">
            <a:avLst/>
          </a:prstGeom>
        </p:spPr>
        <p:style>
          <a:lnRef idx="2">
            <a:schemeClr val="accent1"/>
          </a:lnRef>
          <a:fillRef idx="0">
            <a:srgbClr val="FFFFFF"/>
          </a:fillRef>
          <a:effectRef idx="0">
            <a:srgbClr val="FFFFFF"/>
          </a:effectRef>
          <a:fontRef idx="minor">
            <a:schemeClr val="tx1"/>
          </a:fontRef>
        </p:style>
      </p:cxnSp>
      <p:cxnSp>
        <p:nvCxnSpPr>
          <p:cNvPr id="158" name="直接连接符 157"/>
          <p:cNvCxnSpPr>
            <a:stCxn id="151" idx="3"/>
            <a:endCxn id="152" idx="0"/>
          </p:cNvCxnSpPr>
          <p:nvPr/>
        </p:nvCxnSpPr>
        <p:spPr>
          <a:xfrm flipH="1">
            <a:off x="2633345" y="5046345"/>
            <a:ext cx="262255" cy="257175"/>
          </a:xfrm>
          <a:prstGeom prst="line">
            <a:avLst/>
          </a:prstGeom>
        </p:spPr>
        <p:style>
          <a:lnRef idx="2">
            <a:schemeClr val="accent1"/>
          </a:lnRef>
          <a:fillRef idx="0">
            <a:srgbClr val="FFFFFF"/>
          </a:fillRef>
          <a:effectRef idx="0">
            <a:srgbClr val="FFFFFF"/>
          </a:effectRef>
          <a:fontRef idx="minor">
            <a:schemeClr val="tx1"/>
          </a:fontRef>
        </p:style>
      </p:cxnSp>
      <p:cxnSp>
        <p:nvCxnSpPr>
          <p:cNvPr id="159" name="直接连接符 158"/>
          <p:cNvCxnSpPr>
            <a:stCxn id="151" idx="5"/>
            <a:endCxn id="153" idx="0"/>
          </p:cNvCxnSpPr>
          <p:nvPr/>
        </p:nvCxnSpPr>
        <p:spPr>
          <a:xfrm>
            <a:off x="3255645" y="5046345"/>
            <a:ext cx="250825" cy="257175"/>
          </a:xfrm>
          <a:prstGeom prst="line">
            <a:avLst/>
          </a:prstGeom>
        </p:spPr>
        <p:style>
          <a:lnRef idx="2">
            <a:schemeClr val="accent1"/>
          </a:lnRef>
          <a:fillRef idx="0">
            <a:srgbClr val="FFFFFF"/>
          </a:fillRef>
          <a:effectRef idx="0">
            <a:srgbClr val="FFFFFF"/>
          </a:effectRef>
          <a:fontRef idx="minor">
            <a:schemeClr val="tx1"/>
          </a:fontRef>
        </p:style>
      </p:cxnSp>
      <p:sp>
        <p:nvSpPr>
          <p:cNvPr id="160" name="椭圆 159"/>
          <p:cNvSpPr/>
          <p:nvPr/>
        </p:nvSpPr>
        <p:spPr>
          <a:xfrm>
            <a:off x="5168265" y="326644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p:nvSpPr>
          <p:cNvPr id="161" name="椭圆 160"/>
          <p:cNvSpPr/>
          <p:nvPr/>
        </p:nvSpPr>
        <p:spPr>
          <a:xfrm>
            <a:off x="5678170" y="383540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p:nvSpPr>
          <p:cNvPr id="162" name="椭圆 161"/>
          <p:cNvSpPr/>
          <p:nvPr/>
        </p:nvSpPr>
        <p:spPr>
          <a:xfrm>
            <a:off x="4658360" y="3835400"/>
            <a:ext cx="509905" cy="487680"/>
          </a:xfrm>
          <a:prstGeom prst="ellipse">
            <a:avLst/>
          </a:prstGeom>
          <a:pattFill prst="dkDnDiag">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p:nvSpPr>
          <p:cNvPr id="163" name="椭圆 162"/>
          <p:cNvSpPr/>
          <p:nvPr/>
        </p:nvSpPr>
        <p:spPr>
          <a:xfrm>
            <a:off x="4086225" y="4629785"/>
            <a:ext cx="509905" cy="487680"/>
          </a:xfrm>
          <a:prstGeom prst="ellipse">
            <a:avLst/>
          </a:prstGeom>
          <a:pattFill prst="dkDnDiag">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T</a:t>
            </a:r>
            <a:endParaRPr lang="en-US" altLang="zh-CN">
              <a:solidFill>
                <a:schemeClr val="tx1"/>
              </a:solidFill>
            </a:endParaRPr>
          </a:p>
        </p:txBody>
      </p:sp>
      <p:sp>
        <p:nvSpPr>
          <p:cNvPr id="164" name="椭圆 163"/>
          <p:cNvSpPr/>
          <p:nvPr/>
        </p:nvSpPr>
        <p:spPr>
          <a:xfrm>
            <a:off x="5046345" y="4629785"/>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p:nvSpPr>
          <p:cNvPr id="165" name="椭圆 164"/>
          <p:cNvSpPr/>
          <p:nvPr/>
        </p:nvSpPr>
        <p:spPr>
          <a:xfrm>
            <a:off x="4603750" y="530352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sp>
        <p:nvSpPr>
          <p:cNvPr id="166" name="椭圆 165"/>
          <p:cNvSpPr/>
          <p:nvPr/>
        </p:nvSpPr>
        <p:spPr>
          <a:xfrm>
            <a:off x="5476875" y="530352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cxnSp>
        <p:nvCxnSpPr>
          <p:cNvPr id="167" name="直接连接符 166"/>
          <p:cNvCxnSpPr>
            <a:stCxn id="160" idx="3"/>
            <a:endCxn id="162" idx="7"/>
          </p:cNvCxnSpPr>
          <p:nvPr/>
        </p:nvCxnSpPr>
        <p:spPr>
          <a:xfrm flipH="1">
            <a:off x="5093335" y="368300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68" name="直接连接符 167"/>
          <p:cNvCxnSpPr>
            <a:stCxn id="160" idx="5"/>
            <a:endCxn id="161" idx="1"/>
          </p:cNvCxnSpPr>
          <p:nvPr/>
        </p:nvCxnSpPr>
        <p:spPr>
          <a:xfrm>
            <a:off x="5603240" y="368300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69" name="直接连接符 168"/>
          <p:cNvCxnSpPr>
            <a:stCxn id="162" idx="3"/>
            <a:endCxn id="163" idx="7"/>
          </p:cNvCxnSpPr>
          <p:nvPr/>
        </p:nvCxnSpPr>
        <p:spPr>
          <a:xfrm flipH="1">
            <a:off x="4521200" y="4251960"/>
            <a:ext cx="212090" cy="448945"/>
          </a:xfrm>
          <a:prstGeom prst="line">
            <a:avLst/>
          </a:prstGeom>
        </p:spPr>
        <p:style>
          <a:lnRef idx="2">
            <a:schemeClr val="accent1"/>
          </a:lnRef>
          <a:fillRef idx="0">
            <a:srgbClr val="FFFFFF"/>
          </a:fillRef>
          <a:effectRef idx="0">
            <a:srgbClr val="FFFFFF"/>
          </a:effectRef>
          <a:fontRef idx="minor">
            <a:schemeClr val="tx1"/>
          </a:fontRef>
        </p:style>
      </p:cxnSp>
      <p:cxnSp>
        <p:nvCxnSpPr>
          <p:cNvPr id="170" name="直接连接符 169"/>
          <p:cNvCxnSpPr>
            <a:stCxn id="162" idx="5"/>
            <a:endCxn id="164" idx="0"/>
          </p:cNvCxnSpPr>
          <p:nvPr/>
        </p:nvCxnSpPr>
        <p:spPr>
          <a:xfrm>
            <a:off x="5093335" y="4251960"/>
            <a:ext cx="208280" cy="377825"/>
          </a:xfrm>
          <a:prstGeom prst="line">
            <a:avLst/>
          </a:prstGeom>
        </p:spPr>
        <p:style>
          <a:lnRef idx="2">
            <a:schemeClr val="accent1"/>
          </a:lnRef>
          <a:fillRef idx="0">
            <a:srgbClr val="FFFFFF"/>
          </a:fillRef>
          <a:effectRef idx="0">
            <a:srgbClr val="FFFFFF"/>
          </a:effectRef>
          <a:fontRef idx="minor">
            <a:schemeClr val="tx1"/>
          </a:fontRef>
        </p:style>
      </p:cxnSp>
      <p:cxnSp>
        <p:nvCxnSpPr>
          <p:cNvPr id="171" name="直接连接符 170"/>
          <p:cNvCxnSpPr>
            <a:stCxn id="164" idx="3"/>
            <a:endCxn id="165" idx="0"/>
          </p:cNvCxnSpPr>
          <p:nvPr/>
        </p:nvCxnSpPr>
        <p:spPr>
          <a:xfrm flipH="1">
            <a:off x="4859020" y="5046345"/>
            <a:ext cx="262255" cy="257175"/>
          </a:xfrm>
          <a:prstGeom prst="line">
            <a:avLst/>
          </a:prstGeom>
        </p:spPr>
        <p:style>
          <a:lnRef idx="2">
            <a:schemeClr val="accent1"/>
          </a:lnRef>
          <a:fillRef idx="0">
            <a:srgbClr val="FFFFFF"/>
          </a:fillRef>
          <a:effectRef idx="0">
            <a:srgbClr val="FFFFFF"/>
          </a:effectRef>
          <a:fontRef idx="minor">
            <a:schemeClr val="tx1"/>
          </a:fontRef>
        </p:style>
      </p:cxnSp>
      <p:cxnSp>
        <p:nvCxnSpPr>
          <p:cNvPr id="172" name="直接连接符 171"/>
          <p:cNvCxnSpPr>
            <a:stCxn id="164" idx="5"/>
            <a:endCxn id="166" idx="0"/>
          </p:cNvCxnSpPr>
          <p:nvPr/>
        </p:nvCxnSpPr>
        <p:spPr>
          <a:xfrm>
            <a:off x="5481320" y="5046345"/>
            <a:ext cx="250825" cy="257175"/>
          </a:xfrm>
          <a:prstGeom prst="line">
            <a:avLst/>
          </a:prstGeom>
        </p:spPr>
        <p:style>
          <a:lnRef idx="2">
            <a:schemeClr val="accent1"/>
          </a:lnRef>
          <a:fillRef idx="0">
            <a:srgbClr val="FFFFFF"/>
          </a:fillRef>
          <a:effectRef idx="0">
            <a:srgbClr val="FFFFFF"/>
          </a:effectRef>
          <a:fontRef idx="minor">
            <a:schemeClr val="tx1"/>
          </a:fontRef>
        </p:style>
      </p:cxnSp>
      <p:sp>
        <p:nvSpPr>
          <p:cNvPr id="173" name="椭圆 172"/>
          <p:cNvSpPr/>
          <p:nvPr/>
        </p:nvSpPr>
        <p:spPr>
          <a:xfrm>
            <a:off x="7355840" y="326644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p:nvSpPr>
          <p:cNvPr id="174" name="椭圆 173"/>
          <p:cNvSpPr/>
          <p:nvPr/>
        </p:nvSpPr>
        <p:spPr>
          <a:xfrm>
            <a:off x="7865745" y="383540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p:nvSpPr>
          <p:cNvPr id="175" name="椭圆 174"/>
          <p:cNvSpPr/>
          <p:nvPr/>
        </p:nvSpPr>
        <p:spPr>
          <a:xfrm>
            <a:off x="6845935" y="383540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p:nvSpPr>
          <p:cNvPr id="176" name="椭圆 175"/>
          <p:cNvSpPr/>
          <p:nvPr/>
        </p:nvSpPr>
        <p:spPr>
          <a:xfrm>
            <a:off x="6273800" y="4629785"/>
            <a:ext cx="509905" cy="487680"/>
          </a:xfrm>
          <a:prstGeom prst="ellipse">
            <a:avLst/>
          </a:prstGeom>
          <a:pattFill prst="dkDnDiag">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T</a:t>
            </a:r>
            <a:endParaRPr lang="en-US" altLang="zh-CN">
              <a:solidFill>
                <a:schemeClr val="tx1"/>
              </a:solidFill>
            </a:endParaRPr>
          </a:p>
        </p:txBody>
      </p:sp>
      <p:sp>
        <p:nvSpPr>
          <p:cNvPr id="177" name="椭圆 176"/>
          <p:cNvSpPr/>
          <p:nvPr/>
        </p:nvSpPr>
        <p:spPr>
          <a:xfrm>
            <a:off x="7233920" y="4629785"/>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p:nvSpPr>
          <p:cNvPr id="178" name="椭圆 177"/>
          <p:cNvSpPr/>
          <p:nvPr/>
        </p:nvSpPr>
        <p:spPr>
          <a:xfrm>
            <a:off x="6791325" y="530352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sp>
        <p:nvSpPr>
          <p:cNvPr id="179" name="椭圆 178"/>
          <p:cNvSpPr/>
          <p:nvPr/>
        </p:nvSpPr>
        <p:spPr>
          <a:xfrm>
            <a:off x="7664450" y="530352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cxnSp>
        <p:nvCxnSpPr>
          <p:cNvPr id="180" name="直接连接符 179"/>
          <p:cNvCxnSpPr>
            <a:stCxn id="173" idx="3"/>
            <a:endCxn id="175" idx="7"/>
          </p:cNvCxnSpPr>
          <p:nvPr/>
        </p:nvCxnSpPr>
        <p:spPr>
          <a:xfrm flipH="1">
            <a:off x="7280910" y="368300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81" name="直接连接符 180"/>
          <p:cNvCxnSpPr>
            <a:stCxn id="173" idx="5"/>
            <a:endCxn id="174" idx="1"/>
          </p:cNvCxnSpPr>
          <p:nvPr/>
        </p:nvCxnSpPr>
        <p:spPr>
          <a:xfrm>
            <a:off x="7790815" y="368300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82" name="直接连接符 181"/>
          <p:cNvCxnSpPr>
            <a:stCxn id="175" idx="3"/>
            <a:endCxn id="176" idx="7"/>
          </p:cNvCxnSpPr>
          <p:nvPr/>
        </p:nvCxnSpPr>
        <p:spPr>
          <a:xfrm flipH="1">
            <a:off x="6708775" y="4251960"/>
            <a:ext cx="212090" cy="448945"/>
          </a:xfrm>
          <a:prstGeom prst="line">
            <a:avLst/>
          </a:prstGeom>
        </p:spPr>
        <p:style>
          <a:lnRef idx="2">
            <a:schemeClr val="accent1"/>
          </a:lnRef>
          <a:fillRef idx="0">
            <a:srgbClr val="FFFFFF"/>
          </a:fillRef>
          <a:effectRef idx="0">
            <a:srgbClr val="FFFFFF"/>
          </a:effectRef>
          <a:fontRef idx="minor">
            <a:schemeClr val="tx1"/>
          </a:fontRef>
        </p:style>
      </p:cxnSp>
      <p:cxnSp>
        <p:nvCxnSpPr>
          <p:cNvPr id="183" name="直接连接符 182"/>
          <p:cNvCxnSpPr>
            <a:stCxn id="175" idx="5"/>
            <a:endCxn id="177" idx="0"/>
          </p:cNvCxnSpPr>
          <p:nvPr/>
        </p:nvCxnSpPr>
        <p:spPr>
          <a:xfrm>
            <a:off x="7280910" y="4251960"/>
            <a:ext cx="208280" cy="377825"/>
          </a:xfrm>
          <a:prstGeom prst="line">
            <a:avLst/>
          </a:prstGeom>
        </p:spPr>
        <p:style>
          <a:lnRef idx="2">
            <a:schemeClr val="accent1"/>
          </a:lnRef>
          <a:fillRef idx="0">
            <a:srgbClr val="FFFFFF"/>
          </a:fillRef>
          <a:effectRef idx="0">
            <a:srgbClr val="FFFFFF"/>
          </a:effectRef>
          <a:fontRef idx="minor">
            <a:schemeClr val="tx1"/>
          </a:fontRef>
        </p:style>
      </p:cxnSp>
      <p:cxnSp>
        <p:nvCxnSpPr>
          <p:cNvPr id="184" name="直接连接符 183"/>
          <p:cNvCxnSpPr>
            <a:stCxn id="177" idx="3"/>
            <a:endCxn id="178" idx="0"/>
          </p:cNvCxnSpPr>
          <p:nvPr/>
        </p:nvCxnSpPr>
        <p:spPr>
          <a:xfrm flipH="1">
            <a:off x="7046595" y="5046345"/>
            <a:ext cx="262255" cy="257175"/>
          </a:xfrm>
          <a:prstGeom prst="line">
            <a:avLst/>
          </a:prstGeom>
        </p:spPr>
        <p:style>
          <a:lnRef idx="2">
            <a:schemeClr val="accent1"/>
          </a:lnRef>
          <a:fillRef idx="0">
            <a:srgbClr val="FFFFFF"/>
          </a:fillRef>
          <a:effectRef idx="0">
            <a:srgbClr val="FFFFFF"/>
          </a:effectRef>
          <a:fontRef idx="minor">
            <a:schemeClr val="tx1"/>
          </a:fontRef>
        </p:style>
      </p:cxnSp>
      <p:cxnSp>
        <p:nvCxnSpPr>
          <p:cNvPr id="185" name="直接连接符 184"/>
          <p:cNvCxnSpPr>
            <a:stCxn id="177" idx="5"/>
            <a:endCxn id="179" idx="0"/>
          </p:cNvCxnSpPr>
          <p:nvPr/>
        </p:nvCxnSpPr>
        <p:spPr>
          <a:xfrm>
            <a:off x="7668895" y="5046345"/>
            <a:ext cx="250825" cy="257175"/>
          </a:xfrm>
          <a:prstGeom prst="line">
            <a:avLst/>
          </a:prstGeom>
        </p:spPr>
        <p:style>
          <a:lnRef idx="2">
            <a:schemeClr val="accent1"/>
          </a:lnRef>
          <a:fillRef idx="0">
            <a:srgbClr val="FFFFFF"/>
          </a:fillRef>
          <a:effectRef idx="0">
            <a:srgbClr val="FFFFFF"/>
          </a:effectRef>
          <a:fontRef idx="minor">
            <a:schemeClr val="tx1"/>
          </a:fontRef>
        </p:style>
      </p:cxnSp>
      <p:sp>
        <p:nvSpPr>
          <p:cNvPr id="186" name="椭圆 185"/>
          <p:cNvSpPr/>
          <p:nvPr/>
        </p:nvSpPr>
        <p:spPr>
          <a:xfrm>
            <a:off x="9512300" y="326644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p:nvSpPr>
          <p:cNvPr id="187" name="椭圆 186"/>
          <p:cNvSpPr/>
          <p:nvPr/>
        </p:nvSpPr>
        <p:spPr>
          <a:xfrm>
            <a:off x="10022205" y="383540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P</a:t>
            </a:r>
            <a:endParaRPr lang="en-US" altLang="zh-CN">
              <a:solidFill>
                <a:schemeClr val="tx1"/>
              </a:solidFill>
            </a:endParaRPr>
          </a:p>
        </p:txBody>
      </p:sp>
      <p:sp>
        <p:nvSpPr>
          <p:cNvPr id="188" name="椭圆 187"/>
          <p:cNvSpPr/>
          <p:nvPr/>
        </p:nvSpPr>
        <p:spPr>
          <a:xfrm>
            <a:off x="9002395" y="383540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p:nvSpPr>
          <p:cNvPr id="189" name="椭圆 188"/>
          <p:cNvSpPr/>
          <p:nvPr/>
        </p:nvSpPr>
        <p:spPr>
          <a:xfrm>
            <a:off x="8430260" y="4629785"/>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T</a:t>
            </a:r>
            <a:endParaRPr lang="en-US" altLang="zh-CN">
              <a:solidFill>
                <a:schemeClr val="tx1"/>
              </a:solidFill>
            </a:endParaRPr>
          </a:p>
        </p:txBody>
      </p:sp>
      <p:sp>
        <p:nvSpPr>
          <p:cNvPr id="190" name="椭圆 189"/>
          <p:cNvSpPr/>
          <p:nvPr/>
        </p:nvSpPr>
        <p:spPr>
          <a:xfrm>
            <a:off x="9390380" y="4629785"/>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a:t>
            </a:r>
            <a:endParaRPr lang="en-US" altLang="zh-CN">
              <a:solidFill>
                <a:schemeClr val="tx1"/>
              </a:solidFill>
            </a:endParaRPr>
          </a:p>
        </p:txBody>
      </p:sp>
      <p:sp>
        <p:nvSpPr>
          <p:cNvPr id="191" name="椭圆 190"/>
          <p:cNvSpPr/>
          <p:nvPr/>
        </p:nvSpPr>
        <p:spPr>
          <a:xfrm>
            <a:off x="8947785" y="530352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sp>
        <p:nvSpPr>
          <p:cNvPr id="192" name="椭圆 191"/>
          <p:cNvSpPr/>
          <p:nvPr/>
        </p:nvSpPr>
        <p:spPr>
          <a:xfrm>
            <a:off x="9820910" y="5303520"/>
            <a:ext cx="509905" cy="4876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P</a:t>
            </a:r>
            <a:endParaRPr lang="zh-CN" altLang="en-US"/>
          </a:p>
        </p:txBody>
      </p:sp>
      <p:cxnSp>
        <p:nvCxnSpPr>
          <p:cNvPr id="193" name="直接连接符 192"/>
          <p:cNvCxnSpPr>
            <a:stCxn id="186" idx="3"/>
            <a:endCxn id="188" idx="7"/>
          </p:cNvCxnSpPr>
          <p:nvPr/>
        </p:nvCxnSpPr>
        <p:spPr>
          <a:xfrm flipH="1">
            <a:off x="9437370" y="368300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94" name="直接连接符 193"/>
          <p:cNvCxnSpPr>
            <a:stCxn id="186" idx="5"/>
            <a:endCxn id="187" idx="1"/>
          </p:cNvCxnSpPr>
          <p:nvPr/>
        </p:nvCxnSpPr>
        <p:spPr>
          <a:xfrm>
            <a:off x="9947275" y="3683000"/>
            <a:ext cx="149860" cy="223520"/>
          </a:xfrm>
          <a:prstGeom prst="line">
            <a:avLst/>
          </a:prstGeom>
        </p:spPr>
        <p:style>
          <a:lnRef idx="2">
            <a:schemeClr val="accent1"/>
          </a:lnRef>
          <a:fillRef idx="0">
            <a:srgbClr val="FFFFFF"/>
          </a:fillRef>
          <a:effectRef idx="0">
            <a:srgbClr val="FFFFFF"/>
          </a:effectRef>
          <a:fontRef idx="minor">
            <a:schemeClr val="tx1"/>
          </a:fontRef>
        </p:style>
      </p:cxnSp>
      <p:cxnSp>
        <p:nvCxnSpPr>
          <p:cNvPr id="195" name="直接连接符 194"/>
          <p:cNvCxnSpPr>
            <a:stCxn id="188" idx="3"/>
            <a:endCxn id="189" idx="7"/>
          </p:cNvCxnSpPr>
          <p:nvPr/>
        </p:nvCxnSpPr>
        <p:spPr>
          <a:xfrm flipH="1">
            <a:off x="8865235" y="4251960"/>
            <a:ext cx="212090" cy="448945"/>
          </a:xfrm>
          <a:prstGeom prst="line">
            <a:avLst/>
          </a:prstGeom>
        </p:spPr>
        <p:style>
          <a:lnRef idx="2">
            <a:schemeClr val="accent1"/>
          </a:lnRef>
          <a:fillRef idx="0">
            <a:srgbClr val="FFFFFF"/>
          </a:fillRef>
          <a:effectRef idx="0">
            <a:srgbClr val="FFFFFF"/>
          </a:effectRef>
          <a:fontRef idx="minor">
            <a:schemeClr val="tx1"/>
          </a:fontRef>
        </p:style>
      </p:cxnSp>
      <p:cxnSp>
        <p:nvCxnSpPr>
          <p:cNvPr id="196" name="直接连接符 195"/>
          <p:cNvCxnSpPr>
            <a:stCxn id="188" idx="5"/>
            <a:endCxn id="190" idx="0"/>
          </p:cNvCxnSpPr>
          <p:nvPr/>
        </p:nvCxnSpPr>
        <p:spPr>
          <a:xfrm>
            <a:off x="9437370" y="4251960"/>
            <a:ext cx="208280" cy="377825"/>
          </a:xfrm>
          <a:prstGeom prst="line">
            <a:avLst/>
          </a:prstGeom>
        </p:spPr>
        <p:style>
          <a:lnRef idx="2">
            <a:schemeClr val="accent1"/>
          </a:lnRef>
          <a:fillRef idx="0">
            <a:srgbClr val="FFFFFF"/>
          </a:fillRef>
          <a:effectRef idx="0">
            <a:srgbClr val="FFFFFF"/>
          </a:effectRef>
          <a:fontRef idx="minor">
            <a:schemeClr val="tx1"/>
          </a:fontRef>
        </p:style>
      </p:cxnSp>
      <p:cxnSp>
        <p:nvCxnSpPr>
          <p:cNvPr id="197" name="直接连接符 196"/>
          <p:cNvCxnSpPr>
            <a:stCxn id="190" idx="3"/>
            <a:endCxn id="191" idx="0"/>
          </p:cNvCxnSpPr>
          <p:nvPr/>
        </p:nvCxnSpPr>
        <p:spPr>
          <a:xfrm flipH="1">
            <a:off x="9203055" y="5046345"/>
            <a:ext cx="262255" cy="257175"/>
          </a:xfrm>
          <a:prstGeom prst="line">
            <a:avLst/>
          </a:prstGeom>
        </p:spPr>
        <p:style>
          <a:lnRef idx="2">
            <a:schemeClr val="accent1"/>
          </a:lnRef>
          <a:fillRef idx="0">
            <a:srgbClr val="FFFFFF"/>
          </a:fillRef>
          <a:effectRef idx="0">
            <a:srgbClr val="FFFFFF"/>
          </a:effectRef>
          <a:fontRef idx="minor">
            <a:schemeClr val="tx1"/>
          </a:fontRef>
        </p:style>
      </p:cxnSp>
      <p:cxnSp>
        <p:nvCxnSpPr>
          <p:cNvPr id="198" name="直接连接符 197"/>
          <p:cNvCxnSpPr>
            <a:stCxn id="190" idx="5"/>
            <a:endCxn id="192" idx="0"/>
          </p:cNvCxnSpPr>
          <p:nvPr/>
        </p:nvCxnSpPr>
        <p:spPr>
          <a:xfrm>
            <a:off x="9825355" y="5046345"/>
            <a:ext cx="250825" cy="257175"/>
          </a:xfrm>
          <a:prstGeom prst="line">
            <a:avLst/>
          </a:prstGeom>
        </p:spPr>
        <p:style>
          <a:lnRef idx="2">
            <a:schemeClr val="accent1"/>
          </a:lnRef>
          <a:fillRef idx="0">
            <a:srgbClr val="FFFFFF"/>
          </a:fillRef>
          <a:effectRef idx="0">
            <a:srgbClr val="FFFFFF"/>
          </a:effectRef>
          <a:fontRef idx="minor">
            <a:schemeClr val="tx1"/>
          </a:fontRef>
        </p:style>
      </p:cxnSp>
      <p:sp>
        <p:nvSpPr>
          <p:cNvPr id="199" name="文本框 198"/>
          <p:cNvSpPr txBox="1"/>
          <p:nvPr/>
        </p:nvSpPr>
        <p:spPr>
          <a:xfrm>
            <a:off x="2942590" y="6060440"/>
            <a:ext cx="450215" cy="368300"/>
          </a:xfrm>
          <a:prstGeom prst="rect">
            <a:avLst/>
          </a:prstGeom>
          <a:noFill/>
        </p:spPr>
        <p:txBody>
          <a:bodyPr wrap="square" rtlCol="0">
            <a:spAutoFit/>
          </a:bodyPr>
          <a:p>
            <a:r>
              <a:rPr lang="zh-CN" altLang="en-US"/>
              <a:t>①</a:t>
            </a:r>
            <a:endParaRPr lang="zh-CN" altLang="en-US"/>
          </a:p>
        </p:txBody>
      </p:sp>
      <p:sp>
        <p:nvSpPr>
          <p:cNvPr id="200" name="文本框 199"/>
          <p:cNvSpPr txBox="1"/>
          <p:nvPr/>
        </p:nvSpPr>
        <p:spPr>
          <a:xfrm>
            <a:off x="5191760" y="6060440"/>
            <a:ext cx="450215" cy="368300"/>
          </a:xfrm>
          <a:prstGeom prst="rect">
            <a:avLst/>
          </a:prstGeom>
          <a:noFill/>
        </p:spPr>
        <p:txBody>
          <a:bodyPr wrap="square" rtlCol="0">
            <a:spAutoFit/>
          </a:bodyPr>
          <a:p>
            <a:r>
              <a:rPr lang="zh-CN" altLang="en-US"/>
              <a:t>②</a:t>
            </a:r>
            <a:endParaRPr lang="zh-CN" altLang="en-US"/>
          </a:p>
        </p:txBody>
      </p:sp>
      <p:sp>
        <p:nvSpPr>
          <p:cNvPr id="201" name="文本框 200"/>
          <p:cNvSpPr txBox="1"/>
          <p:nvPr/>
        </p:nvSpPr>
        <p:spPr>
          <a:xfrm>
            <a:off x="7340600" y="6060440"/>
            <a:ext cx="450215" cy="368300"/>
          </a:xfrm>
          <a:prstGeom prst="rect">
            <a:avLst/>
          </a:prstGeom>
          <a:noFill/>
        </p:spPr>
        <p:txBody>
          <a:bodyPr wrap="square" rtlCol="0">
            <a:spAutoFit/>
          </a:bodyPr>
          <a:p>
            <a:r>
              <a:rPr lang="zh-CN" altLang="en-US"/>
              <a:t>③</a:t>
            </a:r>
            <a:endParaRPr lang="zh-CN" altLang="en-US"/>
          </a:p>
        </p:txBody>
      </p:sp>
      <p:sp>
        <p:nvSpPr>
          <p:cNvPr id="202" name="文本框 201"/>
          <p:cNvSpPr txBox="1"/>
          <p:nvPr/>
        </p:nvSpPr>
        <p:spPr>
          <a:xfrm>
            <a:off x="9512300" y="6060440"/>
            <a:ext cx="450215" cy="368300"/>
          </a:xfrm>
          <a:prstGeom prst="rect">
            <a:avLst/>
          </a:prstGeom>
          <a:noFill/>
        </p:spPr>
        <p:txBody>
          <a:bodyPr wrap="square" rtlCol="0">
            <a:spAutoFit/>
          </a:bodyPr>
          <a:p>
            <a:r>
              <a:rPr lang="zh-CN" altLang="en-US"/>
              <a:t>④</a:t>
            </a:r>
            <a:endParaRPr lang="zh-CN" altLang="en-US"/>
          </a:p>
        </p:txBody>
      </p:sp>
      <p:sp>
        <p:nvSpPr>
          <p:cNvPr id="204" name="椭圆 203"/>
          <p:cNvSpPr/>
          <p:nvPr/>
        </p:nvSpPr>
        <p:spPr>
          <a:xfrm>
            <a:off x="7202805" y="570230"/>
            <a:ext cx="353695" cy="300355"/>
          </a:xfrm>
          <a:prstGeom prst="ellipse">
            <a:avLst/>
          </a:prstGeom>
          <a:pattFill prst="dkDnDiag">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endParaRPr>
          </a:p>
        </p:txBody>
      </p:sp>
      <p:sp>
        <p:nvSpPr>
          <p:cNvPr id="207" name="椭圆 206"/>
          <p:cNvSpPr/>
          <p:nvPr/>
        </p:nvSpPr>
        <p:spPr>
          <a:xfrm>
            <a:off x="7202805" y="1128395"/>
            <a:ext cx="353695" cy="309880"/>
          </a:xfrm>
          <a:prstGeom prst="ellipse">
            <a:avLst/>
          </a:prstGeom>
          <a:pattFill prst="pct20">
            <a:fgClr>
              <a:schemeClr val="tx1"/>
            </a:fgClr>
            <a:bgClr>
              <a:schemeClr val="bg1"/>
            </a:bgClr>
          </a:patt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endParaRPr>
          </a:p>
        </p:txBody>
      </p:sp>
      <p:sp>
        <p:nvSpPr>
          <p:cNvPr id="210" name="文本框 209"/>
          <p:cNvSpPr txBox="1"/>
          <p:nvPr/>
        </p:nvSpPr>
        <p:spPr>
          <a:xfrm>
            <a:off x="7202805" y="1796415"/>
            <a:ext cx="4064000" cy="922020"/>
          </a:xfrm>
          <a:prstGeom prst="rect">
            <a:avLst/>
          </a:prstGeom>
          <a:noFill/>
        </p:spPr>
        <p:txBody>
          <a:bodyPr wrap="square" rtlCol="0">
            <a:spAutoFit/>
          </a:bodyPr>
          <a:p>
            <a:r>
              <a:rPr lang="zh-CN" altLang="en-US"/>
              <a:t>①</a:t>
            </a:r>
            <a:r>
              <a:rPr lang="en-US" altLang="zh-CN"/>
              <a:t> - </a:t>
            </a:r>
            <a:r>
              <a:rPr lang="zh-CN" altLang="en-US"/>
              <a:t>②：前向</a:t>
            </a:r>
            <a:r>
              <a:rPr lang="zh-CN" altLang="en-US"/>
              <a:t>推理</a:t>
            </a:r>
            <a:endParaRPr lang="zh-CN" altLang="en-US"/>
          </a:p>
          <a:p>
            <a:r>
              <a:rPr lang="zh-CN" altLang="en-US"/>
              <a:t>②</a:t>
            </a:r>
            <a:r>
              <a:rPr lang="en-US" altLang="zh-CN"/>
              <a:t> - </a:t>
            </a:r>
            <a:r>
              <a:rPr lang="zh-CN" altLang="en-US"/>
              <a:t>③：后向</a:t>
            </a:r>
            <a:r>
              <a:rPr lang="zh-CN" altLang="en-US"/>
              <a:t>推理</a:t>
            </a:r>
            <a:endParaRPr lang="zh-CN" altLang="en-US"/>
          </a:p>
          <a:p>
            <a:r>
              <a:rPr lang="zh-CN" altLang="en-US"/>
              <a:t>③</a:t>
            </a:r>
            <a:r>
              <a:rPr lang="en-US" altLang="zh-CN"/>
              <a:t> - </a:t>
            </a:r>
            <a:r>
              <a:rPr lang="zh-CN" altLang="en-US"/>
              <a:t>④：目标</a:t>
            </a:r>
            <a:r>
              <a:rPr lang="zh-CN" altLang="en-US"/>
              <a:t>计算</a:t>
            </a:r>
            <a:endParaRPr lang="zh-CN" altLang="en-US"/>
          </a:p>
        </p:txBody>
      </p:sp>
      <p:sp>
        <p:nvSpPr>
          <p:cNvPr id="211" name="文本框 210"/>
          <p:cNvSpPr txBox="1"/>
          <p:nvPr/>
        </p:nvSpPr>
        <p:spPr>
          <a:xfrm>
            <a:off x="7865745" y="567690"/>
            <a:ext cx="2366645" cy="922020"/>
          </a:xfrm>
          <a:prstGeom prst="rect">
            <a:avLst/>
          </a:prstGeom>
          <a:noFill/>
        </p:spPr>
        <p:txBody>
          <a:bodyPr wrap="square" rtlCol="0">
            <a:spAutoFit/>
          </a:bodyPr>
          <a:p>
            <a:r>
              <a:rPr lang="zh-CN" altLang="en-US"/>
              <a:t>未计算得出</a:t>
            </a:r>
            <a:r>
              <a:rPr lang="zh-CN" altLang="en-US"/>
              <a:t>的参数</a:t>
            </a:r>
            <a:endParaRPr lang="zh-CN" altLang="en-US"/>
          </a:p>
          <a:p>
            <a:endParaRPr lang="zh-CN" altLang="en-US"/>
          </a:p>
          <a:p>
            <a:r>
              <a:rPr lang="zh-CN" altLang="en-US"/>
              <a:t>已计算得出</a:t>
            </a:r>
            <a:r>
              <a:rPr lang="zh-CN" altLang="en-US"/>
              <a:t>的参数</a:t>
            </a:r>
            <a:endParaRPr lang="zh-CN" altLang="en-US"/>
          </a:p>
        </p:txBody>
      </p:sp>
      <p:sp>
        <p:nvSpPr>
          <p:cNvPr id="2" name="右箭头 1"/>
          <p:cNvSpPr/>
          <p:nvPr/>
        </p:nvSpPr>
        <p:spPr>
          <a:xfrm>
            <a:off x="3665220" y="1534795"/>
            <a:ext cx="937895" cy="35814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3594100" y="1073150"/>
            <a:ext cx="1419225" cy="368300"/>
          </a:xfrm>
          <a:prstGeom prst="rect">
            <a:avLst/>
          </a:prstGeom>
          <a:noFill/>
        </p:spPr>
        <p:txBody>
          <a:bodyPr wrap="square" rtlCol="0">
            <a:spAutoFit/>
          </a:bodyPr>
          <a:p>
            <a:r>
              <a:rPr lang="zh-CN" altLang="en-US"/>
              <a:t>问题</a:t>
            </a:r>
            <a:r>
              <a:rPr lang="zh-CN" altLang="en-US"/>
              <a:t>变换</a:t>
            </a:r>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406525" y="2820035"/>
            <a:ext cx="9828530" cy="1849120"/>
          </a:xfrm>
          <a:prstGeom prst="rect">
            <a:avLst/>
          </a:prstGeom>
          <a:noFill/>
        </p:spPr>
        <p:txBody>
          <a:bodyPr wrap="square" rtlCol="0">
            <a:noAutofit/>
          </a:bodyPr>
          <a:p>
            <a:r>
              <a:rPr lang="en-US" altLang="zh-CN">
                <a:sym typeface="+mn-ea"/>
              </a:rPr>
              <a:t>珍妮特每</a:t>
            </a:r>
            <a:r>
              <a:rPr lang="zh-CN" altLang="en-US">
                <a:sym typeface="+mn-ea"/>
              </a:rPr>
              <a:t>天卖</a:t>
            </a:r>
            <a:r>
              <a:rPr lang="en-US" altLang="zh-CN">
                <a:sym typeface="+mn-ea"/>
              </a:rPr>
              <a:t>16 - 3 - 4 = &lt;&lt;16-3-4=9&gt;&gt;9</a:t>
            </a:r>
            <a:r>
              <a:rPr lang="zh-CN" altLang="en-US">
                <a:sym typeface="+mn-ea"/>
              </a:rPr>
              <a:t>个鸭蛋。</a:t>
            </a:r>
            <a:endParaRPr lang="zh-CN" altLang="en-US"/>
          </a:p>
          <a:p>
            <a:r>
              <a:rPr lang="zh-CN" altLang="en-US">
                <a:sym typeface="+mn-ea"/>
              </a:rPr>
              <a:t>她每天在农贸市场赚</a:t>
            </a:r>
            <a:r>
              <a:rPr lang="en-US" altLang="zh-CN">
                <a:sym typeface="+mn-ea"/>
              </a:rPr>
              <a:t>9 * 2 = $&lt;&lt;9*2=18&gt;&gt;18</a:t>
            </a:r>
            <a:r>
              <a:rPr lang="zh-CN" altLang="en-US">
                <a:sym typeface="+mn-ea"/>
              </a:rPr>
              <a:t>。</a:t>
            </a:r>
            <a:endParaRPr lang="zh-CN" altLang="en-US"/>
          </a:p>
          <a:p>
            <a:r>
              <a:rPr lang="en-US" altLang="zh-CN">
                <a:sym typeface="+mn-ea"/>
              </a:rPr>
              <a:t>#### 18</a:t>
            </a:r>
            <a:endParaRPr lang="en-US" altLang="zh-CN">
              <a:sym typeface="+mn-ea"/>
            </a:endParaRPr>
          </a:p>
          <a:p>
            <a:r>
              <a:rPr lang="zh-CN" altLang="en-US">
                <a:sym typeface="+mn-ea"/>
              </a:rPr>
              <a:t>（</a:t>
            </a:r>
            <a:r>
              <a:rPr lang="en-US" altLang="zh-CN" sz="1800"/>
              <a:t>Janet sells 16 - 3 - 4 = &lt;&lt;16-3-4=9&gt;&gt;9 duck eggs a day.</a:t>
            </a:r>
            <a:endParaRPr lang="en-US" altLang="zh-CN" sz="1800"/>
          </a:p>
          <a:p>
            <a:r>
              <a:rPr lang="en-US" altLang="zh-CN" sz="1800"/>
              <a:t>She makes 9 * 2 = $&lt;&lt;9*2=18&gt;&gt;18 every day at the farmer’s market.</a:t>
            </a:r>
            <a:endParaRPr lang="en-US" altLang="zh-CN" sz="1800"/>
          </a:p>
          <a:p>
            <a:r>
              <a:rPr lang="en-US" altLang="zh-CN" sz="1800"/>
              <a:t>#### 18</a:t>
            </a:r>
            <a:r>
              <a:rPr lang="zh-CN" altLang="en-US" sz="1800"/>
              <a:t>）</a:t>
            </a:r>
            <a:endParaRPr lang="zh-CN" altLang="en-US" sz="1800"/>
          </a:p>
        </p:txBody>
      </p:sp>
      <p:sp>
        <p:nvSpPr>
          <p:cNvPr id="27" name="文本框 26"/>
          <p:cNvSpPr txBox="1"/>
          <p:nvPr/>
        </p:nvSpPr>
        <p:spPr>
          <a:xfrm>
            <a:off x="1406525" y="767715"/>
            <a:ext cx="9579610" cy="2912745"/>
          </a:xfrm>
          <a:prstGeom prst="rect">
            <a:avLst/>
          </a:prstGeom>
          <a:noFill/>
        </p:spPr>
        <p:txBody>
          <a:bodyPr wrap="square" rtlCol="0">
            <a:noAutofit/>
          </a:bodyPr>
          <a:p>
            <a:r>
              <a:rPr lang="zh-CN" altLang="en-US"/>
              <a:t>珍妮特</a:t>
            </a:r>
            <a:r>
              <a:rPr lang="zh-CN" altLang="en-US" sz="1800"/>
              <a:t>的鸭子每天产</a:t>
            </a:r>
            <a:r>
              <a:rPr lang="en-US" altLang="zh-CN" sz="1800"/>
              <a:t>16</a:t>
            </a:r>
            <a:r>
              <a:rPr lang="zh-CN" altLang="en-US" sz="1800"/>
              <a:t>个蛋。她每天早上吃</a:t>
            </a:r>
            <a:r>
              <a:rPr lang="en-US" altLang="zh-CN" sz="1800"/>
              <a:t>3</a:t>
            </a:r>
            <a:r>
              <a:rPr lang="zh-CN" altLang="en-US" sz="1800"/>
              <a:t>个做早餐，还用</a:t>
            </a:r>
            <a:r>
              <a:rPr lang="en-US" altLang="zh-CN" sz="1800"/>
              <a:t>4</a:t>
            </a:r>
            <a:r>
              <a:rPr lang="zh-CN" altLang="en-US" sz="1800"/>
              <a:t>个做给朋友们的松饼。她每天把剩下的鸡蛋以每个</a:t>
            </a:r>
            <a:r>
              <a:rPr lang="en-US" altLang="zh-CN" sz="1800"/>
              <a:t>2</a:t>
            </a:r>
            <a:r>
              <a:rPr lang="zh-CN" altLang="en-US" sz="1800"/>
              <a:t>美元的价格卖给农贸市场。那么，她每天在农贸市场赚多少钱？</a:t>
            </a:r>
            <a:endParaRPr lang="zh-CN" altLang="en-US" sz="1800"/>
          </a:p>
          <a:p>
            <a:r>
              <a:rPr lang="zh-CN" altLang="en-US" sz="1800"/>
              <a:t>（</a:t>
            </a:r>
            <a:r>
              <a:rPr lang="zh-CN" altLang="en-US">
                <a:sym typeface="+mn-ea"/>
              </a:rPr>
              <a:t>Janet’s ducks lay 16 eggs per day. She eats three for breakfast every morning and bakes muffins for her friends every day with four. She sells the remainder at the farmers' market daily for $2 per fresh duck egg. How much in dollars does she make every day at the farmers' market?</a:t>
            </a:r>
            <a:r>
              <a:rPr lang="zh-CN" altLang="en-US" sz="1800"/>
              <a:t>）</a:t>
            </a:r>
            <a:endParaRPr lang="en-US" altLang="zh-CN" sz="1800"/>
          </a:p>
        </p:txBody>
      </p:sp>
      <p:sp>
        <p:nvSpPr>
          <p:cNvPr id="30" name="圆角矩形 29"/>
          <p:cNvSpPr/>
          <p:nvPr/>
        </p:nvSpPr>
        <p:spPr>
          <a:xfrm>
            <a:off x="475615" y="573405"/>
            <a:ext cx="11407140" cy="5318125"/>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1" name="直接连接符 40"/>
          <p:cNvCxnSpPr/>
          <p:nvPr/>
        </p:nvCxnSpPr>
        <p:spPr>
          <a:xfrm flipV="1">
            <a:off x="498475" y="2659380"/>
            <a:ext cx="11395710" cy="22860"/>
          </a:xfrm>
          <a:prstGeom prst="line">
            <a:avLst/>
          </a:prstGeom>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flipV="1">
            <a:off x="495300" y="4646295"/>
            <a:ext cx="11395710" cy="22860"/>
          </a:xfrm>
          <a:prstGeom prst="line">
            <a:avLst/>
          </a:prstGeom>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a:off x="1428115" y="573405"/>
            <a:ext cx="0" cy="5318125"/>
          </a:xfrm>
          <a:prstGeom prst="line">
            <a:avLst/>
          </a:prstGeom>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1428115" y="4933950"/>
            <a:ext cx="4064000" cy="645160"/>
          </a:xfrm>
          <a:prstGeom prst="rect">
            <a:avLst/>
          </a:prstGeom>
          <a:noFill/>
        </p:spPr>
        <p:txBody>
          <a:bodyPr wrap="square" rtlCol="0">
            <a:spAutoFit/>
          </a:bodyPr>
          <a:p>
            <a:r>
              <a:rPr lang="en-US" altLang="zh-CN"/>
              <a:t>[</a:t>
            </a:r>
            <a:r>
              <a:rPr lang="zh-CN" altLang="en-US"/>
              <a:t>总量</a:t>
            </a:r>
            <a:r>
              <a:rPr lang="en-US" altLang="zh-CN"/>
              <a:t>] - [</a:t>
            </a:r>
            <a:r>
              <a:rPr lang="zh-CN" altLang="en-US"/>
              <a:t>消耗数量</a:t>
            </a:r>
            <a:r>
              <a:rPr lang="en-US" altLang="zh-CN"/>
              <a:t>] = [</a:t>
            </a:r>
            <a:r>
              <a:rPr lang="zh-CN" altLang="en-US"/>
              <a:t>剩余数量</a:t>
            </a:r>
            <a:r>
              <a:rPr lang="en-US" altLang="zh-CN"/>
              <a:t>]</a:t>
            </a:r>
            <a:endParaRPr lang="en-US" altLang="zh-CN"/>
          </a:p>
          <a:p>
            <a:r>
              <a:rPr lang="en-US" altLang="zh-CN"/>
              <a:t>[</a:t>
            </a:r>
            <a:r>
              <a:rPr lang="zh-CN" altLang="en-US"/>
              <a:t>单价</a:t>
            </a:r>
            <a:r>
              <a:rPr lang="en-US" altLang="zh-CN"/>
              <a:t>] * [</a:t>
            </a:r>
            <a:r>
              <a:rPr lang="zh-CN" altLang="en-US"/>
              <a:t>数量</a:t>
            </a:r>
            <a:r>
              <a:rPr lang="en-US" altLang="zh-CN"/>
              <a:t>] = [</a:t>
            </a:r>
            <a:r>
              <a:rPr lang="zh-CN" altLang="en-US"/>
              <a:t>总价</a:t>
            </a:r>
            <a:r>
              <a:rPr lang="en-US" altLang="zh-CN"/>
              <a:t>]</a:t>
            </a:r>
            <a:endParaRPr lang="en-US" altLang="zh-CN"/>
          </a:p>
        </p:txBody>
      </p:sp>
      <p:sp>
        <p:nvSpPr>
          <p:cNvPr id="53" name="文本框 52"/>
          <p:cNvSpPr txBox="1"/>
          <p:nvPr/>
        </p:nvSpPr>
        <p:spPr>
          <a:xfrm>
            <a:off x="685800" y="4933950"/>
            <a:ext cx="742315" cy="645160"/>
          </a:xfrm>
          <a:prstGeom prst="rect">
            <a:avLst/>
          </a:prstGeom>
          <a:noFill/>
        </p:spPr>
        <p:txBody>
          <a:bodyPr wrap="square" rtlCol="0">
            <a:spAutoFit/>
          </a:bodyPr>
          <a:p>
            <a:r>
              <a:rPr lang="zh-CN" altLang="en-US"/>
              <a:t>蕴含公式</a:t>
            </a:r>
            <a:endParaRPr lang="zh-CN" altLang="en-US"/>
          </a:p>
        </p:txBody>
      </p:sp>
      <p:sp>
        <p:nvSpPr>
          <p:cNvPr id="54" name="文本框 53"/>
          <p:cNvSpPr txBox="1"/>
          <p:nvPr/>
        </p:nvSpPr>
        <p:spPr>
          <a:xfrm>
            <a:off x="664210" y="3422015"/>
            <a:ext cx="742315" cy="645160"/>
          </a:xfrm>
          <a:prstGeom prst="rect">
            <a:avLst/>
          </a:prstGeom>
          <a:noFill/>
        </p:spPr>
        <p:txBody>
          <a:bodyPr wrap="square" rtlCol="0">
            <a:spAutoFit/>
          </a:bodyPr>
          <a:p>
            <a:r>
              <a:rPr lang="zh-CN" altLang="en-US"/>
              <a:t>解题</a:t>
            </a:r>
            <a:r>
              <a:rPr lang="zh-CN" altLang="en-US"/>
              <a:t>步骤</a:t>
            </a:r>
            <a:endParaRPr lang="zh-CN" altLang="en-US"/>
          </a:p>
        </p:txBody>
      </p:sp>
      <p:sp>
        <p:nvSpPr>
          <p:cNvPr id="55" name="文本框 54"/>
          <p:cNvSpPr txBox="1"/>
          <p:nvPr/>
        </p:nvSpPr>
        <p:spPr>
          <a:xfrm>
            <a:off x="685800" y="1421130"/>
            <a:ext cx="742315" cy="645160"/>
          </a:xfrm>
          <a:prstGeom prst="rect">
            <a:avLst/>
          </a:prstGeom>
          <a:noFill/>
        </p:spPr>
        <p:txBody>
          <a:bodyPr wrap="square" rtlCol="0">
            <a:spAutoFit/>
          </a:bodyPr>
          <a:p>
            <a:r>
              <a:rPr lang="zh-CN" altLang="en-US"/>
              <a:t>题目</a:t>
            </a:r>
            <a:r>
              <a:rPr lang="zh-CN" altLang="en-US"/>
              <a:t>描述</a:t>
            </a:r>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27075" y="428625"/>
            <a:ext cx="10737215" cy="1132205"/>
          </a:xfrm>
          <a:prstGeom prst="roundRect">
            <a:avLst/>
          </a:prstGeom>
          <a:solidFill>
            <a:schemeClr val="accent4">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lnSpc>
                <a:spcPct val="100000"/>
              </a:lnSpc>
            </a:pPr>
            <a:r>
              <a:rPr lang="zh-CN" altLang="en-US">
                <a:solidFill>
                  <a:schemeClr val="tx1"/>
                </a:solidFill>
              </a:rPr>
              <a:t>有一台电热水器，在其水箱中加入了</a:t>
            </a:r>
            <a:r>
              <a:rPr lang="en-US" altLang="zh-CN">
                <a:solidFill>
                  <a:schemeClr val="tx1"/>
                </a:solidFill>
              </a:rPr>
              <a:t>50kg</a:t>
            </a:r>
            <a:r>
              <a:rPr lang="zh-CN" altLang="en-US">
                <a:solidFill>
                  <a:schemeClr val="tx1"/>
                </a:solidFill>
              </a:rPr>
              <a:t>的水，水被电加热从</a:t>
            </a:r>
            <a:r>
              <a:rPr lang="en-US" altLang="zh-CN">
                <a:solidFill>
                  <a:schemeClr val="tx1"/>
                </a:solidFill>
              </a:rPr>
              <a:t>20</a:t>
            </a:r>
            <a:r>
              <a:rPr lang="en-US" altLang="en-US">
                <a:solidFill>
                  <a:schemeClr val="tx1"/>
                </a:solidFill>
              </a:rPr>
              <a:t>℃</a:t>
            </a:r>
            <a:r>
              <a:rPr lang="zh-CN" altLang="en-US">
                <a:solidFill>
                  <a:schemeClr val="tx1"/>
                </a:solidFill>
              </a:rPr>
              <a:t>加热到</a:t>
            </a:r>
            <a:r>
              <a:rPr lang="en-US" altLang="zh-CN">
                <a:solidFill>
                  <a:schemeClr val="tx1"/>
                </a:solidFill>
              </a:rPr>
              <a:t>[X]</a:t>
            </a:r>
            <a:r>
              <a:rPr lang="zh-CN" altLang="en-US">
                <a:solidFill>
                  <a:schemeClr val="tx1"/>
                </a:solidFill>
              </a:rPr>
              <a:t>。已知水的比热容为</a:t>
            </a:r>
            <a:r>
              <a:rPr lang="en-US" altLang="zh-CN">
                <a:solidFill>
                  <a:schemeClr val="tx1"/>
                </a:solidFill>
              </a:rPr>
              <a:t> C_</a:t>
            </a:r>
            <a:r>
              <a:rPr lang="zh-CN" altLang="en-US">
                <a:solidFill>
                  <a:schemeClr val="tx1"/>
                </a:solidFill>
              </a:rPr>
              <a:t>水</a:t>
            </a:r>
            <a:r>
              <a:rPr lang="en-US" altLang="zh-CN">
                <a:solidFill>
                  <a:schemeClr val="tx1"/>
                </a:solidFill>
              </a:rPr>
              <a:t> = 4.2</a:t>
            </a:r>
            <a:r>
              <a:rPr lang="en-US" altLang="en-US">
                <a:solidFill>
                  <a:schemeClr val="tx1"/>
                </a:solidFill>
              </a:rPr>
              <a:t>×</a:t>
            </a:r>
            <a:r>
              <a:rPr lang="en-US" altLang="zh-CN">
                <a:solidFill>
                  <a:schemeClr val="tx1"/>
                </a:solidFill>
              </a:rPr>
              <a:t>10^3 J/(kg·</a:t>
            </a:r>
            <a:r>
              <a:rPr lang="en-US" altLang="en-US">
                <a:solidFill>
                  <a:schemeClr val="tx1"/>
                </a:solidFill>
              </a:rPr>
              <a:t>℃</a:t>
            </a:r>
            <a:r>
              <a:rPr lang="en-US" altLang="zh-CN">
                <a:solidFill>
                  <a:schemeClr val="tx1"/>
                </a:solidFill>
              </a:rPr>
              <a:t>)</a:t>
            </a:r>
            <a:r>
              <a:rPr lang="zh-CN" altLang="en-US">
                <a:solidFill>
                  <a:schemeClr val="tx1"/>
                </a:solidFill>
              </a:rPr>
              <a:t>。如果加热过程中消耗的总电能为</a:t>
            </a:r>
            <a:r>
              <a:rPr lang="en-US" altLang="zh-CN">
                <a:solidFill>
                  <a:schemeClr val="tx1"/>
                </a:solidFill>
              </a:rPr>
              <a:t> 1</a:t>
            </a:r>
            <a:r>
              <a:rPr lang="en-US" altLang="en-US">
                <a:solidFill>
                  <a:schemeClr val="tx1"/>
                </a:solidFill>
              </a:rPr>
              <a:t>×</a:t>
            </a:r>
            <a:r>
              <a:rPr lang="en-US" altLang="zh-CN">
                <a:solidFill>
                  <a:schemeClr val="tx1"/>
                </a:solidFill>
              </a:rPr>
              <a:t>10^7 J</a:t>
            </a:r>
            <a:r>
              <a:rPr lang="zh-CN" altLang="en-US">
                <a:solidFill>
                  <a:schemeClr val="tx1"/>
                </a:solidFill>
              </a:rPr>
              <a:t>，那么水加热器的热效率是多少？</a:t>
            </a:r>
            <a:endParaRPr lang="zh-CN" altLang="en-US">
              <a:solidFill>
                <a:schemeClr val="tx1"/>
              </a:solidFill>
            </a:endParaRPr>
          </a:p>
          <a:p>
            <a:pPr indent="0" algn="l" fontAlgn="auto">
              <a:lnSpc>
                <a:spcPct val="100000"/>
              </a:lnSpc>
            </a:pPr>
            <a:r>
              <a:rPr lang="zh-CN" altLang="en-US">
                <a:solidFill>
                  <a:schemeClr val="tx1"/>
                </a:solidFill>
              </a:rPr>
              <a:t>如果我们已经知道上面问题的答案是</a:t>
            </a:r>
            <a:r>
              <a:rPr lang="en-US" altLang="zh-CN">
                <a:solidFill>
                  <a:schemeClr val="tx1"/>
                </a:solidFill>
              </a:rPr>
              <a:t> 84%</a:t>
            </a:r>
            <a:r>
              <a:rPr lang="zh-CN" altLang="en-US">
                <a:solidFill>
                  <a:schemeClr val="tx1"/>
                </a:solidFill>
              </a:rPr>
              <a:t>，那么问题中</a:t>
            </a:r>
            <a:r>
              <a:rPr lang="en-US" altLang="zh-CN">
                <a:solidFill>
                  <a:schemeClr val="tx1"/>
                </a:solidFill>
              </a:rPr>
              <a:t> [X] </a:t>
            </a:r>
            <a:r>
              <a:rPr lang="zh-CN" altLang="en-US">
                <a:solidFill>
                  <a:schemeClr val="tx1"/>
                </a:solidFill>
              </a:rPr>
              <a:t>对应的内容应该是多少？</a:t>
            </a:r>
            <a:endParaRPr lang="zh-CN" altLang="en-US">
              <a:solidFill>
                <a:schemeClr val="tx1"/>
              </a:solidFill>
            </a:endParaRPr>
          </a:p>
        </p:txBody>
      </p:sp>
      <p:sp>
        <p:nvSpPr>
          <p:cNvPr id="3" name="圆角矩形 2"/>
          <p:cNvSpPr/>
          <p:nvPr/>
        </p:nvSpPr>
        <p:spPr>
          <a:xfrm>
            <a:off x="727075" y="1897380"/>
            <a:ext cx="10737215" cy="2018030"/>
          </a:xfrm>
          <a:prstGeom prst="roundRect">
            <a:avLst/>
          </a:prstGeom>
          <a:solidFill>
            <a:schemeClr val="accent3">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lnSpc>
                <a:spcPct val="100000"/>
              </a:lnSpc>
            </a:pPr>
            <a:r>
              <a:rPr lang="zh-CN" altLang="en-US">
                <a:solidFill>
                  <a:schemeClr val="tx1"/>
                </a:solidFill>
              </a:rPr>
              <a:t>水吸收的热量可以通过以下公式计算：</a:t>
            </a:r>
            <a:r>
              <a:rPr lang="en-US" altLang="zh-CN">
                <a:solidFill>
                  <a:schemeClr val="tx1"/>
                </a:solidFill>
              </a:rPr>
              <a:t>[</a:t>
            </a:r>
            <a:r>
              <a:rPr lang="zh-CN" altLang="en-US">
                <a:solidFill>
                  <a:schemeClr val="tx1"/>
                </a:solidFill>
              </a:rPr>
              <a:t>水吸收的热量</a:t>
            </a:r>
            <a:r>
              <a:rPr lang="en-US" altLang="zh-CN">
                <a:solidFill>
                  <a:schemeClr val="tx1"/>
                </a:solidFill>
              </a:rPr>
              <a:t>] = [</a:t>
            </a:r>
            <a:r>
              <a:rPr lang="zh-CN" altLang="en-US">
                <a:solidFill>
                  <a:schemeClr val="tx1"/>
                </a:solidFill>
              </a:rPr>
              <a:t>水加热器的热效率</a:t>
            </a:r>
            <a:r>
              <a:rPr lang="en-US" altLang="zh-CN">
                <a:solidFill>
                  <a:schemeClr val="tx1"/>
                </a:solidFill>
              </a:rPr>
              <a:t>] </a:t>
            </a:r>
            <a:r>
              <a:rPr lang="en-US" altLang="en-US">
                <a:solidFill>
                  <a:schemeClr val="tx1"/>
                </a:solidFill>
              </a:rPr>
              <a:t>×</a:t>
            </a:r>
            <a:r>
              <a:rPr lang="en-US" altLang="zh-CN">
                <a:solidFill>
                  <a:schemeClr val="tx1"/>
                </a:solidFill>
              </a:rPr>
              <a:t> [</a:t>
            </a:r>
            <a:r>
              <a:rPr lang="zh-CN" altLang="en-US">
                <a:solidFill>
                  <a:schemeClr val="tx1"/>
                </a:solidFill>
              </a:rPr>
              <a:t>总电能消耗</a:t>
            </a:r>
            <a:r>
              <a:rPr lang="en-US" altLang="zh-CN">
                <a:solidFill>
                  <a:schemeClr val="tx1"/>
                </a:solidFill>
              </a:rPr>
              <a:t>] = 84% </a:t>
            </a:r>
            <a:r>
              <a:rPr lang="en-US" altLang="en-US">
                <a:solidFill>
                  <a:schemeClr val="tx1"/>
                </a:solidFill>
              </a:rPr>
              <a:t>×</a:t>
            </a:r>
            <a:r>
              <a:rPr lang="en-US" altLang="zh-CN">
                <a:solidFill>
                  <a:schemeClr val="tx1"/>
                </a:solidFill>
              </a:rPr>
              <a:t> (1 </a:t>
            </a:r>
            <a:r>
              <a:rPr lang="en-US" altLang="en-US">
                <a:solidFill>
                  <a:schemeClr val="tx1"/>
                </a:solidFill>
              </a:rPr>
              <a:t>×</a:t>
            </a:r>
            <a:r>
              <a:rPr lang="en-US" altLang="zh-CN">
                <a:solidFill>
                  <a:schemeClr val="tx1"/>
                </a:solidFill>
              </a:rPr>
              <a:t> 10</a:t>
            </a:r>
            <a:r>
              <a:rPr lang="en-US" altLang="en-US">
                <a:solidFill>
                  <a:schemeClr val="tx1"/>
                </a:solidFill>
              </a:rPr>
              <a:t>⁷</a:t>
            </a:r>
            <a:r>
              <a:rPr lang="en-US" altLang="zh-CN">
                <a:solidFill>
                  <a:schemeClr val="tx1"/>
                </a:solidFill>
              </a:rPr>
              <a:t> J) = 8400000 J</a:t>
            </a:r>
            <a:r>
              <a:rPr lang="zh-CN" altLang="en-US">
                <a:solidFill>
                  <a:schemeClr val="tx1"/>
                </a:solidFill>
              </a:rPr>
              <a:t>。水吸收的热量</a:t>
            </a:r>
            <a:r>
              <a:rPr lang="en-US" altLang="zh-CN">
                <a:solidFill>
                  <a:schemeClr val="tx1"/>
                </a:solidFill>
              </a:rPr>
              <a:t> = 8400000 J</a:t>
            </a:r>
            <a:r>
              <a:rPr lang="zh-CN" altLang="en-US">
                <a:solidFill>
                  <a:schemeClr val="tx1"/>
                </a:solidFill>
              </a:rPr>
              <a:t>。</a:t>
            </a:r>
            <a:endParaRPr lang="en-US" altLang="zh-CN">
              <a:solidFill>
                <a:schemeClr val="tx1"/>
              </a:solidFill>
            </a:endParaRPr>
          </a:p>
          <a:p>
            <a:pPr indent="0" algn="l" fontAlgn="auto">
              <a:lnSpc>
                <a:spcPct val="100000"/>
              </a:lnSpc>
            </a:pPr>
            <a:r>
              <a:rPr lang="zh-CN" altLang="en-US">
                <a:solidFill>
                  <a:schemeClr val="tx1"/>
                </a:solidFill>
              </a:rPr>
              <a:t>水温升高的度数由以下公式给出：</a:t>
            </a:r>
            <a:r>
              <a:rPr lang="en-US" altLang="zh-CN">
                <a:solidFill>
                  <a:schemeClr val="tx1"/>
                </a:solidFill>
              </a:rPr>
              <a:t>[</a:t>
            </a:r>
            <a:r>
              <a:rPr lang="zh-CN" altLang="en-US">
                <a:solidFill>
                  <a:schemeClr val="tx1"/>
                </a:solidFill>
              </a:rPr>
              <a:t>水升高的</a:t>
            </a:r>
            <a:r>
              <a:rPr lang="zh-CN" altLang="en-US">
                <a:solidFill>
                  <a:schemeClr val="tx1"/>
                </a:solidFill>
              </a:rPr>
              <a:t>温度</a:t>
            </a:r>
            <a:r>
              <a:rPr lang="en-US" altLang="zh-CN">
                <a:solidFill>
                  <a:schemeClr val="tx1"/>
                </a:solidFill>
              </a:rPr>
              <a:t>] = [</a:t>
            </a:r>
            <a:r>
              <a:rPr lang="zh-CN" altLang="en-US">
                <a:solidFill>
                  <a:schemeClr val="tx1"/>
                </a:solidFill>
              </a:rPr>
              <a:t>水吸收的热量</a:t>
            </a:r>
            <a:r>
              <a:rPr lang="en-US" altLang="zh-CN">
                <a:solidFill>
                  <a:schemeClr val="tx1"/>
                </a:solidFill>
              </a:rPr>
              <a:t>] / ( [</a:t>
            </a:r>
            <a:r>
              <a:rPr lang="zh-CN" altLang="en-US">
                <a:solidFill>
                  <a:schemeClr val="tx1"/>
                </a:solidFill>
              </a:rPr>
              <a:t>水的质量</a:t>
            </a:r>
            <a:r>
              <a:rPr lang="en-US" altLang="zh-CN">
                <a:solidFill>
                  <a:schemeClr val="tx1"/>
                </a:solidFill>
              </a:rPr>
              <a:t>] </a:t>
            </a:r>
            <a:r>
              <a:rPr lang="en-US" altLang="en-US">
                <a:solidFill>
                  <a:schemeClr val="tx1"/>
                </a:solidFill>
              </a:rPr>
              <a:t>×</a:t>
            </a:r>
            <a:r>
              <a:rPr lang="en-US" altLang="zh-CN">
                <a:solidFill>
                  <a:schemeClr val="tx1"/>
                </a:solidFill>
              </a:rPr>
              <a:t> [</a:t>
            </a:r>
            <a:r>
              <a:rPr lang="zh-CN" altLang="en-US">
                <a:solidFill>
                  <a:schemeClr val="tx1"/>
                </a:solidFill>
              </a:rPr>
              <a:t>水的比热容</a:t>
            </a:r>
            <a:r>
              <a:rPr lang="en-US" altLang="zh-CN">
                <a:solidFill>
                  <a:schemeClr val="tx1"/>
                </a:solidFill>
              </a:rPr>
              <a:t>] ) = 8400000 J / ( 50 kg </a:t>
            </a:r>
            <a:r>
              <a:rPr lang="en-US" altLang="en-US">
                <a:solidFill>
                  <a:schemeClr val="tx1"/>
                </a:solidFill>
              </a:rPr>
              <a:t>×</a:t>
            </a:r>
            <a:r>
              <a:rPr lang="en-US" altLang="zh-CN">
                <a:solidFill>
                  <a:schemeClr val="tx1"/>
                </a:solidFill>
              </a:rPr>
              <a:t> 4.2 </a:t>
            </a:r>
            <a:r>
              <a:rPr lang="en-US" altLang="en-US">
                <a:solidFill>
                  <a:schemeClr val="tx1"/>
                </a:solidFill>
              </a:rPr>
              <a:t>×</a:t>
            </a:r>
            <a:r>
              <a:rPr lang="en-US" altLang="zh-CN">
                <a:solidFill>
                  <a:schemeClr val="tx1"/>
                </a:solidFill>
              </a:rPr>
              <a:t> 10</a:t>
            </a:r>
            <a:r>
              <a:rPr lang="en-US" altLang="en-US">
                <a:solidFill>
                  <a:schemeClr val="tx1"/>
                </a:solidFill>
              </a:rPr>
              <a:t>³</a:t>
            </a:r>
            <a:r>
              <a:rPr lang="en-US" altLang="zh-CN">
                <a:solidFill>
                  <a:schemeClr val="tx1"/>
                </a:solidFill>
              </a:rPr>
              <a:t> J/(kg·</a:t>
            </a:r>
            <a:r>
              <a:rPr lang="en-US" altLang="en-US">
                <a:solidFill>
                  <a:schemeClr val="tx1"/>
                </a:solidFill>
              </a:rPr>
              <a:t>℃</a:t>
            </a:r>
            <a:r>
              <a:rPr lang="en-US" altLang="zh-CN">
                <a:solidFill>
                  <a:schemeClr val="tx1"/>
                </a:solidFill>
              </a:rPr>
              <a:t>) ) = 40 </a:t>
            </a:r>
            <a:r>
              <a:rPr lang="en-US" altLang="en-US">
                <a:solidFill>
                  <a:schemeClr val="tx1"/>
                </a:solidFill>
              </a:rPr>
              <a:t>℃</a:t>
            </a:r>
            <a:r>
              <a:rPr lang="zh-CN" altLang="en-US">
                <a:solidFill>
                  <a:schemeClr val="tx1"/>
                </a:solidFill>
              </a:rPr>
              <a:t>。水温升高度</a:t>
            </a:r>
            <a:r>
              <a:rPr lang="en-US" altLang="zh-CN">
                <a:solidFill>
                  <a:schemeClr val="tx1"/>
                </a:solidFill>
              </a:rPr>
              <a:t> = 40 </a:t>
            </a:r>
            <a:r>
              <a:rPr lang="en-US" altLang="en-US">
                <a:solidFill>
                  <a:schemeClr val="tx1"/>
                </a:solidFill>
              </a:rPr>
              <a:t>℃</a:t>
            </a:r>
            <a:r>
              <a:rPr lang="zh-CN" altLang="en-US">
                <a:solidFill>
                  <a:schemeClr val="tx1"/>
                </a:solidFill>
              </a:rPr>
              <a:t>。</a:t>
            </a:r>
            <a:endParaRPr lang="en-US" altLang="zh-CN">
              <a:solidFill>
                <a:schemeClr val="tx1"/>
              </a:solidFill>
            </a:endParaRPr>
          </a:p>
          <a:p>
            <a:pPr indent="0" algn="l" fontAlgn="auto">
              <a:lnSpc>
                <a:spcPct val="100000"/>
              </a:lnSpc>
            </a:pPr>
            <a:r>
              <a:rPr lang="zh-CN" altLang="en-US">
                <a:solidFill>
                  <a:schemeClr val="tx1"/>
                </a:solidFill>
              </a:rPr>
              <a:t>计算最终温度：</a:t>
            </a:r>
            <a:r>
              <a:rPr lang="en-US" altLang="zh-CN">
                <a:solidFill>
                  <a:schemeClr val="tx1"/>
                </a:solidFill>
              </a:rPr>
              <a:t>[</a:t>
            </a:r>
            <a:r>
              <a:rPr lang="zh-CN" altLang="en-US">
                <a:solidFill>
                  <a:schemeClr val="tx1"/>
                </a:solidFill>
              </a:rPr>
              <a:t>最终温度</a:t>
            </a:r>
            <a:r>
              <a:rPr lang="en-US" altLang="zh-CN">
                <a:solidFill>
                  <a:schemeClr val="tx1"/>
                </a:solidFill>
              </a:rPr>
              <a:t>] = [</a:t>
            </a:r>
            <a:r>
              <a:rPr lang="zh-CN" altLang="en-US">
                <a:solidFill>
                  <a:schemeClr val="tx1"/>
                </a:solidFill>
              </a:rPr>
              <a:t>水升高的</a:t>
            </a:r>
            <a:r>
              <a:rPr lang="zh-CN" altLang="en-US">
                <a:solidFill>
                  <a:schemeClr val="tx1"/>
                </a:solidFill>
              </a:rPr>
              <a:t>温度</a:t>
            </a:r>
            <a:r>
              <a:rPr lang="en-US" altLang="zh-CN">
                <a:solidFill>
                  <a:schemeClr val="tx1"/>
                </a:solidFill>
              </a:rPr>
              <a:t>] + [</a:t>
            </a:r>
            <a:r>
              <a:rPr lang="zh-CN" altLang="en-US">
                <a:solidFill>
                  <a:schemeClr val="tx1"/>
                </a:solidFill>
              </a:rPr>
              <a:t>初始温度</a:t>
            </a:r>
            <a:r>
              <a:rPr lang="en-US" altLang="zh-CN">
                <a:solidFill>
                  <a:schemeClr val="tx1"/>
                </a:solidFill>
              </a:rPr>
              <a:t>] = 40</a:t>
            </a:r>
            <a:r>
              <a:rPr lang="en-US" altLang="en-US">
                <a:solidFill>
                  <a:schemeClr val="tx1"/>
                </a:solidFill>
              </a:rPr>
              <a:t>℃</a:t>
            </a:r>
            <a:r>
              <a:rPr lang="en-US" altLang="zh-CN">
                <a:solidFill>
                  <a:schemeClr val="tx1"/>
                </a:solidFill>
              </a:rPr>
              <a:t> + 20</a:t>
            </a:r>
            <a:r>
              <a:rPr lang="en-US" altLang="en-US">
                <a:solidFill>
                  <a:schemeClr val="tx1"/>
                </a:solidFill>
              </a:rPr>
              <a:t>℃</a:t>
            </a:r>
            <a:r>
              <a:rPr lang="en-US" altLang="zh-CN">
                <a:solidFill>
                  <a:schemeClr val="tx1"/>
                </a:solidFill>
              </a:rPr>
              <a:t> = 60</a:t>
            </a:r>
            <a:r>
              <a:rPr lang="en-US" altLang="en-US">
                <a:solidFill>
                  <a:schemeClr val="tx1"/>
                </a:solidFill>
              </a:rPr>
              <a:t>℃</a:t>
            </a:r>
            <a:r>
              <a:rPr lang="zh-CN" altLang="en-US">
                <a:solidFill>
                  <a:schemeClr val="tx1"/>
                </a:solidFill>
              </a:rPr>
              <a:t>。最终温度</a:t>
            </a:r>
            <a:r>
              <a:rPr lang="en-US" altLang="zh-CN">
                <a:solidFill>
                  <a:schemeClr val="tx1"/>
                </a:solidFill>
              </a:rPr>
              <a:t> = 60</a:t>
            </a:r>
            <a:r>
              <a:rPr lang="en-US" altLang="en-US">
                <a:solidFill>
                  <a:schemeClr val="tx1"/>
                </a:solidFill>
              </a:rPr>
              <a:t>℃</a:t>
            </a:r>
            <a:r>
              <a:rPr lang="zh-CN" altLang="en-US">
                <a:solidFill>
                  <a:schemeClr val="tx1"/>
                </a:solidFill>
              </a:rPr>
              <a:t>。</a:t>
            </a:r>
            <a:endParaRPr lang="en-US" altLang="zh-CN">
              <a:solidFill>
                <a:schemeClr val="tx1"/>
              </a:solidFill>
            </a:endParaRPr>
          </a:p>
          <a:p>
            <a:pPr indent="0" algn="l" fontAlgn="auto">
              <a:lnSpc>
                <a:spcPct val="100000"/>
              </a:lnSpc>
            </a:pPr>
            <a:r>
              <a:rPr lang="zh-CN" altLang="en-US">
                <a:solidFill>
                  <a:schemeClr val="tx1"/>
                </a:solidFill>
              </a:rPr>
              <a:t>答案</a:t>
            </a:r>
            <a:r>
              <a:rPr lang="en-US" altLang="zh-CN">
                <a:solidFill>
                  <a:schemeClr val="tx1"/>
                </a:solidFill>
              </a:rPr>
              <a:t> = 60</a:t>
            </a:r>
            <a:r>
              <a:rPr lang="en-US" altLang="en-US">
                <a:solidFill>
                  <a:schemeClr val="tx1"/>
                </a:solidFill>
              </a:rPr>
              <a:t>℃</a:t>
            </a:r>
            <a:endParaRPr lang="en-US" altLang="en-US">
              <a:solidFill>
                <a:schemeClr val="tx1"/>
              </a:solidFill>
            </a:endParaRPr>
          </a:p>
        </p:txBody>
      </p:sp>
      <p:sp>
        <p:nvSpPr>
          <p:cNvPr id="4" name="文本框 3"/>
          <p:cNvSpPr txBox="1"/>
          <p:nvPr/>
        </p:nvSpPr>
        <p:spPr>
          <a:xfrm>
            <a:off x="727075" y="-21590"/>
            <a:ext cx="1790065" cy="368300"/>
          </a:xfrm>
          <a:prstGeom prst="rect">
            <a:avLst/>
          </a:prstGeom>
          <a:noFill/>
        </p:spPr>
        <p:txBody>
          <a:bodyPr wrap="square" rtlCol="0">
            <a:spAutoFit/>
          </a:bodyPr>
          <a:p>
            <a:r>
              <a:rPr lang="zh-CN" altLang="en-US" b="1"/>
              <a:t>问题</a:t>
            </a:r>
            <a:endParaRPr lang="zh-CN" altLang="en-US" b="1"/>
          </a:p>
        </p:txBody>
      </p:sp>
      <p:sp>
        <p:nvSpPr>
          <p:cNvPr id="12" name="文本框 11"/>
          <p:cNvSpPr txBox="1"/>
          <p:nvPr/>
        </p:nvSpPr>
        <p:spPr>
          <a:xfrm>
            <a:off x="727075" y="1550035"/>
            <a:ext cx="1790065" cy="368300"/>
          </a:xfrm>
          <a:prstGeom prst="rect">
            <a:avLst/>
          </a:prstGeom>
          <a:noFill/>
        </p:spPr>
        <p:txBody>
          <a:bodyPr wrap="square" rtlCol="0">
            <a:spAutoFit/>
          </a:bodyPr>
          <a:p>
            <a:r>
              <a:rPr lang="zh-CN" altLang="en-US" b="1"/>
              <a:t>解析</a:t>
            </a:r>
            <a:endParaRPr lang="zh-CN" altLang="en-US" b="1"/>
          </a:p>
        </p:txBody>
      </p:sp>
      <p:graphicFrame>
        <p:nvGraphicFramePr>
          <p:cNvPr id="13" name="表格 12"/>
          <p:cNvGraphicFramePr/>
          <p:nvPr/>
        </p:nvGraphicFramePr>
        <p:xfrm>
          <a:off x="725805" y="4415155"/>
          <a:ext cx="10739120" cy="2396490"/>
        </p:xfrm>
        <a:graphic>
          <a:graphicData uri="http://schemas.openxmlformats.org/drawingml/2006/table">
            <a:tbl>
              <a:tblPr firstRow="1" bandRow="1">
                <a:tableStyleId>{5C22544A-7EE6-4342-B048-85BDC9FD1C3A}</a:tableStyleId>
              </a:tblPr>
              <a:tblGrid>
                <a:gridCol w="2684780"/>
                <a:gridCol w="2684780"/>
                <a:gridCol w="2684780"/>
                <a:gridCol w="2684780"/>
              </a:tblGrid>
              <a:tr h="399415">
                <a:tc>
                  <a:txBody>
                    <a:bodyPr/>
                    <a:p>
                      <a:pPr>
                        <a:buNone/>
                      </a:pPr>
                      <a:r>
                        <a:rPr lang="zh-CN" altLang="en-US" b="0">
                          <a:solidFill>
                            <a:schemeClr val="tx1"/>
                          </a:solidFill>
                        </a:rPr>
                        <a:t>参数名称</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zh-CN" altLang="en-US" b="0">
                          <a:solidFill>
                            <a:schemeClr val="tx1"/>
                          </a:solidFill>
                        </a:rPr>
                        <a:t>符号</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zh-CN" altLang="en-US" b="0">
                          <a:solidFill>
                            <a:schemeClr val="tx1"/>
                          </a:solidFill>
                        </a:rPr>
                        <a:t>数值</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zh-CN" altLang="en-US" b="0">
                          <a:solidFill>
                            <a:schemeClr val="tx1"/>
                          </a:solidFill>
                        </a:rPr>
                        <a:t>单位</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99415">
                <a:tc>
                  <a:txBody>
                    <a:bodyPr/>
                    <a:p>
                      <a:pPr>
                        <a:buNone/>
                      </a:pPr>
                      <a:r>
                        <a:rPr lang="zh-CN" altLang="en-US" b="0">
                          <a:solidFill>
                            <a:schemeClr val="tx1"/>
                          </a:solidFill>
                        </a:rPr>
                        <a:t>水升高的</a:t>
                      </a:r>
                      <a:r>
                        <a:rPr lang="zh-CN" altLang="en-US" b="0">
                          <a:solidFill>
                            <a:schemeClr val="tx1"/>
                          </a:solidFill>
                        </a:rPr>
                        <a:t>温度</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Δ</a:t>
                      </a:r>
                      <a:r>
                        <a:rPr lang="en-US" altLang="zh-CN" b="0">
                          <a:solidFill>
                            <a:schemeClr val="tx1"/>
                          </a:solidFill>
                        </a:rPr>
                        <a:t>t</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40</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99415">
                <a:tc>
                  <a:txBody>
                    <a:bodyPr/>
                    <a:p>
                      <a:pPr>
                        <a:buNone/>
                      </a:pPr>
                      <a:r>
                        <a:rPr lang="zh-CN" altLang="en-US" b="0">
                          <a:solidFill>
                            <a:schemeClr val="tx1"/>
                          </a:solidFill>
                        </a:rPr>
                        <a:t>最终</a:t>
                      </a:r>
                      <a:r>
                        <a:rPr lang="zh-CN" altLang="en-US" b="0">
                          <a:solidFill>
                            <a:schemeClr val="tx1"/>
                          </a:solidFill>
                        </a:rPr>
                        <a:t>温度</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t</a:t>
                      </a:r>
                      <a:r>
                        <a:rPr lang="zh-CN" altLang="en-US" b="0" baseline="-25000">
                          <a:solidFill>
                            <a:schemeClr val="tx1"/>
                          </a:solidFill>
                        </a:rPr>
                        <a:t>终</a:t>
                      </a:r>
                      <a:endParaRPr lang="zh-CN" altLang="en-US" b="0" baseline="-2500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20</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99415">
                <a:tc>
                  <a:txBody>
                    <a:bodyPr/>
                    <a:p>
                      <a:pPr>
                        <a:buNone/>
                      </a:pPr>
                      <a:r>
                        <a:rPr lang="en-US" altLang="zh-CN" b="0">
                          <a:solidFill>
                            <a:schemeClr val="tx1"/>
                          </a:solidFill>
                        </a:rPr>
                        <a:t>……</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800">
                          <a:solidFill>
                            <a:schemeClr val="tx1"/>
                          </a:solidFill>
                          <a:sym typeface="+mn-ea"/>
                        </a:rPr>
                        <a:t>……</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800">
                          <a:solidFill>
                            <a:schemeClr val="tx1"/>
                          </a:solidFill>
                          <a:sym typeface="+mn-ea"/>
                        </a:rPr>
                        <a:t>……</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sz="1800">
                          <a:solidFill>
                            <a:schemeClr val="tx1"/>
                          </a:solidFill>
                          <a:sym typeface="+mn-ea"/>
                        </a:rPr>
                        <a:t>……</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99415">
                <a:tc>
                  <a:txBody>
                    <a:bodyPr/>
                    <a:p>
                      <a:pPr>
                        <a:buNone/>
                      </a:pPr>
                      <a:r>
                        <a:rPr lang="zh-CN" altLang="en-US" b="0">
                          <a:solidFill>
                            <a:schemeClr val="tx1"/>
                          </a:solidFill>
                        </a:rPr>
                        <a:t>水吸收的</a:t>
                      </a:r>
                      <a:r>
                        <a:rPr lang="zh-CN" altLang="en-US" b="0">
                          <a:solidFill>
                            <a:schemeClr val="tx1"/>
                          </a:solidFill>
                        </a:rPr>
                        <a:t>热量</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Q</a:t>
                      </a:r>
                      <a:r>
                        <a:rPr lang="zh-CN" altLang="en-US" b="0" baseline="-25000">
                          <a:solidFill>
                            <a:schemeClr val="tx1"/>
                          </a:solidFill>
                        </a:rPr>
                        <a:t>吸</a:t>
                      </a:r>
                      <a:endParaRPr lang="zh-CN" altLang="en-US" b="0" baseline="-2500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8400000</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J</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99415">
                <a:tc>
                  <a:txBody>
                    <a:bodyPr/>
                    <a:p>
                      <a:pPr>
                        <a:buNone/>
                      </a:pPr>
                      <a:r>
                        <a:rPr lang="zh-CN" altLang="en-US" b="0">
                          <a:solidFill>
                            <a:schemeClr val="tx1"/>
                          </a:solidFill>
                        </a:rPr>
                        <a:t>水的</a:t>
                      </a:r>
                      <a:r>
                        <a:rPr lang="zh-CN" altLang="en-US" b="0">
                          <a:solidFill>
                            <a:schemeClr val="tx1"/>
                          </a:solidFill>
                        </a:rPr>
                        <a:t>质量</a:t>
                      </a:r>
                      <a:endParaRPr lang="zh-CN" altLang="en-US"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m</a:t>
                      </a:r>
                      <a:r>
                        <a:rPr lang="zh-CN" altLang="en-US" b="0" baseline="-25000">
                          <a:solidFill>
                            <a:schemeClr val="tx1"/>
                          </a:solidFill>
                        </a:rPr>
                        <a:t>水</a:t>
                      </a:r>
                      <a:endParaRPr lang="zh-CN" altLang="en-US" b="0" baseline="-2500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50</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US" altLang="zh-CN" b="0">
                          <a:solidFill>
                            <a:schemeClr val="tx1"/>
                          </a:solidFill>
                        </a:rPr>
                        <a:t>kg</a:t>
                      </a:r>
                      <a:endParaRPr lang="en-US" altLang="zh-CN" b="0">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5" name="文本框 4"/>
          <p:cNvSpPr txBox="1"/>
          <p:nvPr/>
        </p:nvSpPr>
        <p:spPr>
          <a:xfrm>
            <a:off x="727075" y="3981450"/>
            <a:ext cx="1790065" cy="368300"/>
          </a:xfrm>
          <a:prstGeom prst="rect">
            <a:avLst/>
          </a:prstGeom>
          <a:noFill/>
        </p:spPr>
        <p:txBody>
          <a:bodyPr wrap="square" rtlCol="0">
            <a:spAutoFit/>
          </a:bodyPr>
          <a:p>
            <a:r>
              <a:rPr lang="zh-CN" altLang="en-US" b="1"/>
              <a:t>参数</a:t>
            </a:r>
            <a:r>
              <a:rPr lang="zh-CN" altLang="en-US" b="1"/>
              <a:t>表</a:t>
            </a:r>
            <a:endParaRPr lang="zh-CN" altLang="en-US" b="1"/>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27075" y="428625"/>
            <a:ext cx="10737215" cy="1590675"/>
          </a:xfrm>
          <a:prstGeom prst="roundRect">
            <a:avLst/>
          </a:prstGeom>
          <a:solidFill>
            <a:schemeClr val="accent4">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lnSpc>
                <a:spcPct val="100000"/>
              </a:lnSpc>
            </a:pPr>
            <a:r>
              <a:rPr lang="zh-CN" altLang="en-US">
                <a:solidFill>
                  <a:schemeClr val="tx1"/>
                </a:solidFill>
              </a:rPr>
              <a:t>有一台手持滚刷式雪地清扫机，质量为</a:t>
            </a:r>
            <a:r>
              <a:rPr lang="en-US" altLang="zh-CN">
                <a:solidFill>
                  <a:schemeClr val="tx1"/>
                </a:solidFill>
              </a:rPr>
              <a:t>150</a:t>
            </a:r>
            <a:r>
              <a:rPr lang="zh-CN" altLang="en-US">
                <a:solidFill>
                  <a:schemeClr val="tx1"/>
                </a:solidFill>
              </a:rPr>
              <a:t>千克（</a:t>
            </a:r>
            <a:r>
              <a:rPr lang="en-US" altLang="zh-CN">
                <a:solidFill>
                  <a:schemeClr val="tx1"/>
                </a:solidFill>
              </a:rPr>
              <a:t>g = 10 N/kg</a:t>
            </a:r>
            <a:r>
              <a:rPr lang="zh-CN" altLang="en-US">
                <a:solidFill>
                  <a:schemeClr val="tx1"/>
                </a:solidFill>
              </a:rPr>
              <a:t>）。当不清除积雪时，它的行驶功率为</a:t>
            </a:r>
            <a:r>
              <a:rPr lang="en-US" altLang="zh-CN">
                <a:solidFill>
                  <a:schemeClr val="tx1"/>
                </a:solidFill>
              </a:rPr>
              <a:t>200 W</a:t>
            </a:r>
            <a:r>
              <a:rPr lang="zh-CN" altLang="en-US">
                <a:solidFill>
                  <a:schemeClr val="tx1"/>
                </a:solidFill>
              </a:rPr>
              <a:t>；清除积雪时，行驶功率为</a:t>
            </a:r>
            <a:r>
              <a:rPr lang="en-US" altLang="zh-CN">
                <a:solidFill>
                  <a:schemeClr val="tx1"/>
                </a:solidFill>
              </a:rPr>
              <a:t>3 kW</a:t>
            </a:r>
            <a:r>
              <a:rPr lang="zh-CN" altLang="en-US">
                <a:solidFill>
                  <a:schemeClr val="tx1"/>
                </a:solidFill>
              </a:rPr>
              <a:t>。最大行驶速度为</a:t>
            </a:r>
            <a:r>
              <a:rPr lang="en-US" altLang="zh-CN">
                <a:solidFill>
                  <a:schemeClr val="tx1"/>
                </a:solidFill>
              </a:rPr>
              <a:t>1 m/s</a:t>
            </a:r>
            <a:r>
              <a:rPr lang="zh-CN" altLang="en-US">
                <a:solidFill>
                  <a:schemeClr val="tx1"/>
                </a:solidFill>
              </a:rPr>
              <a:t>。当雪地清扫机以最大速度行驶并清除</a:t>
            </a:r>
            <a:r>
              <a:rPr lang="en-US" altLang="zh-CN">
                <a:solidFill>
                  <a:schemeClr val="tx1"/>
                </a:solidFill>
              </a:rPr>
              <a:t>1</a:t>
            </a:r>
            <a:r>
              <a:rPr lang="zh-CN" altLang="en-US">
                <a:solidFill>
                  <a:schemeClr val="tx1"/>
                </a:solidFill>
              </a:rPr>
              <a:t>公里的积雪时，消耗了</a:t>
            </a:r>
            <a:r>
              <a:rPr lang="en-US" altLang="zh-CN">
                <a:solidFill>
                  <a:schemeClr val="tx1"/>
                </a:solidFill>
              </a:rPr>
              <a:t>0.3</a:t>
            </a:r>
            <a:r>
              <a:rPr lang="zh-CN" altLang="en-US">
                <a:solidFill>
                  <a:schemeClr val="tx1"/>
                </a:solidFill>
              </a:rPr>
              <a:t>千克燃料。求雪地清扫机释放的热量是多少？（补充：燃料的热值为</a:t>
            </a:r>
            <a:r>
              <a:rPr lang="en-US" altLang="zh-CN">
                <a:solidFill>
                  <a:schemeClr val="tx1"/>
                </a:solidFill>
              </a:rPr>
              <a:t>4</a:t>
            </a:r>
            <a:r>
              <a:rPr lang="en-US" altLang="en-US">
                <a:solidFill>
                  <a:schemeClr val="tx1"/>
                </a:solidFill>
              </a:rPr>
              <a:t>×</a:t>
            </a:r>
            <a:r>
              <a:rPr lang="en-US" altLang="zh-CN">
                <a:solidFill>
                  <a:schemeClr val="tx1"/>
                </a:solidFill>
              </a:rPr>
              <a:t>10^7 J/kg</a:t>
            </a:r>
            <a:r>
              <a:rPr lang="zh-CN" altLang="en-US">
                <a:solidFill>
                  <a:schemeClr val="tx1"/>
                </a:solidFill>
              </a:rPr>
              <a:t>；雪地清扫机所做的功为</a:t>
            </a:r>
            <a:r>
              <a:rPr lang="en-US" altLang="zh-CN">
                <a:solidFill>
                  <a:schemeClr val="tx1"/>
                </a:solidFill>
              </a:rPr>
              <a:t>[X]</a:t>
            </a:r>
            <a:r>
              <a:rPr lang="zh-CN" altLang="en-US">
                <a:solidFill>
                  <a:schemeClr val="tx1"/>
                </a:solidFill>
              </a:rPr>
              <a:t>；）雪地清扫机与地面的接触面积为</a:t>
            </a:r>
            <a:r>
              <a:rPr lang="en-US" altLang="zh-CN">
                <a:solidFill>
                  <a:schemeClr val="tx1"/>
                </a:solidFill>
              </a:rPr>
              <a:t>0.1 m</a:t>
            </a:r>
            <a:r>
              <a:rPr lang="en-US" altLang="en-US">
                <a:solidFill>
                  <a:schemeClr val="tx1"/>
                </a:solidFill>
              </a:rPr>
              <a:t>²</a:t>
            </a:r>
            <a:r>
              <a:rPr lang="zh-CN" altLang="en-US">
                <a:solidFill>
                  <a:schemeClr val="tx1"/>
                </a:solidFill>
              </a:rPr>
              <a:t>。如果我们已经知道上述问题的答案是</a:t>
            </a:r>
            <a:r>
              <a:rPr lang="en-US" altLang="zh-CN">
                <a:solidFill>
                  <a:schemeClr val="tx1"/>
                </a:solidFill>
              </a:rPr>
              <a:t>9</a:t>
            </a:r>
            <a:r>
              <a:rPr lang="en-US" altLang="en-US">
                <a:solidFill>
                  <a:schemeClr val="tx1"/>
                </a:solidFill>
              </a:rPr>
              <a:t>×</a:t>
            </a:r>
            <a:r>
              <a:rPr lang="en-US" altLang="zh-CN">
                <a:solidFill>
                  <a:schemeClr val="tx1"/>
                </a:solidFill>
              </a:rPr>
              <a:t>10^6 J</a:t>
            </a:r>
            <a:r>
              <a:rPr lang="zh-CN" altLang="en-US">
                <a:solidFill>
                  <a:schemeClr val="tx1"/>
                </a:solidFill>
              </a:rPr>
              <a:t>，那么</a:t>
            </a:r>
            <a:r>
              <a:rPr lang="en-US" altLang="zh-CN">
                <a:solidFill>
                  <a:schemeClr val="tx1"/>
                </a:solidFill>
              </a:rPr>
              <a:t>[X]</a:t>
            </a:r>
            <a:r>
              <a:rPr lang="zh-CN" altLang="en-US">
                <a:solidFill>
                  <a:schemeClr val="tx1"/>
                </a:solidFill>
              </a:rPr>
              <a:t>应该是多少？</a:t>
            </a:r>
            <a:endParaRPr lang="zh-CN" altLang="en-US">
              <a:solidFill>
                <a:schemeClr val="tx1"/>
              </a:solidFill>
            </a:endParaRPr>
          </a:p>
        </p:txBody>
      </p:sp>
      <p:sp>
        <p:nvSpPr>
          <p:cNvPr id="3" name="圆角矩形 2"/>
          <p:cNvSpPr/>
          <p:nvPr/>
        </p:nvSpPr>
        <p:spPr>
          <a:xfrm>
            <a:off x="727075" y="2731135"/>
            <a:ext cx="10737215" cy="1184275"/>
          </a:xfrm>
          <a:prstGeom prst="round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lnSpc>
                <a:spcPct val="100000"/>
              </a:lnSpc>
            </a:pPr>
            <a:r>
              <a:rPr lang="en-US" altLang="zh-CN">
                <a:solidFill>
                  <a:schemeClr val="tx1"/>
                </a:solidFill>
                <a:sym typeface="+mn-ea"/>
              </a:rPr>
              <a:t>……</a:t>
            </a:r>
            <a:r>
              <a:rPr lang="zh-CN" altLang="en-US">
                <a:solidFill>
                  <a:schemeClr val="tx1"/>
                </a:solidFill>
                <a:sym typeface="+mn-ea"/>
              </a:rPr>
              <a:t>省略</a:t>
            </a:r>
            <a:r>
              <a:rPr lang="en-US" altLang="zh-CN">
                <a:solidFill>
                  <a:schemeClr val="tx1"/>
                </a:solidFill>
                <a:sym typeface="+mn-ea"/>
              </a:rPr>
              <a:t>……</a:t>
            </a:r>
            <a:endParaRPr lang="en-US" altLang="zh-CN">
              <a:solidFill>
                <a:schemeClr val="tx1"/>
              </a:solidFill>
            </a:endParaRPr>
          </a:p>
          <a:p>
            <a:pPr indent="0" algn="l" fontAlgn="auto">
              <a:lnSpc>
                <a:spcPct val="100000"/>
              </a:lnSpc>
            </a:pPr>
            <a:r>
              <a:rPr lang="en-US" altLang="zh-CN">
                <a:solidFill>
                  <a:schemeClr val="tx1"/>
                </a:solidFill>
              </a:rPr>
              <a:t>1. </a:t>
            </a:r>
            <a:r>
              <a:rPr lang="zh-CN" altLang="en-US">
                <a:solidFill>
                  <a:schemeClr val="tx1"/>
                </a:solidFill>
              </a:rPr>
              <a:t>计算燃料释放的总热量：</a:t>
            </a:r>
            <a:r>
              <a:rPr lang="en-US" altLang="zh-CN">
                <a:solidFill>
                  <a:schemeClr val="tx1"/>
                </a:solidFill>
              </a:rPr>
              <a:t>[</a:t>
            </a:r>
            <a:r>
              <a:rPr lang="zh-CN" altLang="en-US">
                <a:solidFill>
                  <a:schemeClr val="tx1"/>
                </a:solidFill>
              </a:rPr>
              <a:t>总热量</a:t>
            </a:r>
            <a:r>
              <a:rPr lang="en-US" altLang="zh-CN">
                <a:solidFill>
                  <a:schemeClr val="tx1"/>
                </a:solidFill>
              </a:rPr>
              <a:t>] = [</a:t>
            </a:r>
            <a:r>
              <a:rPr lang="zh-CN" altLang="en-US">
                <a:solidFill>
                  <a:schemeClr val="tx1"/>
                </a:solidFill>
              </a:rPr>
              <a:t>燃料质量</a:t>
            </a:r>
            <a:r>
              <a:rPr lang="en-US" altLang="zh-CN">
                <a:solidFill>
                  <a:schemeClr val="tx1"/>
                </a:solidFill>
              </a:rPr>
              <a:t>] </a:t>
            </a:r>
            <a:r>
              <a:rPr lang="en-US" altLang="en-US">
                <a:solidFill>
                  <a:schemeClr val="tx1"/>
                </a:solidFill>
              </a:rPr>
              <a:t>×</a:t>
            </a:r>
            <a:r>
              <a:rPr lang="en-US" altLang="zh-CN">
                <a:solidFill>
                  <a:schemeClr val="tx1"/>
                </a:solidFill>
              </a:rPr>
              <a:t> [</a:t>
            </a:r>
            <a:r>
              <a:rPr lang="zh-CN" altLang="en-US">
                <a:solidFill>
                  <a:schemeClr val="tx1"/>
                </a:solidFill>
              </a:rPr>
              <a:t>热值</a:t>
            </a:r>
            <a:r>
              <a:rPr lang="en-US" altLang="zh-CN">
                <a:solidFill>
                  <a:schemeClr val="tx1"/>
                </a:solidFill>
              </a:rPr>
              <a:t>] = 0.3 </a:t>
            </a:r>
            <a:r>
              <a:rPr lang="en-US" altLang="en-US">
                <a:solidFill>
                  <a:schemeClr val="tx1"/>
                </a:solidFill>
              </a:rPr>
              <a:t>×</a:t>
            </a:r>
            <a:r>
              <a:rPr lang="en-US" altLang="zh-CN">
                <a:solidFill>
                  <a:schemeClr val="tx1"/>
                </a:solidFill>
              </a:rPr>
              <a:t> 4 </a:t>
            </a:r>
            <a:r>
              <a:rPr lang="en-US" altLang="en-US">
                <a:solidFill>
                  <a:schemeClr val="tx1"/>
                </a:solidFill>
              </a:rPr>
              <a:t>×</a:t>
            </a:r>
            <a:r>
              <a:rPr lang="en-US" altLang="zh-CN">
                <a:solidFill>
                  <a:schemeClr val="tx1"/>
                </a:solidFill>
              </a:rPr>
              <a:t> 10</a:t>
            </a:r>
            <a:r>
              <a:rPr lang="en-US" altLang="en-US">
                <a:solidFill>
                  <a:schemeClr val="tx1"/>
                </a:solidFill>
              </a:rPr>
              <a:t>⁷</a:t>
            </a:r>
            <a:r>
              <a:rPr lang="en-US" altLang="zh-CN">
                <a:solidFill>
                  <a:schemeClr val="tx1"/>
                </a:solidFill>
              </a:rPr>
              <a:t> = 1.2 </a:t>
            </a:r>
            <a:r>
              <a:rPr lang="en-US" altLang="en-US">
                <a:solidFill>
                  <a:schemeClr val="tx1"/>
                </a:solidFill>
              </a:rPr>
              <a:t>×</a:t>
            </a:r>
            <a:r>
              <a:rPr lang="en-US" altLang="zh-CN">
                <a:solidFill>
                  <a:schemeClr val="tx1"/>
                </a:solidFill>
              </a:rPr>
              <a:t> 10</a:t>
            </a:r>
            <a:r>
              <a:rPr lang="en-US" altLang="en-US">
                <a:solidFill>
                  <a:schemeClr val="tx1"/>
                </a:solidFill>
              </a:rPr>
              <a:t>⁷</a:t>
            </a:r>
            <a:r>
              <a:rPr lang="en-US" altLang="zh-CN">
                <a:solidFill>
                  <a:schemeClr val="tx1"/>
                </a:solidFill>
              </a:rPr>
              <a:t> J</a:t>
            </a:r>
            <a:r>
              <a:rPr lang="zh-CN" altLang="en-US">
                <a:solidFill>
                  <a:schemeClr val="tx1"/>
                </a:solidFill>
              </a:rPr>
              <a:t>。</a:t>
            </a:r>
            <a:endParaRPr lang="en-US" altLang="zh-CN">
              <a:solidFill>
                <a:schemeClr val="tx1"/>
              </a:solidFill>
            </a:endParaRPr>
          </a:p>
          <a:p>
            <a:pPr indent="0" algn="l" fontAlgn="auto">
              <a:lnSpc>
                <a:spcPct val="100000"/>
              </a:lnSpc>
            </a:pPr>
            <a:r>
              <a:rPr lang="en-US" altLang="zh-CN">
                <a:solidFill>
                  <a:schemeClr val="tx1"/>
                </a:solidFill>
              </a:rPr>
              <a:t>2. </a:t>
            </a:r>
            <a:r>
              <a:rPr lang="zh-CN" altLang="en-US">
                <a:solidFill>
                  <a:schemeClr val="tx1"/>
                </a:solidFill>
              </a:rPr>
              <a:t>计算雪地清扫机所做的功：</a:t>
            </a:r>
            <a:r>
              <a:rPr lang="en-US" altLang="zh-CN">
                <a:solidFill>
                  <a:schemeClr val="tx1"/>
                </a:solidFill>
                <a:highlight>
                  <a:srgbClr val="00FF00"/>
                </a:highlight>
              </a:rPr>
              <a:t>[</a:t>
            </a:r>
            <a:r>
              <a:rPr lang="zh-CN" altLang="en-US">
                <a:solidFill>
                  <a:schemeClr val="tx1"/>
                </a:solidFill>
                <a:highlight>
                  <a:srgbClr val="00FF00"/>
                </a:highlight>
              </a:rPr>
              <a:t>总功</a:t>
            </a:r>
            <a:r>
              <a:rPr lang="en-US" altLang="zh-CN">
                <a:solidFill>
                  <a:schemeClr val="tx1"/>
                </a:solidFill>
                <a:highlight>
                  <a:srgbClr val="00FF00"/>
                </a:highlight>
              </a:rPr>
              <a:t>] = [</a:t>
            </a:r>
            <a:r>
              <a:rPr lang="zh-CN" altLang="en-US">
                <a:solidFill>
                  <a:schemeClr val="tx1"/>
                </a:solidFill>
                <a:highlight>
                  <a:srgbClr val="00FF00"/>
                </a:highlight>
              </a:rPr>
              <a:t>释放的热量</a:t>
            </a:r>
            <a:r>
              <a:rPr lang="en-US" altLang="zh-CN">
                <a:solidFill>
                  <a:schemeClr val="tx1"/>
                </a:solidFill>
                <a:highlight>
                  <a:srgbClr val="00FF00"/>
                </a:highlight>
              </a:rPr>
              <a:t>]</a:t>
            </a:r>
            <a:r>
              <a:rPr lang="en-US" altLang="zh-CN">
                <a:solidFill>
                  <a:schemeClr val="tx1"/>
                </a:solidFill>
              </a:rPr>
              <a:t> = 9 </a:t>
            </a:r>
            <a:r>
              <a:rPr lang="en-US" altLang="en-US">
                <a:solidFill>
                  <a:schemeClr val="tx1"/>
                </a:solidFill>
              </a:rPr>
              <a:t>×</a:t>
            </a:r>
            <a:r>
              <a:rPr lang="en-US" altLang="zh-CN">
                <a:solidFill>
                  <a:schemeClr val="tx1"/>
                </a:solidFill>
              </a:rPr>
              <a:t> 10</a:t>
            </a:r>
            <a:r>
              <a:rPr lang="en-US" altLang="en-US">
                <a:solidFill>
                  <a:schemeClr val="tx1"/>
                </a:solidFill>
              </a:rPr>
              <a:t>⁶</a:t>
            </a:r>
            <a:r>
              <a:rPr lang="en-US" altLang="zh-CN">
                <a:solidFill>
                  <a:schemeClr val="tx1"/>
                </a:solidFill>
              </a:rPr>
              <a:t> J</a:t>
            </a:r>
            <a:r>
              <a:rPr lang="zh-CN" altLang="en-US">
                <a:solidFill>
                  <a:schemeClr val="tx1"/>
                </a:solidFill>
              </a:rPr>
              <a:t>。</a:t>
            </a:r>
            <a:endParaRPr lang="zh-CN" altLang="en-US">
              <a:solidFill>
                <a:schemeClr val="tx1"/>
              </a:solidFill>
            </a:endParaRPr>
          </a:p>
          <a:p>
            <a:pPr indent="0" algn="l" fontAlgn="auto">
              <a:lnSpc>
                <a:spcPct val="100000"/>
              </a:lnSpc>
            </a:pPr>
            <a:r>
              <a:rPr lang="en-US" altLang="zh-CN">
                <a:solidFill>
                  <a:schemeClr val="tx1"/>
                </a:solidFill>
              </a:rPr>
              <a:t>……</a:t>
            </a:r>
            <a:r>
              <a:rPr lang="zh-CN" altLang="en-US">
                <a:solidFill>
                  <a:schemeClr val="tx1"/>
                </a:solidFill>
              </a:rPr>
              <a:t>省略</a:t>
            </a:r>
            <a:r>
              <a:rPr lang="en-US" altLang="zh-CN">
                <a:solidFill>
                  <a:schemeClr val="tx1"/>
                </a:solidFill>
              </a:rPr>
              <a:t>……</a:t>
            </a:r>
            <a:endParaRPr lang="en-US" altLang="zh-CN">
              <a:solidFill>
                <a:schemeClr val="tx1"/>
              </a:solidFill>
            </a:endParaRPr>
          </a:p>
        </p:txBody>
      </p:sp>
      <p:sp>
        <p:nvSpPr>
          <p:cNvPr id="4" name="文本框 3"/>
          <p:cNvSpPr txBox="1"/>
          <p:nvPr/>
        </p:nvSpPr>
        <p:spPr>
          <a:xfrm>
            <a:off x="727075" y="-21590"/>
            <a:ext cx="1790065" cy="368300"/>
          </a:xfrm>
          <a:prstGeom prst="rect">
            <a:avLst/>
          </a:prstGeom>
          <a:noFill/>
        </p:spPr>
        <p:txBody>
          <a:bodyPr wrap="square" rtlCol="0">
            <a:spAutoFit/>
          </a:bodyPr>
          <a:p>
            <a:r>
              <a:rPr lang="zh-CN" altLang="en-US" b="1"/>
              <a:t>问题</a:t>
            </a:r>
            <a:endParaRPr lang="zh-CN" altLang="en-US" b="1"/>
          </a:p>
        </p:txBody>
      </p:sp>
      <p:sp>
        <p:nvSpPr>
          <p:cNvPr id="12" name="文本框 11"/>
          <p:cNvSpPr txBox="1"/>
          <p:nvPr/>
        </p:nvSpPr>
        <p:spPr>
          <a:xfrm>
            <a:off x="727075" y="2247265"/>
            <a:ext cx="8359140" cy="368300"/>
          </a:xfrm>
          <a:prstGeom prst="rect">
            <a:avLst/>
          </a:prstGeom>
          <a:noFill/>
        </p:spPr>
        <p:txBody>
          <a:bodyPr wrap="square" rtlCol="0">
            <a:spAutoFit/>
          </a:bodyPr>
          <a:p>
            <a:r>
              <a:rPr lang="zh-CN" altLang="en-US" b="1"/>
              <a:t>模型输出（</a:t>
            </a:r>
            <a:r>
              <a:rPr lang="en-US" altLang="zh-CN" b="1"/>
              <a:t>Qwen-Max</a:t>
            </a:r>
            <a:r>
              <a:rPr lang="zh-CN" altLang="en-US" b="1"/>
              <a:t>错误使用</a:t>
            </a:r>
            <a:r>
              <a:rPr lang="zh-CN" altLang="en-US" b="1"/>
              <a:t>物理公式）</a:t>
            </a:r>
            <a:endParaRPr lang="zh-CN" altLang="en-US" b="1"/>
          </a:p>
        </p:txBody>
      </p:sp>
      <p:sp>
        <p:nvSpPr>
          <p:cNvPr id="8" name="圆角矩形 7"/>
          <p:cNvSpPr/>
          <p:nvPr/>
        </p:nvSpPr>
        <p:spPr>
          <a:xfrm>
            <a:off x="727075" y="4729480"/>
            <a:ext cx="10737215" cy="1536065"/>
          </a:xfrm>
          <a:prstGeom prst="round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lnSpc>
                <a:spcPct val="100000"/>
              </a:lnSpc>
            </a:pPr>
            <a:r>
              <a:rPr lang="en-US" altLang="zh-CN">
                <a:solidFill>
                  <a:schemeClr val="tx1"/>
                </a:solidFill>
                <a:sym typeface="+mn-ea"/>
              </a:rPr>
              <a:t>……</a:t>
            </a:r>
            <a:r>
              <a:rPr lang="zh-CN" altLang="en-US">
                <a:solidFill>
                  <a:schemeClr val="tx1"/>
                </a:solidFill>
                <a:sym typeface="+mn-ea"/>
              </a:rPr>
              <a:t>省略</a:t>
            </a:r>
            <a:r>
              <a:rPr lang="en-US" altLang="zh-CN">
                <a:solidFill>
                  <a:schemeClr val="tx1"/>
                </a:solidFill>
                <a:sym typeface="+mn-ea"/>
              </a:rPr>
              <a:t>……</a:t>
            </a:r>
            <a:endParaRPr lang="en-US" altLang="zh-CN">
              <a:solidFill>
                <a:schemeClr val="tx1"/>
              </a:solidFill>
            </a:endParaRPr>
          </a:p>
          <a:p>
            <a:pPr indent="0" algn="l" fontAlgn="auto">
              <a:lnSpc>
                <a:spcPct val="100000"/>
              </a:lnSpc>
            </a:pPr>
            <a:r>
              <a:rPr lang="en-US" altLang="zh-CN">
                <a:solidFill>
                  <a:schemeClr val="tx1"/>
                </a:solidFill>
                <a:sym typeface="+mn-ea"/>
              </a:rPr>
              <a:t>1. </a:t>
            </a:r>
            <a:r>
              <a:rPr lang="zh-CN" altLang="en-US">
                <a:solidFill>
                  <a:schemeClr val="tx1"/>
                </a:solidFill>
                <a:sym typeface="+mn-ea"/>
              </a:rPr>
              <a:t>计算燃料释放的总热量：</a:t>
            </a:r>
            <a:r>
              <a:rPr lang="en-US" altLang="zh-CN">
                <a:solidFill>
                  <a:schemeClr val="tx1"/>
                </a:solidFill>
                <a:sym typeface="+mn-ea"/>
              </a:rPr>
              <a:t>[</a:t>
            </a:r>
            <a:r>
              <a:rPr lang="zh-CN" altLang="en-US">
                <a:solidFill>
                  <a:schemeClr val="tx1"/>
                </a:solidFill>
                <a:sym typeface="+mn-ea"/>
              </a:rPr>
              <a:t>总热量</a:t>
            </a:r>
            <a:r>
              <a:rPr lang="en-US" altLang="zh-CN">
                <a:solidFill>
                  <a:schemeClr val="tx1"/>
                </a:solidFill>
                <a:sym typeface="+mn-ea"/>
              </a:rPr>
              <a:t>] = [</a:t>
            </a:r>
            <a:r>
              <a:rPr lang="zh-CN" altLang="en-US">
                <a:solidFill>
                  <a:schemeClr val="tx1"/>
                </a:solidFill>
                <a:sym typeface="+mn-ea"/>
              </a:rPr>
              <a:t>燃料质量</a:t>
            </a:r>
            <a:r>
              <a:rPr lang="en-US" altLang="zh-CN">
                <a:solidFill>
                  <a:schemeClr val="tx1"/>
                </a:solidFill>
                <a:sym typeface="+mn-ea"/>
              </a:rPr>
              <a:t>] </a:t>
            </a:r>
            <a:r>
              <a:rPr lang="en-US" altLang="en-US">
                <a:solidFill>
                  <a:schemeClr val="tx1"/>
                </a:solidFill>
                <a:sym typeface="+mn-ea"/>
              </a:rPr>
              <a:t>×</a:t>
            </a:r>
            <a:r>
              <a:rPr lang="en-US" altLang="zh-CN">
                <a:solidFill>
                  <a:schemeClr val="tx1"/>
                </a:solidFill>
                <a:sym typeface="+mn-ea"/>
              </a:rPr>
              <a:t> [</a:t>
            </a:r>
            <a:r>
              <a:rPr lang="zh-CN" altLang="en-US">
                <a:solidFill>
                  <a:schemeClr val="tx1"/>
                </a:solidFill>
                <a:sym typeface="+mn-ea"/>
              </a:rPr>
              <a:t>热值</a:t>
            </a:r>
            <a:r>
              <a:rPr lang="en-US" altLang="zh-CN">
                <a:solidFill>
                  <a:schemeClr val="tx1"/>
                </a:solidFill>
                <a:sym typeface="+mn-ea"/>
              </a:rPr>
              <a:t>] = 0.3 </a:t>
            </a:r>
            <a:r>
              <a:rPr lang="en-US" altLang="en-US">
                <a:solidFill>
                  <a:schemeClr val="tx1"/>
                </a:solidFill>
                <a:sym typeface="+mn-ea"/>
              </a:rPr>
              <a:t>×</a:t>
            </a:r>
            <a:r>
              <a:rPr lang="en-US" altLang="zh-CN">
                <a:solidFill>
                  <a:schemeClr val="tx1"/>
                </a:solidFill>
                <a:sym typeface="+mn-ea"/>
              </a:rPr>
              <a:t> 4 </a:t>
            </a:r>
            <a:r>
              <a:rPr lang="en-US" altLang="en-US">
                <a:solidFill>
                  <a:schemeClr val="tx1"/>
                </a:solidFill>
                <a:sym typeface="+mn-ea"/>
              </a:rPr>
              <a:t>×</a:t>
            </a:r>
            <a:r>
              <a:rPr lang="en-US" altLang="zh-CN">
                <a:solidFill>
                  <a:schemeClr val="tx1"/>
                </a:solidFill>
                <a:sym typeface="+mn-ea"/>
              </a:rPr>
              <a:t> 10</a:t>
            </a:r>
            <a:r>
              <a:rPr lang="en-US" altLang="en-US">
                <a:solidFill>
                  <a:schemeClr val="tx1"/>
                </a:solidFill>
                <a:sym typeface="+mn-ea"/>
              </a:rPr>
              <a:t>⁷</a:t>
            </a:r>
            <a:r>
              <a:rPr lang="en-US" altLang="zh-CN">
                <a:solidFill>
                  <a:schemeClr val="tx1"/>
                </a:solidFill>
                <a:sym typeface="+mn-ea"/>
              </a:rPr>
              <a:t> = 1.2 </a:t>
            </a:r>
            <a:r>
              <a:rPr lang="en-US" altLang="en-US">
                <a:solidFill>
                  <a:schemeClr val="tx1"/>
                </a:solidFill>
                <a:sym typeface="+mn-ea"/>
              </a:rPr>
              <a:t>×</a:t>
            </a:r>
            <a:r>
              <a:rPr lang="en-US" altLang="zh-CN">
                <a:solidFill>
                  <a:schemeClr val="tx1"/>
                </a:solidFill>
                <a:sym typeface="+mn-ea"/>
              </a:rPr>
              <a:t> 10</a:t>
            </a:r>
            <a:r>
              <a:rPr lang="en-US" altLang="en-US">
                <a:solidFill>
                  <a:schemeClr val="tx1"/>
                </a:solidFill>
                <a:sym typeface="+mn-ea"/>
              </a:rPr>
              <a:t>⁷</a:t>
            </a:r>
            <a:r>
              <a:rPr lang="en-US" altLang="zh-CN">
                <a:solidFill>
                  <a:schemeClr val="tx1"/>
                </a:solidFill>
                <a:sym typeface="+mn-ea"/>
              </a:rPr>
              <a:t> J</a:t>
            </a:r>
            <a:r>
              <a:rPr lang="zh-CN" altLang="en-US">
                <a:solidFill>
                  <a:schemeClr val="tx1"/>
                </a:solidFill>
                <a:sym typeface="+mn-ea"/>
              </a:rPr>
              <a:t>。</a:t>
            </a:r>
            <a:endParaRPr lang="en-US" altLang="zh-CN">
              <a:solidFill>
                <a:schemeClr val="tx1"/>
              </a:solidFill>
            </a:endParaRPr>
          </a:p>
          <a:p>
            <a:pPr indent="0" algn="l" fontAlgn="auto">
              <a:lnSpc>
                <a:spcPct val="100000"/>
              </a:lnSpc>
            </a:pPr>
            <a:r>
              <a:rPr lang="en-US" altLang="zh-CN">
                <a:solidFill>
                  <a:schemeClr val="tx1"/>
                </a:solidFill>
                <a:sym typeface="+mn-ea"/>
              </a:rPr>
              <a:t>2. </a:t>
            </a:r>
            <a:r>
              <a:rPr lang="zh-CN" altLang="en-US">
                <a:solidFill>
                  <a:schemeClr val="tx1"/>
                </a:solidFill>
                <a:sym typeface="+mn-ea"/>
              </a:rPr>
              <a:t>计算雪地清扫机所做的功：</a:t>
            </a:r>
            <a:r>
              <a:rPr lang="en-US" altLang="zh-CN">
                <a:solidFill>
                  <a:schemeClr val="tx1"/>
                </a:solidFill>
                <a:highlight>
                  <a:srgbClr val="00FF00"/>
                </a:highlight>
                <a:sym typeface="+mn-ea"/>
              </a:rPr>
              <a:t>[</a:t>
            </a:r>
            <a:r>
              <a:rPr lang="zh-CN" altLang="en-US">
                <a:solidFill>
                  <a:schemeClr val="tx1"/>
                </a:solidFill>
                <a:highlight>
                  <a:srgbClr val="00FF00"/>
                </a:highlight>
                <a:sym typeface="+mn-ea"/>
              </a:rPr>
              <a:t>总功</a:t>
            </a:r>
            <a:r>
              <a:rPr lang="en-US" altLang="zh-CN">
                <a:solidFill>
                  <a:schemeClr val="tx1"/>
                </a:solidFill>
                <a:highlight>
                  <a:srgbClr val="00FF00"/>
                </a:highlight>
                <a:sym typeface="+mn-ea"/>
              </a:rPr>
              <a:t>] = [</a:t>
            </a:r>
            <a:r>
              <a:rPr lang="zh-CN" altLang="en-US">
                <a:solidFill>
                  <a:schemeClr val="tx1"/>
                </a:solidFill>
                <a:highlight>
                  <a:srgbClr val="00FF00"/>
                </a:highlight>
                <a:sym typeface="+mn-ea"/>
              </a:rPr>
              <a:t>总热量</a:t>
            </a:r>
            <a:r>
              <a:rPr lang="en-US" altLang="zh-CN">
                <a:solidFill>
                  <a:schemeClr val="tx1"/>
                </a:solidFill>
                <a:highlight>
                  <a:srgbClr val="00FF00"/>
                </a:highlight>
                <a:sym typeface="+mn-ea"/>
              </a:rPr>
              <a:t>] - [</a:t>
            </a:r>
            <a:r>
              <a:rPr lang="zh-CN" altLang="en-US">
                <a:solidFill>
                  <a:schemeClr val="tx1"/>
                </a:solidFill>
                <a:highlight>
                  <a:srgbClr val="00FF00"/>
                </a:highlight>
                <a:sym typeface="+mn-ea"/>
              </a:rPr>
              <a:t>释放的热量</a:t>
            </a:r>
            <a:r>
              <a:rPr lang="en-US" altLang="zh-CN">
                <a:solidFill>
                  <a:schemeClr val="tx1"/>
                </a:solidFill>
                <a:highlight>
                  <a:srgbClr val="00FF00"/>
                </a:highlight>
                <a:sym typeface="+mn-ea"/>
              </a:rPr>
              <a:t>]</a:t>
            </a:r>
            <a:r>
              <a:rPr lang="en-US" altLang="zh-CN">
                <a:solidFill>
                  <a:schemeClr val="tx1"/>
                </a:solidFill>
                <a:sym typeface="+mn-ea"/>
              </a:rPr>
              <a:t> =</a:t>
            </a:r>
            <a:r>
              <a:rPr lang="en-US" altLang="zh-CN">
                <a:solidFill>
                  <a:schemeClr val="tx1"/>
                </a:solidFill>
                <a:sym typeface="+mn-ea"/>
              </a:rPr>
              <a:t> 1.2 </a:t>
            </a:r>
            <a:r>
              <a:rPr lang="en-US" altLang="en-US">
                <a:solidFill>
                  <a:schemeClr val="tx1"/>
                </a:solidFill>
                <a:sym typeface="+mn-ea"/>
              </a:rPr>
              <a:t>×</a:t>
            </a:r>
            <a:r>
              <a:rPr lang="en-US" altLang="zh-CN">
                <a:solidFill>
                  <a:schemeClr val="tx1"/>
                </a:solidFill>
                <a:sym typeface="+mn-ea"/>
              </a:rPr>
              <a:t> 10</a:t>
            </a:r>
            <a:r>
              <a:rPr lang="en-US" altLang="en-US">
                <a:solidFill>
                  <a:schemeClr val="tx1"/>
                </a:solidFill>
                <a:sym typeface="+mn-ea"/>
              </a:rPr>
              <a:t>⁷</a:t>
            </a:r>
            <a:r>
              <a:rPr lang="en-US" altLang="zh-CN">
                <a:solidFill>
                  <a:schemeClr val="tx1"/>
                </a:solidFill>
                <a:sym typeface="+mn-ea"/>
              </a:rPr>
              <a:t> J -</a:t>
            </a:r>
            <a:r>
              <a:rPr lang="en-US" altLang="zh-CN">
                <a:solidFill>
                  <a:schemeClr val="tx1"/>
                </a:solidFill>
                <a:sym typeface="+mn-ea"/>
              </a:rPr>
              <a:t> 9 </a:t>
            </a:r>
            <a:r>
              <a:rPr lang="en-US" altLang="en-US">
                <a:solidFill>
                  <a:schemeClr val="tx1"/>
                </a:solidFill>
                <a:sym typeface="+mn-ea"/>
              </a:rPr>
              <a:t>×</a:t>
            </a:r>
            <a:r>
              <a:rPr lang="en-US" altLang="zh-CN">
                <a:solidFill>
                  <a:schemeClr val="tx1"/>
                </a:solidFill>
                <a:sym typeface="+mn-ea"/>
              </a:rPr>
              <a:t> 10</a:t>
            </a:r>
            <a:r>
              <a:rPr lang="en-US" altLang="en-US">
                <a:solidFill>
                  <a:schemeClr val="tx1"/>
                </a:solidFill>
                <a:sym typeface="+mn-ea"/>
              </a:rPr>
              <a:t>⁶</a:t>
            </a:r>
            <a:r>
              <a:rPr lang="en-US" altLang="zh-CN">
                <a:solidFill>
                  <a:schemeClr val="tx1"/>
                </a:solidFill>
                <a:sym typeface="+mn-ea"/>
              </a:rPr>
              <a:t> J = 3</a:t>
            </a:r>
            <a:r>
              <a:rPr lang="en-US" altLang="zh-CN">
                <a:solidFill>
                  <a:schemeClr val="tx1"/>
                </a:solidFill>
                <a:sym typeface="+mn-ea"/>
              </a:rPr>
              <a:t> </a:t>
            </a:r>
            <a:r>
              <a:rPr lang="en-US" altLang="en-US">
                <a:solidFill>
                  <a:schemeClr val="tx1"/>
                </a:solidFill>
                <a:sym typeface="+mn-ea"/>
              </a:rPr>
              <a:t>×</a:t>
            </a:r>
            <a:r>
              <a:rPr lang="en-US" altLang="zh-CN">
                <a:solidFill>
                  <a:schemeClr val="tx1"/>
                </a:solidFill>
                <a:sym typeface="+mn-ea"/>
              </a:rPr>
              <a:t> 10</a:t>
            </a:r>
            <a:r>
              <a:rPr lang="en-US" altLang="en-US">
                <a:solidFill>
                  <a:schemeClr val="tx1"/>
                </a:solidFill>
                <a:sym typeface="+mn-ea"/>
              </a:rPr>
              <a:t>⁶</a:t>
            </a:r>
            <a:r>
              <a:rPr lang="en-US" altLang="zh-CN">
                <a:solidFill>
                  <a:schemeClr val="tx1"/>
                </a:solidFill>
                <a:sym typeface="+mn-ea"/>
              </a:rPr>
              <a:t> J </a:t>
            </a:r>
            <a:r>
              <a:rPr lang="zh-CN" altLang="en-US">
                <a:solidFill>
                  <a:schemeClr val="tx1"/>
                </a:solidFill>
                <a:sym typeface="+mn-ea"/>
              </a:rPr>
              <a:t>。</a:t>
            </a:r>
            <a:endParaRPr lang="zh-CN" altLang="en-US">
              <a:solidFill>
                <a:schemeClr val="tx1"/>
              </a:solidFill>
            </a:endParaRPr>
          </a:p>
          <a:p>
            <a:pPr indent="0" algn="l" fontAlgn="auto">
              <a:lnSpc>
                <a:spcPct val="100000"/>
              </a:lnSpc>
            </a:pPr>
            <a:r>
              <a:rPr lang="en-US" altLang="zh-CN">
                <a:solidFill>
                  <a:schemeClr val="tx1"/>
                </a:solidFill>
              </a:rPr>
              <a:t>……</a:t>
            </a:r>
            <a:r>
              <a:rPr lang="zh-CN" altLang="en-US">
                <a:solidFill>
                  <a:schemeClr val="tx1"/>
                </a:solidFill>
              </a:rPr>
              <a:t>省略</a:t>
            </a:r>
            <a:r>
              <a:rPr lang="en-US" altLang="zh-CN">
                <a:solidFill>
                  <a:schemeClr val="tx1"/>
                </a:solidFill>
              </a:rPr>
              <a:t>……</a:t>
            </a:r>
            <a:endParaRPr lang="en-US" altLang="zh-CN">
              <a:solidFill>
                <a:schemeClr val="tx1"/>
              </a:solidFill>
            </a:endParaRPr>
          </a:p>
        </p:txBody>
      </p:sp>
      <p:sp>
        <p:nvSpPr>
          <p:cNvPr id="9" name="文本框 8"/>
          <p:cNvSpPr txBox="1"/>
          <p:nvPr/>
        </p:nvSpPr>
        <p:spPr>
          <a:xfrm>
            <a:off x="727075" y="4124325"/>
            <a:ext cx="8105140" cy="368300"/>
          </a:xfrm>
          <a:prstGeom prst="rect">
            <a:avLst/>
          </a:prstGeom>
          <a:noFill/>
        </p:spPr>
        <p:txBody>
          <a:bodyPr wrap="square" rtlCol="0">
            <a:spAutoFit/>
          </a:bodyPr>
          <a:p>
            <a:r>
              <a:rPr lang="zh-CN" altLang="en-US" b="1"/>
              <a:t>参考输出（正确</a:t>
            </a:r>
            <a:r>
              <a:rPr lang="zh-CN" altLang="en-US" b="1"/>
              <a:t>使用物理公式）</a:t>
            </a:r>
            <a:endParaRPr lang="zh-CN" altLang="en-US" b="1"/>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27075" y="428625"/>
            <a:ext cx="10737215" cy="1083310"/>
          </a:xfrm>
          <a:prstGeom prst="roundRect">
            <a:avLst/>
          </a:prstGeom>
          <a:solidFill>
            <a:schemeClr val="accent4">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lnSpc>
                <a:spcPct val="100000"/>
              </a:lnSpc>
            </a:pPr>
            <a:r>
              <a:rPr lang="zh-CN" altLang="en-US">
                <a:solidFill>
                  <a:schemeClr val="tx1"/>
                </a:solidFill>
              </a:rPr>
              <a:t>给定冰的熔化热为</a:t>
            </a:r>
            <a:r>
              <a:rPr lang="en-US" altLang="zh-CN">
                <a:solidFill>
                  <a:schemeClr val="tx1"/>
                </a:solidFill>
              </a:rPr>
              <a:t> [X]</a:t>
            </a:r>
            <a:r>
              <a:rPr lang="zh-CN" altLang="en-US">
                <a:solidFill>
                  <a:schemeClr val="tx1"/>
                </a:solidFill>
              </a:rPr>
              <a:t>，其熔点为</a:t>
            </a:r>
            <a:r>
              <a:rPr lang="en-US" altLang="zh-CN">
                <a:solidFill>
                  <a:schemeClr val="tx1"/>
                </a:solidFill>
              </a:rPr>
              <a:t>0</a:t>
            </a:r>
            <a:r>
              <a:rPr lang="en-US" altLang="en-US">
                <a:solidFill>
                  <a:schemeClr val="tx1"/>
                </a:solidFill>
              </a:rPr>
              <a:t>℃</a:t>
            </a:r>
            <a:r>
              <a:rPr lang="zh-CN" altLang="en-US">
                <a:solidFill>
                  <a:schemeClr val="tx1"/>
                </a:solidFill>
              </a:rPr>
              <a:t>，冰的比热容为</a:t>
            </a:r>
            <a:r>
              <a:rPr lang="en-US" altLang="zh-CN">
                <a:solidFill>
                  <a:schemeClr val="tx1"/>
                </a:solidFill>
              </a:rPr>
              <a:t> 2.1</a:t>
            </a:r>
            <a:r>
              <a:rPr lang="en-US" altLang="en-US">
                <a:solidFill>
                  <a:schemeClr val="tx1"/>
                </a:solidFill>
              </a:rPr>
              <a:t>×</a:t>
            </a:r>
            <a:r>
              <a:rPr lang="en-US" altLang="zh-CN">
                <a:solidFill>
                  <a:schemeClr val="tx1"/>
                </a:solidFill>
              </a:rPr>
              <a:t>10^3J/(kg·</a:t>
            </a:r>
            <a:r>
              <a:rPr lang="en-US" altLang="en-US">
                <a:solidFill>
                  <a:schemeClr val="tx1"/>
                </a:solidFill>
              </a:rPr>
              <a:t>℃</a:t>
            </a:r>
            <a:r>
              <a:rPr lang="en-US" altLang="zh-CN">
                <a:solidFill>
                  <a:schemeClr val="tx1"/>
                </a:solidFill>
              </a:rPr>
              <a:t>)</a:t>
            </a:r>
            <a:r>
              <a:rPr lang="zh-CN" altLang="en-US">
                <a:solidFill>
                  <a:schemeClr val="tx1"/>
                </a:solidFill>
              </a:rPr>
              <a:t>。那么，</a:t>
            </a:r>
            <a:r>
              <a:rPr lang="en-US" altLang="zh-CN">
                <a:solidFill>
                  <a:schemeClr val="tx1"/>
                </a:solidFill>
              </a:rPr>
              <a:t>1</a:t>
            </a:r>
            <a:r>
              <a:rPr lang="zh-CN" altLang="en-US">
                <a:solidFill>
                  <a:schemeClr val="tx1"/>
                </a:solidFill>
              </a:rPr>
              <a:t>千克温度为</a:t>
            </a:r>
            <a:r>
              <a:rPr lang="en-US" altLang="zh-CN">
                <a:solidFill>
                  <a:schemeClr val="tx1"/>
                </a:solidFill>
              </a:rPr>
              <a:t>-1</a:t>
            </a:r>
            <a:r>
              <a:rPr lang="en-US" altLang="en-US">
                <a:solidFill>
                  <a:schemeClr val="tx1"/>
                </a:solidFill>
              </a:rPr>
              <a:t>℃</a:t>
            </a:r>
            <a:r>
              <a:rPr lang="zh-CN" altLang="en-US">
                <a:solidFill>
                  <a:schemeClr val="tx1"/>
                </a:solidFill>
              </a:rPr>
              <a:t>的冰要完全融化成</a:t>
            </a:r>
            <a:r>
              <a:rPr lang="en-US" altLang="zh-CN">
                <a:solidFill>
                  <a:schemeClr val="tx1"/>
                </a:solidFill>
              </a:rPr>
              <a:t>0</a:t>
            </a:r>
            <a:r>
              <a:rPr lang="en-US" altLang="en-US">
                <a:solidFill>
                  <a:schemeClr val="tx1"/>
                </a:solidFill>
              </a:rPr>
              <a:t>℃</a:t>
            </a:r>
            <a:r>
              <a:rPr lang="zh-CN" altLang="en-US">
                <a:solidFill>
                  <a:schemeClr val="tx1"/>
                </a:solidFill>
              </a:rPr>
              <a:t>的水，必须吸收多少热量？</a:t>
            </a:r>
            <a:r>
              <a:rPr lang="zh-CN" altLang="en-US">
                <a:solidFill>
                  <a:schemeClr val="tx1"/>
                </a:solidFill>
              </a:rPr>
              <a:t>参数电转换效率参数的值为</a:t>
            </a:r>
            <a:r>
              <a:rPr lang="en-US" altLang="zh-CN">
                <a:solidFill>
                  <a:schemeClr val="tx1"/>
                </a:solidFill>
              </a:rPr>
              <a:t>21%</a:t>
            </a:r>
            <a:r>
              <a:rPr lang="zh-CN" altLang="en-US">
                <a:solidFill>
                  <a:schemeClr val="tx1"/>
                </a:solidFill>
              </a:rPr>
              <a:t>。如果我们已经知道上述问题的答案是</a:t>
            </a:r>
            <a:r>
              <a:rPr lang="en-US" altLang="zh-CN">
                <a:solidFill>
                  <a:schemeClr val="tx1"/>
                </a:solidFill>
              </a:rPr>
              <a:t>3.3621</a:t>
            </a:r>
            <a:r>
              <a:rPr lang="en-US" altLang="en-US">
                <a:solidFill>
                  <a:schemeClr val="tx1"/>
                </a:solidFill>
              </a:rPr>
              <a:t>×</a:t>
            </a:r>
            <a:r>
              <a:rPr lang="en-US" altLang="zh-CN">
                <a:solidFill>
                  <a:schemeClr val="tx1"/>
                </a:solidFill>
              </a:rPr>
              <a:t>10^6J</a:t>
            </a:r>
            <a:r>
              <a:rPr lang="zh-CN" altLang="en-US">
                <a:solidFill>
                  <a:schemeClr val="tx1"/>
                </a:solidFill>
              </a:rPr>
              <a:t>，那么问题中</a:t>
            </a:r>
            <a:r>
              <a:rPr lang="en-US" altLang="zh-CN">
                <a:solidFill>
                  <a:schemeClr val="tx1"/>
                </a:solidFill>
              </a:rPr>
              <a:t> [X] </a:t>
            </a:r>
            <a:r>
              <a:rPr lang="zh-CN" altLang="en-US">
                <a:solidFill>
                  <a:schemeClr val="tx1"/>
                </a:solidFill>
              </a:rPr>
              <a:t>对应的值应该是多少？</a:t>
            </a:r>
            <a:endParaRPr lang="zh-CN" altLang="en-US">
              <a:solidFill>
                <a:schemeClr val="tx1"/>
              </a:solidFill>
            </a:endParaRPr>
          </a:p>
        </p:txBody>
      </p:sp>
      <p:sp>
        <p:nvSpPr>
          <p:cNvPr id="3" name="圆角矩形 2"/>
          <p:cNvSpPr/>
          <p:nvPr/>
        </p:nvSpPr>
        <p:spPr>
          <a:xfrm>
            <a:off x="727075" y="2188845"/>
            <a:ext cx="10737215" cy="1783715"/>
          </a:xfrm>
          <a:prstGeom prst="round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lnSpc>
                <a:spcPct val="100000"/>
              </a:lnSpc>
            </a:pPr>
            <a:r>
              <a:rPr lang="en-US" altLang="zh-CN">
                <a:solidFill>
                  <a:schemeClr val="tx1"/>
                </a:solidFill>
                <a:sym typeface="+mn-ea"/>
              </a:rPr>
              <a:t>……</a:t>
            </a:r>
            <a:r>
              <a:rPr lang="zh-CN" altLang="en-US">
                <a:solidFill>
                  <a:schemeClr val="tx1"/>
                </a:solidFill>
                <a:sym typeface="+mn-ea"/>
              </a:rPr>
              <a:t>省略</a:t>
            </a:r>
            <a:r>
              <a:rPr lang="en-US" altLang="zh-CN">
                <a:solidFill>
                  <a:schemeClr val="tx1"/>
                </a:solidFill>
                <a:sym typeface="+mn-ea"/>
              </a:rPr>
              <a:t>……</a:t>
            </a:r>
            <a:endParaRPr lang="en-US" altLang="zh-CN">
              <a:solidFill>
                <a:schemeClr val="tx1"/>
              </a:solidFill>
            </a:endParaRPr>
          </a:p>
          <a:p>
            <a:pPr indent="0" algn="l" fontAlgn="auto">
              <a:lnSpc>
                <a:spcPct val="100000"/>
              </a:lnSpc>
            </a:pPr>
            <a:r>
              <a:rPr lang="en-US" altLang="zh-CN">
                <a:solidFill>
                  <a:schemeClr val="tx1"/>
                </a:solidFill>
              </a:rPr>
              <a:t>1. </a:t>
            </a:r>
            <a:r>
              <a:rPr lang="zh-CN" altLang="en-US">
                <a:solidFill>
                  <a:schemeClr val="tx1"/>
                </a:solidFill>
              </a:rPr>
              <a:t>计算吸收的热量：</a:t>
            </a:r>
            <a:endParaRPr lang="zh-CN" altLang="en-US">
              <a:solidFill>
                <a:schemeClr val="tx1"/>
              </a:solidFill>
            </a:endParaRPr>
          </a:p>
          <a:p>
            <a:pPr indent="0" algn="l" fontAlgn="auto">
              <a:lnSpc>
                <a:spcPct val="100000"/>
              </a:lnSpc>
            </a:pPr>
            <a:r>
              <a:rPr lang="en-US" altLang="zh-CN">
                <a:solidFill>
                  <a:schemeClr val="tx1"/>
                </a:solidFill>
              </a:rPr>
              <a:t>[</a:t>
            </a:r>
            <a:r>
              <a:rPr lang="zh-CN" altLang="en-US">
                <a:solidFill>
                  <a:schemeClr val="tx1"/>
                </a:solidFill>
              </a:rPr>
              <a:t>总热量</a:t>
            </a:r>
            <a:r>
              <a:rPr lang="en-US" altLang="zh-CN">
                <a:solidFill>
                  <a:schemeClr val="tx1"/>
                </a:solidFill>
              </a:rPr>
              <a:t>]=</a:t>
            </a:r>
            <a:r>
              <a:rPr lang="en-US" altLang="zh-CN">
                <a:solidFill>
                  <a:schemeClr val="tx1"/>
                </a:solidFill>
                <a:highlight>
                  <a:srgbClr val="00FF00"/>
                </a:highlight>
              </a:rPr>
              <a:t>[</a:t>
            </a:r>
            <a:r>
              <a:rPr lang="zh-CN" altLang="en-US">
                <a:solidFill>
                  <a:schemeClr val="tx1"/>
                </a:solidFill>
                <a:highlight>
                  <a:srgbClr val="00FF00"/>
                </a:highlight>
              </a:rPr>
              <a:t>吸收热量</a:t>
            </a:r>
            <a:r>
              <a:rPr lang="en-US" altLang="zh-CN">
                <a:solidFill>
                  <a:schemeClr val="tx1"/>
                </a:solidFill>
                <a:highlight>
                  <a:srgbClr val="00FF00"/>
                </a:highlight>
              </a:rPr>
              <a:t>]</a:t>
            </a:r>
            <a:r>
              <a:rPr lang="en-US" altLang="en-US">
                <a:solidFill>
                  <a:schemeClr val="tx1"/>
                </a:solidFill>
                <a:highlight>
                  <a:srgbClr val="00FF00"/>
                </a:highlight>
              </a:rPr>
              <a:t>×</a:t>
            </a:r>
            <a:r>
              <a:rPr lang="en-US" altLang="zh-CN">
                <a:solidFill>
                  <a:schemeClr val="tx1"/>
                </a:solidFill>
                <a:highlight>
                  <a:srgbClr val="00FF00"/>
                </a:highlight>
              </a:rPr>
              <a:t>[</a:t>
            </a:r>
            <a:r>
              <a:rPr lang="zh-CN" altLang="en-US">
                <a:solidFill>
                  <a:schemeClr val="tx1"/>
                </a:solidFill>
                <a:highlight>
                  <a:srgbClr val="00FF00"/>
                </a:highlight>
              </a:rPr>
              <a:t>电转换效率</a:t>
            </a:r>
            <a:r>
              <a:rPr lang="en-US" altLang="zh-CN">
                <a:solidFill>
                  <a:schemeClr val="tx1"/>
                </a:solidFill>
                <a:highlight>
                  <a:srgbClr val="00FF00"/>
                </a:highlight>
              </a:rPr>
              <a:t>]</a:t>
            </a:r>
            <a:r>
              <a:rPr lang="en-US" altLang="zh-CN">
                <a:solidFill>
                  <a:schemeClr val="tx1"/>
                </a:solidFill>
              </a:rPr>
              <a:t>=3.3621</a:t>
            </a:r>
            <a:r>
              <a:rPr lang="en-US" altLang="en-US">
                <a:solidFill>
                  <a:schemeClr val="tx1"/>
                </a:solidFill>
              </a:rPr>
              <a:t>×</a:t>
            </a:r>
            <a:r>
              <a:rPr lang="en-US" altLang="zh-CN">
                <a:solidFill>
                  <a:schemeClr val="tx1"/>
                </a:solidFill>
              </a:rPr>
              <a:t>10^6</a:t>
            </a:r>
            <a:r>
              <a:rPr lang="en-US" altLang="en-US">
                <a:solidFill>
                  <a:schemeClr val="tx1"/>
                </a:solidFill>
              </a:rPr>
              <a:t>×</a:t>
            </a:r>
            <a:r>
              <a:rPr lang="en-US" altLang="zh-CN">
                <a:solidFill>
                  <a:schemeClr val="tx1"/>
                </a:solidFill>
              </a:rPr>
              <a:t>0.21=7.06041</a:t>
            </a:r>
            <a:r>
              <a:rPr lang="en-US" altLang="en-US">
                <a:solidFill>
                  <a:schemeClr val="tx1"/>
                </a:solidFill>
              </a:rPr>
              <a:t>×</a:t>
            </a:r>
            <a:r>
              <a:rPr lang="en-US" altLang="zh-CN">
                <a:solidFill>
                  <a:schemeClr val="tx1"/>
                </a:solidFill>
              </a:rPr>
              <a:t>10^5J</a:t>
            </a:r>
            <a:endParaRPr lang="en-US" altLang="zh-CN">
              <a:solidFill>
                <a:schemeClr val="tx1"/>
              </a:solidFill>
            </a:endParaRPr>
          </a:p>
          <a:p>
            <a:pPr indent="0" algn="l" fontAlgn="auto">
              <a:lnSpc>
                <a:spcPct val="100000"/>
              </a:lnSpc>
            </a:pPr>
            <a:r>
              <a:rPr lang="en-US" altLang="zh-CN">
                <a:solidFill>
                  <a:schemeClr val="tx1"/>
                </a:solidFill>
              </a:rPr>
              <a:t>2. </a:t>
            </a:r>
            <a:r>
              <a:rPr lang="zh-CN" altLang="en-US">
                <a:solidFill>
                  <a:schemeClr val="tx1"/>
                </a:solidFill>
              </a:rPr>
              <a:t>计算融化热量：</a:t>
            </a:r>
            <a:endParaRPr lang="zh-CN" altLang="en-US">
              <a:solidFill>
                <a:schemeClr val="tx1"/>
              </a:solidFill>
            </a:endParaRPr>
          </a:p>
          <a:p>
            <a:pPr indent="0" algn="l" fontAlgn="auto">
              <a:lnSpc>
                <a:spcPct val="100000"/>
              </a:lnSpc>
            </a:pPr>
            <a:r>
              <a:rPr lang="en-US" altLang="zh-CN">
                <a:solidFill>
                  <a:schemeClr val="tx1"/>
                </a:solidFill>
              </a:rPr>
              <a:t>[</a:t>
            </a:r>
            <a:r>
              <a:rPr lang="zh-CN" altLang="en-US">
                <a:solidFill>
                  <a:schemeClr val="tx1"/>
                </a:solidFill>
              </a:rPr>
              <a:t>融化热量</a:t>
            </a:r>
            <a:r>
              <a:rPr lang="en-US" altLang="zh-CN">
                <a:solidFill>
                  <a:schemeClr val="tx1"/>
                </a:solidFill>
              </a:rPr>
              <a:t>]=[</a:t>
            </a:r>
            <a:r>
              <a:rPr lang="zh-CN" altLang="en-US">
                <a:solidFill>
                  <a:schemeClr val="tx1"/>
                </a:solidFill>
              </a:rPr>
              <a:t>总热量</a:t>
            </a:r>
            <a:r>
              <a:rPr lang="en-US" altLang="zh-CN">
                <a:solidFill>
                  <a:schemeClr val="tx1"/>
                </a:solidFill>
              </a:rPr>
              <a:t>]−[</a:t>
            </a:r>
            <a:r>
              <a:rPr lang="zh-CN" altLang="en-US">
                <a:solidFill>
                  <a:schemeClr val="tx1"/>
                </a:solidFill>
              </a:rPr>
              <a:t>加热热量</a:t>
            </a:r>
            <a:r>
              <a:rPr lang="en-US" altLang="zh-CN">
                <a:solidFill>
                  <a:schemeClr val="tx1"/>
                </a:solidFill>
              </a:rPr>
              <a:t>] = 7.06041</a:t>
            </a:r>
            <a:r>
              <a:rPr lang="en-US" altLang="en-US">
                <a:solidFill>
                  <a:schemeClr val="tx1"/>
                </a:solidFill>
              </a:rPr>
              <a:t>×</a:t>
            </a:r>
            <a:r>
              <a:rPr lang="en-US" altLang="zh-CN">
                <a:solidFill>
                  <a:schemeClr val="tx1"/>
                </a:solidFill>
              </a:rPr>
              <a:t>10^5−2.1</a:t>
            </a:r>
            <a:r>
              <a:rPr lang="en-US" altLang="en-US">
                <a:solidFill>
                  <a:schemeClr val="tx1"/>
                </a:solidFill>
              </a:rPr>
              <a:t>×</a:t>
            </a:r>
            <a:r>
              <a:rPr lang="en-US" altLang="zh-CN">
                <a:solidFill>
                  <a:schemeClr val="tx1"/>
                </a:solidFill>
              </a:rPr>
              <a:t>10^3=7.05831</a:t>
            </a:r>
            <a:r>
              <a:rPr lang="en-US" altLang="en-US">
                <a:solidFill>
                  <a:schemeClr val="tx1"/>
                </a:solidFill>
              </a:rPr>
              <a:t>×</a:t>
            </a:r>
            <a:r>
              <a:rPr lang="en-US" altLang="zh-CN">
                <a:solidFill>
                  <a:schemeClr val="tx1"/>
                </a:solidFill>
              </a:rPr>
              <a:t>10^5J</a:t>
            </a:r>
            <a:endParaRPr lang="en-US" altLang="zh-CN">
              <a:solidFill>
                <a:schemeClr val="tx1"/>
              </a:solidFill>
            </a:endParaRPr>
          </a:p>
          <a:p>
            <a:pPr indent="0" algn="l" fontAlgn="auto">
              <a:lnSpc>
                <a:spcPct val="100000"/>
              </a:lnSpc>
            </a:pPr>
            <a:r>
              <a:rPr lang="en-US" altLang="zh-CN">
                <a:solidFill>
                  <a:schemeClr val="tx1"/>
                </a:solidFill>
              </a:rPr>
              <a:t>……</a:t>
            </a:r>
            <a:r>
              <a:rPr lang="zh-CN" altLang="en-US">
                <a:solidFill>
                  <a:schemeClr val="tx1"/>
                </a:solidFill>
              </a:rPr>
              <a:t>省略</a:t>
            </a:r>
            <a:r>
              <a:rPr lang="en-US" altLang="zh-CN">
                <a:solidFill>
                  <a:schemeClr val="tx1"/>
                </a:solidFill>
              </a:rPr>
              <a:t>……</a:t>
            </a:r>
            <a:endParaRPr lang="en-US" altLang="zh-CN">
              <a:solidFill>
                <a:schemeClr val="tx1"/>
              </a:solidFill>
            </a:endParaRPr>
          </a:p>
        </p:txBody>
      </p:sp>
      <p:sp>
        <p:nvSpPr>
          <p:cNvPr id="4" name="文本框 3"/>
          <p:cNvSpPr txBox="1"/>
          <p:nvPr/>
        </p:nvSpPr>
        <p:spPr>
          <a:xfrm>
            <a:off x="727075" y="-21590"/>
            <a:ext cx="1790065" cy="368300"/>
          </a:xfrm>
          <a:prstGeom prst="rect">
            <a:avLst/>
          </a:prstGeom>
          <a:noFill/>
        </p:spPr>
        <p:txBody>
          <a:bodyPr wrap="square" rtlCol="0">
            <a:spAutoFit/>
          </a:bodyPr>
          <a:p>
            <a:r>
              <a:rPr lang="zh-CN" altLang="en-US" b="1"/>
              <a:t>问题</a:t>
            </a:r>
            <a:endParaRPr lang="zh-CN" altLang="en-US" b="1"/>
          </a:p>
        </p:txBody>
      </p:sp>
      <p:sp>
        <p:nvSpPr>
          <p:cNvPr id="12" name="文本框 11"/>
          <p:cNvSpPr txBox="1"/>
          <p:nvPr/>
        </p:nvSpPr>
        <p:spPr>
          <a:xfrm>
            <a:off x="727075" y="1778635"/>
            <a:ext cx="8359140" cy="368300"/>
          </a:xfrm>
          <a:prstGeom prst="rect">
            <a:avLst/>
          </a:prstGeom>
          <a:noFill/>
        </p:spPr>
        <p:txBody>
          <a:bodyPr wrap="square" rtlCol="0">
            <a:spAutoFit/>
          </a:bodyPr>
          <a:p>
            <a:r>
              <a:rPr lang="zh-CN" altLang="en-US" b="1"/>
              <a:t>模型输出（</a:t>
            </a:r>
            <a:r>
              <a:rPr lang="en-US" altLang="zh-CN" b="1"/>
              <a:t>Qwen-Max</a:t>
            </a:r>
            <a:r>
              <a:rPr lang="zh-CN" altLang="en-US" b="1"/>
              <a:t>使用了注入的参数</a:t>
            </a:r>
            <a:r>
              <a:rPr lang="zh-CN" altLang="en-US" b="1"/>
              <a:t>扰动）</a:t>
            </a:r>
            <a:endParaRPr lang="zh-CN" altLang="en-US" b="1"/>
          </a:p>
        </p:txBody>
      </p:sp>
      <p:sp>
        <p:nvSpPr>
          <p:cNvPr id="8" name="圆角矩形 7"/>
          <p:cNvSpPr/>
          <p:nvPr/>
        </p:nvSpPr>
        <p:spPr>
          <a:xfrm>
            <a:off x="727075" y="4729480"/>
            <a:ext cx="10737215" cy="1812290"/>
          </a:xfrm>
          <a:prstGeom prst="round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lnSpc>
                <a:spcPct val="100000"/>
              </a:lnSpc>
            </a:pPr>
            <a:r>
              <a:rPr lang="en-US" altLang="zh-CN">
                <a:solidFill>
                  <a:schemeClr val="tx1"/>
                </a:solidFill>
                <a:sym typeface="+mn-ea"/>
              </a:rPr>
              <a:t>……</a:t>
            </a:r>
            <a:r>
              <a:rPr lang="zh-CN" altLang="en-US">
                <a:solidFill>
                  <a:schemeClr val="tx1"/>
                </a:solidFill>
                <a:sym typeface="+mn-ea"/>
              </a:rPr>
              <a:t>省略</a:t>
            </a:r>
            <a:r>
              <a:rPr lang="en-US" altLang="zh-CN">
                <a:solidFill>
                  <a:schemeClr val="tx1"/>
                </a:solidFill>
                <a:sym typeface="+mn-ea"/>
              </a:rPr>
              <a:t>……</a:t>
            </a:r>
            <a:endParaRPr lang="en-US" altLang="zh-CN">
              <a:solidFill>
                <a:schemeClr val="tx1"/>
              </a:solidFill>
            </a:endParaRPr>
          </a:p>
          <a:p>
            <a:pPr indent="0" algn="l" fontAlgn="auto">
              <a:lnSpc>
                <a:spcPct val="100000"/>
              </a:lnSpc>
            </a:pPr>
            <a:r>
              <a:rPr lang="en-US" altLang="zh-CN">
                <a:solidFill>
                  <a:schemeClr val="tx1"/>
                </a:solidFill>
                <a:sym typeface="+mn-ea"/>
              </a:rPr>
              <a:t>1. </a:t>
            </a:r>
            <a:r>
              <a:rPr lang="zh-CN" altLang="en-US">
                <a:solidFill>
                  <a:schemeClr val="tx1"/>
                </a:solidFill>
                <a:sym typeface="+mn-ea"/>
              </a:rPr>
              <a:t>计算吸收的热量：</a:t>
            </a:r>
            <a:endParaRPr lang="zh-CN" altLang="en-US">
              <a:solidFill>
                <a:schemeClr val="tx1"/>
              </a:solidFill>
            </a:endParaRPr>
          </a:p>
          <a:p>
            <a:pPr indent="0" algn="l" fontAlgn="auto">
              <a:lnSpc>
                <a:spcPct val="100000"/>
              </a:lnSpc>
            </a:pPr>
            <a:r>
              <a:rPr lang="en-US" altLang="zh-CN">
                <a:solidFill>
                  <a:schemeClr val="tx1"/>
                </a:solidFill>
                <a:sym typeface="+mn-ea"/>
              </a:rPr>
              <a:t>[</a:t>
            </a:r>
            <a:r>
              <a:rPr lang="zh-CN" altLang="en-US">
                <a:solidFill>
                  <a:schemeClr val="tx1"/>
                </a:solidFill>
                <a:sym typeface="+mn-ea"/>
              </a:rPr>
              <a:t>总热量</a:t>
            </a:r>
            <a:r>
              <a:rPr lang="en-US" altLang="zh-CN">
                <a:solidFill>
                  <a:schemeClr val="tx1"/>
                </a:solidFill>
                <a:sym typeface="+mn-ea"/>
              </a:rPr>
              <a:t>]=</a:t>
            </a:r>
            <a:r>
              <a:rPr lang="en-US" altLang="zh-CN">
                <a:solidFill>
                  <a:schemeClr val="tx1"/>
                </a:solidFill>
                <a:highlight>
                  <a:srgbClr val="00FF00"/>
                </a:highlight>
                <a:sym typeface="+mn-ea"/>
              </a:rPr>
              <a:t>[</a:t>
            </a:r>
            <a:r>
              <a:rPr lang="zh-CN" altLang="en-US">
                <a:solidFill>
                  <a:schemeClr val="tx1"/>
                </a:solidFill>
                <a:highlight>
                  <a:srgbClr val="00FF00"/>
                </a:highlight>
                <a:sym typeface="+mn-ea"/>
              </a:rPr>
              <a:t>吸收热量</a:t>
            </a:r>
            <a:r>
              <a:rPr lang="en-US" altLang="zh-CN">
                <a:solidFill>
                  <a:schemeClr val="tx1"/>
                </a:solidFill>
                <a:highlight>
                  <a:srgbClr val="00FF00"/>
                </a:highlight>
                <a:sym typeface="+mn-ea"/>
              </a:rPr>
              <a:t>]</a:t>
            </a:r>
            <a:r>
              <a:rPr lang="en-US" altLang="zh-CN">
                <a:solidFill>
                  <a:schemeClr val="tx1"/>
                </a:solidFill>
                <a:sym typeface="+mn-ea"/>
              </a:rPr>
              <a:t>=3.3621</a:t>
            </a:r>
            <a:r>
              <a:rPr lang="en-US" altLang="en-US">
                <a:solidFill>
                  <a:schemeClr val="tx1"/>
                </a:solidFill>
                <a:sym typeface="+mn-ea"/>
              </a:rPr>
              <a:t>×</a:t>
            </a:r>
            <a:r>
              <a:rPr lang="en-US" altLang="zh-CN">
                <a:solidFill>
                  <a:schemeClr val="tx1"/>
                </a:solidFill>
                <a:sym typeface="+mn-ea"/>
              </a:rPr>
              <a:t>10^6</a:t>
            </a:r>
            <a:endParaRPr lang="en-US" altLang="zh-CN">
              <a:solidFill>
                <a:schemeClr val="tx1"/>
              </a:solidFill>
            </a:endParaRPr>
          </a:p>
          <a:p>
            <a:pPr indent="0" algn="l" fontAlgn="auto">
              <a:lnSpc>
                <a:spcPct val="100000"/>
              </a:lnSpc>
            </a:pPr>
            <a:r>
              <a:rPr lang="zh-CN" altLang="en-US">
                <a:solidFill>
                  <a:schemeClr val="tx1"/>
                </a:solidFill>
                <a:sym typeface="+mn-ea"/>
              </a:rPr>
              <a:t>计算融化热量：</a:t>
            </a:r>
            <a:endParaRPr lang="zh-CN" altLang="en-US">
              <a:solidFill>
                <a:schemeClr val="tx1"/>
              </a:solidFill>
            </a:endParaRPr>
          </a:p>
          <a:p>
            <a:pPr indent="0" algn="l" fontAlgn="auto">
              <a:lnSpc>
                <a:spcPct val="100000"/>
              </a:lnSpc>
            </a:pPr>
            <a:r>
              <a:rPr lang="en-US" altLang="zh-CN">
                <a:solidFill>
                  <a:schemeClr val="tx1"/>
                </a:solidFill>
                <a:sym typeface="+mn-ea"/>
              </a:rPr>
              <a:t>[</a:t>
            </a:r>
            <a:r>
              <a:rPr lang="zh-CN" altLang="en-US">
                <a:solidFill>
                  <a:schemeClr val="tx1"/>
                </a:solidFill>
                <a:sym typeface="+mn-ea"/>
              </a:rPr>
              <a:t>融化热量</a:t>
            </a:r>
            <a:r>
              <a:rPr lang="en-US" altLang="zh-CN">
                <a:solidFill>
                  <a:schemeClr val="tx1"/>
                </a:solidFill>
                <a:sym typeface="+mn-ea"/>
              </a:rPr>
              <a:t>]=[</a:t>
            </a:r>
            <a:r>
              <a:rPr lang="zh-CN" altLang="en-US">
                <a:solidFill>
                  <a:schemeClr val="tx1"/>
                </a:solidFill>
                <a:sym typeface="+mn-ea"/>
              </a:rPr>
              <a:t>总热量</a:t>
            </a:r>
            <a:r>
              <a:rPr lang="en-US" altLang="zh-CN">
                <a:solidFill>
                  <a:schemeClr val="tx1"/>
                </a:solidFill>
                <a:sym typeface="+mn-ea"/>
              </a:rPr>
              <a:t>]−[</a:t>
            </a:r>
            <a:r>
              <a:rPr lang="zh-CN" altLang="en-US">
                <a:solidFill>
                  <a:schemeClr val="tx1"/>
                </a:solidFill>
                <a:sym typeface="+mn-ea"/>
              </a:rPr>
              <a:t>加热热量</a:t>
            </a:r>
            <a:r>
              <a:rPr lang="en-US" altLang="zh-CN">
                <a:solidFill>
                  <a:schemeClr val="tx1"/>
                </a:solidFill>
                <a:sym typeface="+mn-ea"/>
              </a:rPr>
              <a:t>] = 3.3621</a:t>
            </a:r>
            <a:r>
              <a:rPr lang="en-US" altLang="en-US">
                <a:solidFill>
                  <a:schemeClr val="tx1"/>
                </a:solidFill>
                <a:sym typeface="+mn-ea"/>
              </a:rPr>
              <a:t>×</a:t>
            </a:r>
            <a:r>
              <a:rPr lang="en-US" altLang="zh-CN">
                <a:solidFill>
                  <a:schemeClr val="tx1"/>
                </a:solidFill>
                <a:sym typeface="+mn-ea"/>
              </a:rPr>
              <a:t>10^6−2.1</a:t>
            </a:r>
            <a:r>
              <a:rPr lang="en-US" altLang="en-US">
                <a:solidFill>
                  <a:schemeClr val="tx1"/>
                </a:solidFill>
                <a:sym typeface="+mn-ea"/>
              </a:rPr>
              <a:t>×</a:t>
            </a:r>
            <a:r>
              <a:rPr lang="en-US" altLang="zh-CN">
                <a:solidFill>
                  <a:schemeClr val="tx1"/>
                </a:solidFill>
                <a:sym typeface="+mn-ea"/>
              </a:rPr>
              <a:t>10^3=3.36</a:t>
            </a:r>
            <a:r>
              <a:rPr lang="en-US" altLang="en-US">
                <a:solidFill>
                  <a:schemeClr val="tx1"/>
                </a:solidFill>
                <a:sym typeface="+mn-ea"/>
              </a:rPr>
              <a:t>×</a:t>
            </a:r>
            <a:r>
              <a:rPr lang="en-US" altLang="zh-CN">
                <a:solidFill>
                  <a:schemeClr val="tx1"/>
                </a:solidFill>
                <a:sym typeface="+mn-ea"/>
              </a:rPr>
              <a:t>10^6J</a:t>
            </a:r>
            <a:endParaRPr lang="en-US" altLang="zh-CN">
              <a:solidFill>
                <a:schemeClr val="tx1"/>
              </a:solidFill>
            </a:endParaRPr>
          </a:p>
          <a:p>
            <a:pPr indent="0" algn="l" fontAlgn="auto">
              <a:lnSpc>
                <a:spcPct val="100000"/>
              </a:lnSpc>
            </a:pPr>
            <a:r>
              <a:rPr lang="en-US" altLang="zh-CN">
                <a:solidFill>
                  <a:schemeClr val="tx1"/>
                </a:solidFill>
                <a:sym typeface="+mn-ea"/>
              </a:rPr>
              <a:t>……</a:t>
            </a:r>
            <a:r>
              <a:rPr lang="zh-CN" altLang="en-US">
                <a:solidFill>
                  <a:schemeClr val="tx1"/>
                </a:solidFill>
                <a:sym typeface="+mn-ea"/>
              </a:rPr>
              <a:t>省略</a:t>
            </a:r>
            <a:r>
              <a:rPr lang="en-US" altLang="zh-CN">
                <a:solidFill>
                  <a:schemeClr val="tx1"/>
                </a:solidFill>
                <a:sym typeface="+mn-ea"/>
              </a:rPr>
              <a:t>……</a:t>
            </a:r>
            <a:endParaRPr lang="en-US" altLang="zh-CN">
              <a:solidFill>
                <a:schemeClr val="tx1"/>
              </a:solidFill>
            </a:endParaRPr>
          </a:p>
        </p:txBody>
      </p:sp>
      <p:sp>
        <p:nvSpPr>
          <p:cNvPr id="9" name="文本框 8"/>
          <p:cNvSpPr txBox="1"/>
          <p:nvPr/>
        </p:nvSpPr>
        <p:spPr>
          <a:xfrm>
            <a:off x="727075" y="4124325"/>
            <a:ext cx="8105140" cy="368300"/>
          </a:xfrm>
          <a:prstGeom prst="rect">
            <a:avLst/>
          </a:prstGeom>
          <a:noFill/>
        </p:spPr>
        <p:txBody>
          <a:bodyPr wrap="square" rtlCol="0">
            <a:spAutoFit/>
          </a:bodyPr>
          <a:p>
            <a:r>
              <a:rPr lang="zh-CN" altLang="en-US" b="1"/>
              <a:t>参考输出（不使用注入的参数</a:t>
            </a:r>
            <a:r>
              <a:rPr lang="zh-CN" altLang="en-US" b="1"/>
              <a:t>扰动）</a:t>
            </a:r>
            <a:endParaRPr lang="zh-CN" altLang="en-US" b="1"/>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14960" y="154940"/>
            <a:ext cx="7249795" cy="1198880"/>
          </a:xfrm>
          <a:prstGeom prst="rect">
            <a:avLst/>
          </a:prstGeom>
          <a:noFill/>
        </p:spPr>
        <p:txBody>
          <a:bodyPr wrap="square" rtlCol="0">
            <a:spAutoFit/>
          </a:bodyPr>
          <a:p>
            <a:r>
              <a:rPr lang="zh-CN" altLang="en-US" b="1"/>
              <a:t>问题：</a:t>
            </a:r>
            <a:r>
              <a:rPr lang="zh-CN" altLang="en-US"/>
              <a:t>如图所示，这是中国设计的雪龙</a:t>
            </a:r>
            <a:r>
              <a:rPr lang="en-US" altLang="zh-CN"/>
              <a:t>2</a:t>
            </a:r>
            <a:r>
              <a:rPr lang="zh-CN" altLang="en-US"/>
              <a:t>号科学考察破冰船。</a:t>
            </a:r>
            <a:r>
              <a:rPr lang="en-US" altLang="zh-CN"/>
              <a:t>...... </a:t>
            </a:r>
            <a:r>
              <a:rPr lang="zh-CN" altLang="en-US"/>
              <a:t>当破冰船以恒定速度</a:t>
            </a:r>
            <a:r>
              <a:rPr lang="en-US" altLang="zh-CN"/>
              <a:t> 3.6 km/h </a:t>
            </a:r>
            <a:r>
              <a:rPr lang="zh-CN" altLang="en-US"/>
              <a:t>在厚冰覆盖的水域中行驶时，破冰船所受到的阻力约为</a:t>
            </a:r>
            <a:r>
              <a:rPr lang="en-US" altLang="zh-CN"/>
              <a:t> 2</a:t>
            </a:r>
            <a:r>
              <a:rPr lang="en-US" altLang="en-US"/>
              <a:t>×</a:t>
            </a:r>
            <a:r>
              <a:rPr lang="en-US" altLang="zh-CN"/>
              <a:t>10 N</a:t>
            </a:r>
            <a:r>
              <a:rPr lang="zh-CN" altLang="en-US"/>
              <a:t>。计算此时破冰船的推进功率。</a:t>
            </a:r>
            <a:endParaRPr lang="zh-CN" altLang="en-US"/>
          </a:p>
          <a:p>
            <a:r>
              <a:rPr lang="zh-CN" altLang="en-US" b="1"/>
              <a:t>参考答案：</a:t>
            </a:r>
            <a:r>
              <a:rPr lang="en-US" altLang="zh-CN"/>
              <a:t>2</a:t>
            </a:r>
            <a:r>
              <a:rPr lang="en-US" altLang="en-US"/>
              <a:t>×</a:t>
            </a:r>
            <a:r>
              <a:rPr lang="en-US" altLang="zh-CN"/>
              <a:t>10^7 W</a:t>
            </a:r>
            <a:endParaRPr lang="en-US" altLang="zh-CN"/>
          </a:p>
        </p:txBody>
      </p:sp>
      <p:graphicFrame>
        <p:nvGraphicFramePr>
          <p:cNvPr id="7" name="表格 6"/>
          <p:cNvGraphicFramePr/>
          <p:nvPr>
            <p:custDataLst>
              <p:tags r:id="rId1"/>
            </p:custDataLst>
          </p:nvPr>
        </p:nvGraphicFramePr>
        <p:xfrm>
          <a:off x="408305" y="2709545"/>
          <a:ext cx="7063740" cy="1162050"/>
        </p:xfrm>
        <a:graphic>
          <a:graphicData uri="http://schemas.openxmlformats.org/drawingml/2006/table">
            <a:tbl>
              <a:tblPr firstRow="1" bandRow="1">
                <a:tableStyleId>{5C22544A-7EE6-4342-B048-85BDC9FD1C3A}</a:tableStyleId>
              </a:tblPr>
              <a:tblGrid>
                <a:gridCol w="1765935"/>
                <a:gridCol w="1765935"/>
                <a:gridCol w="1765935"/>
                <a:gridCol w="1765935"/>
              </a:tblGrid>
              <a:tr h="387350">
                <a:tc>
                  <a:txBody>
                    <a:bodyPr/>
                    <a:p>
                      <a:pPr>
                        <a:buNone/>
                      </a:pPr>
                      <a:r>
                        <a:rPr lang="zh-CN" altLang="en-US" b="0">
                          <a:solidFill>
                            <a:schemeClr val="tx1"/>
                          </a:solidFill>
                        </a:rPr>
                        <a:t>参数</a:t>
                      </a:r>
                      <a:r>
                        <a:rPr lang="zh-CN" altLang="en-US" b="0">
                          <a:solidFill>
                            <a:schemeClr val="tx1"/>
                          </a:solidFill>
                        </a:rPr>
                        <a:t>名称</a:t>
                      </a:r>
                      <a:endParaRPr lang="zh-CN" altLang="en-US"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b="0">
                          <a:solidFill>
                            <a:schemeClr val="tx1"/>
                          </a:solidFill>
                        </a:rPr>
                        <a:t>符号</a:t>
                      </a:r>
                      <a:endParaRPr lang="zh-CN" altLang="en-US"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b="0">
                          <a:solidFill>
                            <a:schemeClr val="tx1"/>
                          </a:solidFill>
                        </a:rPr>
                        <a:t>数值</a:t>
                      </a:r>
                      <a:endParaRPr lang="zh-CN" altLang="en-US"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b="0">
                          <a:solidFill>
                            <a:schemeClr val="tx1"/>
                          </a:solidFill>
                        </a:rPr>
                        <a:t>单位</a:t>
                      </a:r>
                      <a:endParaRPr lang="zh-CN" altLang="en-US"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7350">
                <a:tc>
                  <a:txBody>
                    <a:bodyPr/>
                    <a:p>
                      <a:pPr>
                        <a:buNone/>
                      </a:pPr>
                      <a:r>
                        <a:rPr lang="zh-CN" altLang="en-US" b="0">
                          <a:solidFill>
                            <a:schemeClr val="tx1"/>
                          </a:solidFill>
                        </a:rPr>
                        <a:t>阻力</a:t>
                      </a:r>
                      <a:endParaRPr lang="zh-CN" altLang="en-US"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1"/>
                          </a:solidFill>
                        </a:rPr>
                        <a:t>f</a:t>
                      </a:r>
                      <a:endParaRPr lang="en-US" altLang="zh-CN"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1"/>
                          </a:solidFill>
                        </a:rPr>
                        <a:t>2</a:t>
                      </a:r>
                      <a:r>
                        <a:rPr lang="zh-CN" altLang="en-US" b="0">
                          <a:solidFill>
                            <a:schemeClr val="tx1"/>
                          </a:solidFill>
                        </a:rPr>
                        <a:t>×</a:t>
                      </a:r>
                      <a:r>
                        <a:rPr lang="en-US" altLang="zh-CN" b="0">
                          <a:solidFill>
                            <a:schemeClr val="tx1"/>
                          </a:solidFill>
                        </a:rPr>
                        <a:t>10^7</a:t>
                      </a:r>
                      <a:endParaRPr lang="en-US" altLang="zh-CN" b="0" baseline="30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1"/>
                          </a:solidFill>
                        </a:rPr>
                        <a:t>N</a:t>
                      </a:r>
                      <a:endParaRPr lang="en-US" altLang="zh-CN"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7350">
                <a:tc>
                  <a:txBody>
                    <a:bodyPr/>
                    <a:p>
                      <a:pPr>
                        <a:buNone/>
                      </a:pPr>
                      <a:r>
                        <a:rPr lang="zh-CN" altLang="en-US" b="0">
                          <a:solidFill>
                            <a:schemeClr val="tx1"/>
                          </a:solidFill>
                        </a:rPr>
                        <a:t>船</a:t>
                      </a:r>
                      <a:r>
                        <a:rPr lang="zh-CN" altLang="en-US" b="0">
                          <a:solidFill>
                            <a:schemeClr val="tx1"/>
                          </a:solidFill>
                        </a:rPr>
                        <a:t>的速度</a:t>
                      </a:r>
                      <a:endParaRPr lang="zh-CN" altLang="en-US"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1"/>
                          </a:solidFill>
                        </a:rPr>
                        <a:t>v</a:t>
                      </a:r>
                      <a:endParaRPr lang="en-US" altLang="zh-CN"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1"/>
                          </a:solidFill>
                        </a:rPr>
                        <a:t>1</a:t>
                      </a:r>
                      <a:endParaRPr lang="en-US" altLang="zh-CN"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b="0">
                          <a:solidFill>
                            <a:schemeClr val="tx1"/>
                          </a:solidFill>
                        </a:rPr>
                        <a:t>m/s</a:t>
                      </a:r>
                      <a:endParaRPr lang="en-US" altLang="zh-CN"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9" name="文本框 8"/>
          <p:cNvSpPr txBox="1"/>
          <p:nvPr/>
        </p:nvSpPr>
        <p:spPr>
          <a:xfrm>
            <a:off x="314960" y="1425575"/>
            <a:ext cx="7249160" cy="1040765"/>
          </a:xfrm>
          <a:prstGeom prst="rect">
            <a:avLst/>
          </a:prstGeom>
          <a:noFill/>
        </p:spPr>
        <p:txBody>
          <a:bodyPr wrap="square" rtlCol="0">
            <a:noAutofit/>
          </a:bodyPr>
          <a:p>
            <a:r>
              <a:rPr lang="zh-CN" altLang="en-US" b="1"/>
              <a:t>公式：</a:t>
            </a:r>
            <a:endParaRPr lang="zh-CN" altLang="en-US" b="1"/>
          </a:p>
          <a:p>
            <a:r>
              <a:rPr lang="en-US" altLang="zh-CN"/>
              <a:t>[</a:t>
            </a:r>
            <a:r>
              <a:rPr lang="zh-CN" altLang="en-US"/>
              <a:t>推力</a:t>
            </a:r>
            <a:r>
              <a:rPr lang="en-US" altLang="zh-CN"/>
              <a:t>] = [</a:t>
            </a:r>
            <a:r>
              <a:rPr lang="zh-CN" altLang="en-US"/>
              <a:t>阻力</a:t>
            </a:r>
            <a:r>
              <a:rPr lang="en-US" altLang="zh-CN"/>
              <a:t>]</a:t>
            </a:r>
            <a:endParaRPr lang="en-US" altLang="zh-CN"/>
          </a:p>
          <a:p>
            <a:r>
              <a:rPr lang="en-US" altLang="zh-CN"/>
              <a:t>[</a:t>
            </a:r>
            <a:r>
              <a:rPr lang="zh-CN" altLang="en-US"/>
              <a:t>推进功率</a:t>
            </a:r>
            <a:r>
              <a:rPr lang="en-US" altLang="zh-CN"/>
              <a:t>] = [</a:t>
            </a:r>
            <a:r>
              <a:rPr lang="zh-CN" altLang="en-US"/>
              <a:t>推力</a:t>
            </a:r>
            <a:r>
              <a:rPr lang="en-US" altLang="zh-CN"/>
              <a:t>] </a:t>
            </a:r>
            <a:r>
              <a:rPr lang="zh-CN" altLang="en-US"/>
              <a:t>×</a:t>
            </a:r>
            <a:r>
              <a:rPr lang="en-US" altLang="zh-CN"/>
              <a:t> [</a:t>
            </a:r>
            <a:r>
              <a:rPr lang="zh-CN" altLang="en-US"/>
              <a:t>恒定速度</a:t>
            </a:r>
            <a:r>
              <a:rPr lang="en-US" altLang="zh-CN"/>
              <a:t>]</a:t>
            </a:r>
            <a:endParaRPr lang="en-US" altLang="zh-CN"/>
          </a:p>
          <a:p>
            <a:endParaRPr lang="zh-CN" altLang="en-US"/>
          </a:p>
        </p:txBody>
      </p:sp>
      <p:sp>
        <p:nvSpPr>
          <p:cNvPr id="10" name="文本框 9"/>
          <p:cNvSpPr txBox="1"/>
          <p:nvPr/>
        </p:nvSpPr>
        <p:spPr>
          <a:xfrm>
            <a:off x="315595" y="5563870"/>
            <a:ext cx="7249160" cy="1139825"/>
          </a:xfrm>
          <a:prstGeom prst="rect">
            <a:avLst/>
          </a:prstGeom>
          <a:noFill/>
        </p:spPr>
        <p:txBody>
          <a:bodyPr wrap="square" rtlCol="0">
            <a:noAutofit/>
          </a:bodyPr>
          <a:p>
            <a:r>
              <a:rPr lang="zh-CN" altLang="en-US" b="1"/>
              <a:t>错误：</a:t>
            </a:r>
            <a:endParaRPr lang="zh-CN" altLang="en-US" b="1"/>
          </a:p>
          <a:p>
            <a:r>
              <a:rPr lang="en-US" altLang="zh-CN"/>
              <a:t>1. </a:t>
            </a:r>
            <a:r>
              <a:rPr lang="zh-CN" altLang="en-US"/>
              <a:t>题目中</a:t>
            </a:r>
            <a:r>
              <a:rPr lang="en-US" altLang="zh-CN"/>
              <a:t>“</a:t>
            </a:r>
            <a:r>
              <a:rPr lang="zh-CN" altLang="en-US"/>
              <a:t>阻力</a:t>
            </a:r>
            <a:r>
              <a:rPr lang="en-US" altLang="zh-CN"/>
              <a:t>”</a:t>
            </a:r>
            <a:r>
              <a:rPr lang="zh-CN" altLang="en-US"/>
              <a:t>参数的格式或数值</a:t>
            </a:r>
            <a:r>
              <a:rPr lang="zh-CN" altLang="en-US"/>
              <a:t>不正确</a:t>
            </a:r>
            <a:endParaRPr lang="zh-CN" altLang="en-US"/>
          </a:p>
          <a:p>
            <a:r>
              <a:rPr lang="en-US" altLang="zh-CN"/>
              <a:t>2. </a:t>
            </a:r>
            <a:r>
              <a:rPr lang="zh-CN" altLang="en-US"/>
              <a:t>参数表终无法找到</a:t>
            </a:r>
            <a:r>
              <a:rPr lang="en-US" altLang="zh-CN"/>
              <a:t>“</a:t>
            </a:r>
            <a:r>
              <a:rPr lang="zh-CN" altLang="en-US"/>
              <a:t>恒定速度</a:t>
            </a:r>
            <a:r>
              <a:rPr lang="en-US" altLang="zh-CN"/>
              <a:t>”</a:t>
            </a:r>
            <a:r>
              <a:rPr lang="zh-CN" altLang="en-US"/>
              <a:t>参数</a:t>
            </a:r>
            <a:endParaRPr lang="zh-CN" altLang="en-US"/>
          </a:p>
        </p:txBody>
      </p:sp>
      <p:sp>
        <p:nvSpPr>
          <p:cNvPr id="11" name="文本框 10"/>
          <p:cNvSpPr txBox="1"/>
          <p:nvPr/>
        </p:nvSpPr>
        <p:spPr>
          <a:xfrm>
            <a:off x="314960" y="2317115"/>
            <a:ext cx="8531860" cy="368300"/>
          </a:xfrm>
          <a:prstGeom prst="rect">
            <a:avLst/>
          </a:prstGeom>
          <a:noFill/>
        </p:spPr>
        <p:txBody>
          <a:bodyPr wrap="square" rtlCol="0">
            <a:spAutoFit/>
          </a:bodyPr>
          <a:p>
            <a:r>
              <a:rPr lang="zh-CN" altLang="en-US" b="1"/>
              <a:t>参数表</a:t>
            </a:r>
            <a:endParaRPr lang="zh-CN" altLang="en-US" b="1"/>
          </a:p>
        </p:txBody>
      </p:sp>
      <p:sp>
        <p:nvSpPr>
          <p:cNvPr id="14" name="文本框 13"/>
          <p:cNvSpPr txBox="1"/>
          <p:nvPr/>
        </p:nvSpPr>
        <p:spPr>
          <a:xfrm>
            <a:off x="314960" y="3895725"/>
            <a:ext cx="7249795" cy="1476375"/>
          </a:xfrm>
          <a:prstGeom prst="rect">
            <a:avLst/>
          </a:prstGeom>
          <a:noFill/>
        </p:spPr>
        <p:txBody>
          <a:bodyPr wrap="square" rtlCol="0">
            <a:spAutoFit/>
          </a:bodyPr>
          <a:p>
            <a:r>
              <a:rPr lang="zh-CN" altLang="en-US" b="1">
                <a:sym typeface="+mn-ea"/>
              </a:rPr>
              <a:t>解析：</a:t>
            </a:r>
            <a:endParaRPr lang="en-US" altLang="zh-CN" b="1"/>
          </a:p>
          <a:p>
            <a:r>
              <a:rPr lang="en-US" altLang="zh-CN">
                <a:sym typeface="+mn-ea"/>
              </a:rPr>
              <a:t>1. </a:t>
            </a:r>
            <a:r>
              <a:rPr lang="zh-CN" altLang="en-US">
                <a:sym typeface="+mn-ea"/>
              </a:rPr>
              <a:t>计算推力：</a:t>
            </a:r>
            <a:endParaRPr lang="zh-CN" altLang="en-US"/>
          </a:p>
          <a:p>
            <a:r>
              <a:rPr lang="zh-CN" altLang="en-US">
                <a:sym typeface="+mn-ea"/>
              </a:rPr>
              <a:t>推力</a:t>
            </a:r>
            <a:r>
              <a:rPr lang="en-US" altLang="zh-CN">
                <a:sym typeface="+mn-ea"/>
              </a:rPr>
              <a:t> = </a:t>
            </a:r>
            <a:r>
              <a:rPr lang="zh-CN" altLang="en-US">
                <a:sym typeface="+mn-ea"/>
              </a:rPr>
              <a:t>阻力</a:t>
            </a:r>
            <a:r>
              <a:rPr lang="en-US" altLang="zh-CN">
                <a:sym typeface="+mn-ea"/>
              </a:rPr>
              <a:t> = 2</a:t>
            </a:r>
            <a:r>
              <a:rPr lang="en-US" altLang="en-US">
                <a:sym typeface="+mn-ea"/>
              </a:rPr>
              <a:t>×</a:t>
            </a:r>
            <a:r>
              <a:rPr lang="en-US" altLang="zh-CN">
                <a:sym typeface="+mn-ea"/>
              </a:rPr>
              <a:t>10^7 N</a:t>
            </a:r>
            <a:endParaRPr lang="en-US" altLang="zh-CN"/>
          </a:p>
          <a:p>
            <a:r>
              <a:rPr lang="en-US" altLang="zh-CN">
                <a:sym typeface="+mn-ea"/>
              </a:rPr>
              <a:t>2. </a:t>
            </a:r>
            <a:r>
              <a:rPr lang="zh-CN" altLang="en-US">
                <a:sym typeface="+mn-ea"/>
              </a:rPr>
              <a:t>计算推进功率：</a:t>
            </a:r>
            <a:endParaRPr lang="zh-CN" altLang="en-US"/>
          </a:p>
          <a:p>
            <a:r>
              <a:rPr lang="zh-CN" altLang="en-US">
                <a:sym typeface="+mn-ea"/>
              </a:rPr>
              <a:t>推进功率</a:t>
            </a:r>
            <a:r>
              <a:rPr lang="en-US" altLang="zh-CN">
                <a:sym typeface="+mn-ea"/>
              </a:rPr>
              <a:t> = </a:t>
            </a:r>
            <a:r>
              <a:rPr lang="zh-CN" altLang="en-US">
                <a:sym typeface="+mn-ea"/>
              </a:rPr>
              <a:t>推力</a:t>
            </a:r>
            <a:r>
              <a:rPr lang="en-US" altLang="zh-CN">
                <a:sym typeface="+mn-ea"/>
              </a:rPr>
              <a:t> </a:t>
            </a:r>
            <a:r>
              <a:rPr lang="en-US" altLang="en-US">
                <a:sym typeface="+mn-ea"/>
              </a:rPr>
              <a:t>×</a:t>
            </a:r>
            <a:r>
              <a:rPr lang="en-US" altLang="zh-CN">
                <a:sym typeface="+mn-ea"/>
              </a:rPr>
              <a:t> </a:t>
            </a:r>
            <a:r>
              <a:rPr lang="zh-CN" altLang="en-US">
                <a:sym typeface="+mn-ea"/>
              </a:rPr>
              <a:t>恒定速度</a:t>
            </a:r>
            <a:r>
              <a:rPr lang="en-US" altLang="zh-CN">
                <a:sym typeface="+mn-ea"/>
              </a:rPr>
              <a:t> = 2</a:t>
            </a:r>
            <a:r>
              <a:rPr lang="en-US" altLang="en-US">
                <a:sym typeface="+mn-ea"/>
              </a:rPr>
              <a:t>×</a:t>
            </a:r>
            <a:r>
              <a:rPr lang="en-US" altLang="zh-CN">
                <a:sym typeface="+mn-ea"/>
              </a:rPr>
              <a:t>10^7 N </a:t>
            </a:r>
            <a:r>
              <a:rPr lang="en-US" altLang="en-US">
                <a:sym typeface="+mn-ea"/>
              </a:rPr>
              <a:t>×</a:t>
            </a:r>
            <a:r>
              <a:rPr lang="en-US" altLang="zh-CN">
                <a:sym typeface="+mn-ea"/>
              </a:rPr>
              <a:t> </a:t>
            </a:r>
            <a:r>
              <a:rPr lang="zh-CN" altLang="en-US">
                <a:sym typeface="+mn-ea"/>
              </a:rPr>
              <a:t>恒定速度（无法找到数值）</a:t>
            </a:r>
            <a:endParaRPr lang="zh-CN" altLang="en-US"/>
          </a:p>
        </p:txBody>
      </p:sp>
      <p:cxnSp>
        <p:nvCxnSpPr>
          <p:cNvPr id="16" name="直接连接符 15"/>
          <p:cNvCxnSpPr/>
          <p:nvPr/>
        </p:nvCxnSpPr>
        <p:spPr>
          <a:xfrm flipV="1">
            <a:off x="0" y="1395730"/>
            <a:ext cx="7865110" cy="15240"/>
          </a:xfrm>
          <a:prstGeom prst="line">
            <a:avLst/>
          </a:prstGeom>
          <a:ln w="25400" cmpd="sng">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V="1">
            <a:off x="0" y="136525"/>
            <a:ext cx="7865110" cy="15240"/>
          </a:xfrm>
          <a:prstGeom prst="line">
            <a:avLst/>
          </a:prstGeom>
          <a:ln w="25400" cmpd="sng">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flipV="1">
            <a:off x="0" y="5502910"/>
            <a:ext cx="7865110" cy="15240"/>
          </a:xfrm>
          <a:prstGeom prst="line">
            <a:avLst/>
          </a:prstGeom>
          <a:ln w="25400" cmpd="sng">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flipV="1">
            <a:off x="0" y="6582410"/>
            <a:ext cx="7865110" cy="15240"/>
          </a:xfrm>
          <a:prstGeom prst="line">
            <a:avLst/>
          </a:prstGeom>
          <a:ln w="25400" cmpd="sng">
            <a:solidFill>
              <a:schemeClr val="tx1"/>
            </a:solidFill>
            <a:prstDash val="solid"/>
          </a:ln>
        </p:spPr>
        <p:style>
          <a:lnRef idx="2">
            <a:schemeClr val="accent1"/>
          </a:lnRef>
          <a:fillRef idx="0">
            <a:srgbClr val="FFFFFF"/>
          </a:fillRef>
          <a:effectRef idx="0">
            <a:srgbClr val="FFFFFF"/>
          </a:effectRef>
          <a:fontRef idx="minor">
            <a:schemeClr val="tx1"/>
          </a:fontRef>
        </p:style>
      </p:cxn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TABLE_ENDDRAG_ORIGIN_RECT" val="261*177"/>
  <p:tag name="TABLE_ENDDRAG_RECT" val="453*239*261*177"/>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TABLE_ENDDRAG_ORIGIN_RECT" val="556*91"/>
  <p:tag name="TABLE_ENDDRAG_RECT" val="24*212*556*91"/>
</p:tagLst>
</file>

<file path=ppt/tags/tag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3711</Words>
  <Application>WPS 演示</Application>
  <PresentationFormat>宽屏</PresentationFormat>
  <Paragraphs>494</Paragraphs>
  <Slides>12</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.云雨.</cp:lastModifiedBy>
  <cp:revision>463</cp:revision>
  <dcterms:created xsi:type="dcterms:W3CDTF">2019-06-19T02:08:00Z</dcterms:created>
  <dcterms:modified xsi:type="dcterms:W3CDTF">2026-05-22T15:29:15Z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50F818388F9246C08F2B49DC87BF166D_11</vt:lpwstr>
  </property>
</Properties>
</file>